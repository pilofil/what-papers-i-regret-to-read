
<file path=[Content_Types].xml><?xml version="1.0" encoding="utf-8"?>
<Types xmlns="http://schemas.openxmlformats.org/package/2006/content-types">
  <Default Extension="jpeg" ContentType="image/jpeg"/>
  <Default Extension="png" ContentType="image/png"/>
  <Default Extension="rels" ContentType="application/vnd.openxmlformats-package.relationships+xml"/>
  <Default Extension="svg" ContentType="image/svg+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slides/slide36.xml" ContentType="application/vnd.openxmlformats-officedocument.presentationml.slide+xml"/>
  <Override PartName="/ppt/slides/slide37.xml" ContentType="application/vnd.openxmlformats-officedocument.presentationml.slide+xml"/>
  <Override PartName="/ppt/slides/slide38.xml" ContentType="application/vnd.openxmlformats-officedocument.presentationml.slide+xml"/>
  <Override PartName="/ppt/slides/slide39.xml" ContentType="application/vnd.openxmlformats-officedocument.presentationml.slide+xml"/>
  <Override PartName="/ppt/slides/slide40.xml" ContentType="application/vnd.openxmlformats-officedocument.presentationml.slide+xml"/>
  <Override PartName="/ppt/slides/slide41.xml" ContentType="application/vnd.openxmlformats-officedocument.presentationml.slide+xml"/>
  <Override PartName="/ppt/slides/slide42.xml" ContentType="application/vnd.openxmlformats-officedocument.presentationml.slide+xml"/>
  <Override PartName="/ppt/slides/slide43.xml" ContentType="application/vnd.openxmlformats-officedocument.presentationml.slide+xml"/>
  <Override PartName="/ppt/slides/slide44.xml" ContentType="application/vnd.openxmlformats-officedocument.presentationml.slide+xml"/>
  <Override PartName="/ppt/slides/slide45.xml" ContentType="application/vnd.openxmlformats-officedocument.presentationml.slide+xml"/>
  <Override PartName="/ppt/slides/slide46.xml" ContentType="application/vnd.openxmlformats-officedocument.presentationml.slide+xml"/>
  <Override PartName="/ppt/slides/slide47.xml" ContentType="application/vnd.openxmlformats-officedocument.presentationml.slide+xml"/>
  <Override PartName="/ppt/notesMasters/notesMaster1.xml" ContentType="application/vnd.openxmlformats-officedocument.presentationml.notesMaster+xml"/>
  <Override PartName="/ppt/handoutMasters/handoutMaster1.xml" ContentType="application/vnd.openxmlformats-officedocument.presentationml.handout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theme/theme2.xml" ContentType="application/vnd.openxmlformats-officedocument.theme+xml"/>
  <Override PartName="/ppt/theme/theme3.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96" r:id="rId1"/>
  </p:sldMasterIdLst>
  <p:notesMasterIdLst>
    <p:notesMasterId r:id="rId49"/>
  </p:notesMasterIdLst>
  <p:handoutMasterIdLst>
    <p:handoutMasterId r:id="rId50"/>
  </p:handoutMasterIdLst>
  <p:sldIdLst>
    <p:sldId id="256" r:id="rId2"/>
    <p:sldId id="257" r:id="rId3"/>
    <p:sldId id="258" r:id="rId4"/>
    <p:sldId id="259" r:id="rId5"/>
    <p:sldId id="261" r:id="rId6"/>
    <p:sldId id="260" r:id="rId7"/>
    <p:sldId id="301" r:id="rId8"/>
    <p:sldId id="262" r:id="rId9"/>
    <p:sldId id="264" r:id="rId10"/>
    <p:sldId id="265" r:id="rId11"/>
    <p:sldId id="263" r:id="rId12"/>
    <p:sldId id="274" r:id="rId13"/>
    <p:sldId id="266" r:id="rId14"/>
    <p:sldId id="267" r:id="rId15"/>
    <p:sldId id="268" r:id="rId16"/>
    <p:sldId id="269" r:id="rId17"/>
    <p:sldId id="270" r:id="rId18"/>
    <p:sldId id="271" r:id="rId19"/>
    <p:sldId id="272" r:id="rId20"/>
    <p:sldId id="273" r:id="rId21"/>
    <p:sldId id="275" r:id="rId22"/>
    <p:sldId id="276" r:id="rId23"/>
    <p:sldId id="281" r:id="rId24"/>
    <p:sldId id="279" r:id="rId25"/>
    <p:sldId id="277" r:id="rId26"/>
    <p:sldId id="278" r:id="rId27"/>
    <p:sldId id="280" r:id="rId28"/>
    <p:sldId id="282" r:id="rId29"/>
    <p:sldId id="283" r:id="rId30"/>
    <p:sldId id="284" r:id="rId31"/>
    <p:sldId id="285" r:id="rId32"/>
    <p:sldId id="286" r:id="rId33"/>
    <p:sldId id="288" r:id="rId34"/>
    <p:sldId id="289" r:id="rId35"/>
    <p:sldId id="287" r:id="rId36"/>
    <p:sldId id="290" r:id="rId37"/>
    <p:sldId id="291" r:id="rId38"/>
    <p:sldId id="292" r:id="rId39"/>
    <p:sldId id="293" r:id="rId40"/>
    <p:sldId id="294" r:id="rId41"/>
    <p:sldId id="295" r:id="rId42"/>
    <p:sldId id="296" r:id="rId43"/>
    <p:sldId id="297" r:id="rId44"/>
    <p:sldId id="298" r:id="rId45"/>
    <p:sldId id="299" r:id="rId46"/>
    <p:sldId id="302" r:id="rId47"/>
    <p:sldId id="300" r:id="rId48"/>
  </p:sldIdLst>
  <p:sldSz cx="12192000" cy="6858000"/>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a:tblStyle styleId="{5C22544A-7EE6-4342-B048-85BDC9FD1C3A}" styleName="Medium Style 2 - Accent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76590" autoAdjust="0"/>
  </p:normalViewPr>
  <p:slideViewPr>
    <p:cSldViewPr snapToGrid="0">
      <p:cViewPr varScale="1">
        <p:scale>
          <a:sx n="65" d="100"/>
          <a:sy n="65" d="100"/>
        </p:scale>
        <p:origin x="926" y="38"/>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3" Type="http://schemas.openxmlformats.org/officeDocument/2006/relationships/slide" Target="slides/slide12.xml"/><Relationship Id="rId18" Type="http://schemas.openxmlformats.org/officeDocument/2006/relationships/slide" Target="slides/slide17.xml"/><Relationship Id="rId26" Type="http://schemas.openxmlformats.org/officeDocument/2006/relationships/slide" Target="slides/slide25.xml"/><Relationship Id="rId39" Type="http://schemas.openxmlformats.org/officeDocument/2006/relationships/slide" Target="slides/slide38.xml"/><Relationship Id="rId21" Type="http://schemas.openxmlformats.org/officeDocument/2006/relationships/slide" Target="slides/slide20.xml"/><Relationship Id="rId34" Type="http://schemas.openxmlformats.org/officeDocument/2006/relationships/slide" Target="slides/slide33.xml"/><Relationship Id="rId42" Type="http://schemas.openxmlformats.org/officeDocument/2006/relationships/slide" Target="slides/slide41.xml"/><Relationship Id="rId47" Type="http://schemas.openxmlformats.org/officeDocument/2006/relationships/slide" Target="slides/slide46.xml"/><Relationship Id="rId50" Type="http://schemas.openxmlformats.org/officeDocument/2006/relationships/handoutMaster" Target="handoutMasters/handoutMaster1.xml"/><Relationship Id="rId7" Type="http://schemas.openxmlformats.org/officeDocument/2006/relationships/slide" Target="slides/slide6.xml"/><Relationship Id="rId2" Type="http://schemas.openxmlformats.org/officeDocument/2006/relationships/slide" Target="slides/slide1.xml"/><Relationship Id="rId16" Type="http://schemas.openxmlformats.org/officeDocument/2006/relationships/slide" Target="slides/slide15.xml"/><Relationship Id="rId29" Type="http://schemas.openxmlformats.org/officeDocument/2006/relationships/slide" Target="slides/slide28.xml"/><Relationship Id="rId11" Type="http://schemas.openxmlformats.org/officeDocument/2006/relationships/slide" Target="slides/slide10.xml"/><Relationship Id="rId24" Type="http://schemas.openxmlformats.org/officeDocument/2006/relationships/slide" Target="slides/slide23.xml"/><Relationship Id="rId32" Type="http://schemas.openxmlformats.org/officeDocument/2006/relationships/slide" Target="slides/slide31.xml"/><Relationship Id="rId37" Type="http://schemas.openxmlformats.org/officeDocument/2006/relationships/slide" Target="slides/slide36.xml"/><Relationship Id="rId40" Type="http://schemas.openxmlformats.org/officeDocument/2006/relationships/slide" Target="slides/slide39.xml"/><Relationship Id="rId45" Type="http://schemas.openxmlformats.org/officeDocument/2006/relationships/slide" Target="slides/slide44.xml"/><Relationship Id="rId53" Type="http://schemas.openxmlformats.org/officeDocument/2006/relationships/theme" Target="theme/theme1.xml"/><Relationship Id="rId5" Type="http://schemas.openxmlformats.org/officeDocument/2006/relationships/slide" Target="slides/slide4.xml"/><Relationship Id="rId10" Type="http://schemas.openxmlformats.org/officeDocument/2006/relationships/slide" Target="slides/slide9.xml"/><Relationship Id="rId19" Type="http://schemas.openxmlformats.org/officeDocument/2006/relationships/slide" Target="slides/slide18.xml"/><Relationship Id="rId31" Type="http://schemas.openxmlformats.org/officeDocument/2006/relationships/slide" Target="slides/slide30.xml"/><Relationship Id="rId44" Type="http://schemas.openxmlformats.org/officeDocument/2006/relationships/slide" Target="slides/slide43.xml"/><Relationship Id="rId52" Type="http://schemas.openxmlformats.org/officeDocument/2006/relationships/viewProps" Target="viewProps.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slide" Target="slides/slide21.xml"/><Relationship Id="rId27" Type="http://schemas.openxmlformats.org/officeDocument/2006/relationships/slide" Target="slides/slide26.xml"/><Relationship Id="rId30" Type="http://schemas.openxmlformats.org/officeDocument/2006/relationships/slide" Target="slides/slide29.xml"/><Relationship Id="rId35" Type="http://schemas.openxmlformats.org/officeDocument/2006/relationships/slide" Target="slides/slide34.xml"/><Relationship Id="rId43" Type="http://schemas.openxmlformats.org/officeDocument/2006/relationships/slide" Target="slides/slide42.xml"/><Relationship Id="rId48" Type="http://schemas.openxmlformats.org/officeDocument/2006/relationships/slide" Target="slides/slide47.xml"/><Relationship Id="rId8" Type="http://schemas.openxmlformats.org/officeDocument/2006/relationships/slide" Target="slides/slide7.xml"/><Relationship Id="rId51" Type="http://schemas.openxmlformats.org/officeDocument/2006/relationships/presProps" Target="presProps.xml"/><Relationship Id="rId3" Type="http://schemas.openxmlformats.org/officeDocument/2006/relationships/slide" Target="slides/slide2.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slide" Target="slides/slide24.xml"/><Relationship Id="rId33" Type="http://schemas.openxmlformats.org/officeDocument/2006/relationships/slide" Target="slides/slide32.xml"/><Relationship Id="rId38" Type="http://schemas.openxmlformats.org/officeDocument/2006/relationships/slide" Target="slides/slide37.xml"/><Relationship Id="rId46" Type="http://schemas.openxmlformats.org/officeDocument/2006/relationships/slide" Target="slides/slide45.xml"/><Relationship Id="rId20" Type="http://schemas.openxmlformats.org/officeDocument/2006/relationships/slide" Target="slides/slide19.xml"/><Relationship Id="rId41" Type="http://schemas.openxmlformats.org/officeDocument/2006/relationships/slide" Target="slides/slide40.xml"/><Relationship Id="rId54" Type="http://schemas.openxmlformats.org/officeDocument/2006/relationships/tableStyles" Target="tableStyles.xml"/><Relationship Id="rId1" Type="http://schemas.openxmlformats.org/officeDocument/2006/relationships/slideMaster" Target="slideMasters/slideMaster1.xml"/><Relationship Id="rId6" Type="http://schemas.openxmlformats.org/officeDocument/2006/relationships/slide" Target="slides/slide5.xml"/><Relationship Id="rId15" Type="http://schemas.openxmlformats.org/officeDocument/2006/relationships/slide" Target="slides/slide14.xml"/><Relationship Id="rId23" Type="http://schemas.openxmlformats.org/officeDocument/2006/relationships/slide" Target="slides/slide22.xml"/><Relationship Id="rId28" Type="http://schemas.openxmlformats.org/officeDocument/2006/relationships/slide" Target="slides/slide27.xml"/><Relationship Id="rId36" Type="http://schemas.openxmlformats.org/officeDocument/2006/relationships/slide" Target="slides/slide35.xml"/><Relationship Id="rId49" Type="http://schemas.openxmlformats.org/officeDocument/2006/relationships/notesMaster" Target="notesMasters/notesMaster1.xml"/></Relationships>
</file>

<file path=ppt/handoutMasters/_rels/handoutMaster1.xml.rels><?xml version="1.0" encoding="UTF-8" standalone="yes"?>
<Relationships xmlns="http://schemas.openxmlformats.org/package/2006/relationships"><Relationship Id="rId1" Type="http://schemas.openxmlformats.org/officeDocument/2006/relationships/theme" Target="../theme/theme3.xml"/></Relationships>
</file>

<file path=ppt/handoutMasters/handoutMaster1.xml><?xml version="1.0" encoding="utf-8"?>
<p:handout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a:extLst>
              <a:ext uri="{FF2B5EF4-FFF2-40B4-BE49-F238E27FC236}">
                <a16:creationId xmlns:a16="http://schemas.microsoft.com/office/drawing/2014/main" id="{DCB414B1-35D3-4393-A803-A21FD5F1AA33}"/>
              </a:ext>
            </a:extLst>
          </p:cNvPr>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a:extLst>
              <a:ext uri="{FF2B5EF4-FFF2-40B4-BE49-F238E27FC236}">
                <a16:creationId xmlns:a16="http://schemas.microsoft.com/office/drawing/2014/main" id="{10DD642C-FA67-4B6C-BF01-2DF19D206660}"/>
              </a:ext>
            </a:extLst>
          </p:cNvPr>
          <p:cNvSpPr>
            <a:spLocks noGrp="1"/>
          </p:cNvSpPr>
          <p:nvPr>
            <p:ph type="dt" sz="quarter" idx="1"/>
          </p:nvPr>
        </p:nvSpPr>
        <p:spPr>
          <a:xfrm>
            <a:off x="3884613" y="0"/>
            <a:ext cx="2971800" cy="458788"/>
          </a:xfrm>
          <a:prstGeom prst="rect">
            <a:avLst/>
          </a:prstGeom>
        </p:spPr>
        <p:txBody>
          <a:bodyPr vert="horz" lIns="91440" tIns="45720" rIns="91440" bIns="45720" rtlCol="0"/>
          <a:lstStyle>
            <a:lvl1pPr algn="r">
              <a:defRPr sz="1200"/>
            </a:lvl1pPr>
          </a:lstStyle>
          <a:p>
            <a:fld id="{1D2E8085-57A7-485C-8C7C-A045A166648D}" type="datetimeFigureOut">
              <a:rPr lang="en-US" smtClean="0"/>
              <a:t>6/2/2026</a:t>
            </a:fld>
            <a:endParaRPr lang="en-US"/>
          </a:p>
        </p:txBody>
      </p:sp>
      <p:sp>
        <p:nvSpPr>
          <p:cNvPr id="4" name="Footer Placeholder 3">
            <a:extLst>
              <a:ext uri="{FF2B5EF4-FFF2-40B4-BE49-F238E27FC236}">
                <a16:creationId xmlns:a16="http://schemas.microsoft.com/office/drawing/2014/main" id="{03075EFC-733B-4AD7-8E1D-7E59C74EDA10}"/>
              </a:ext>
            </a:extLst>
          </p:cNvPr>
          <p:cNvSpPr>
            <a:spLocks noGrp="1"/>
          </p:cNvSpPr>
          <p:nvPr>
            <p:ph type="ftr" sz="quarter" idx="2"/>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5" name="Slide Number Placeholder 4">
            <a:extLst>
              <a:ext uri="{FF2B5EF4-FFF2-40B4-BE49-F238E27FC236}">
                <a16:creationId xmlns:a16="http://schemas.microsoft.com/office/drawing/2014/main" id="{50842C76-1BD8-4862-9267-9F292FD00B15}"/>
              </a:ext>
            </a:extLst>
          </p:cNvPr>
          <p:cNvSpPr>
            <a:spLocks noGrp="1"/>
          </p:cNvSpPr>
          <p:nvPr>
            <p:ph type="sldNum" sz="quarter" idx="3"/>
          </p:nvPr>
        </p:nvSpPr>
        <p:spPr>
          <a:xfrm>
            <a:off x="3884613" y="8685213"/>
            <a:ext cx="2971800" cy="458787"/>
          </a:xfrm>
          <a:prstGeom prst="rect">
            <a:avLst/>
          </a:prstGeom>
        </p:spPr>
        <p:txBody>
          <a:bodyPr vert="horz" lIns="91440" tIns="45720" rIns="91440" bIns="45720" rtlCol="0" anchor="b"/>
          <a:lstStyle>
            <a:lvl1pPr algn="r">
              <a:defRPr sz="1200"/>
            </a:lvl1pPr>
          </a:lstStyle>
          <a:p>
            <a:fld id="{57BC20C6-8A2E-408F-8F12-6E298C396242}" type="slidenum">
              <a:rPr lang="en-US" smtClean="0"/>
              <a:t>‹#›</a:t>
            </a:fld>
            <a:endParaRPr lang="en-US"/>
          </a:p>
        </p:txBody>
      </p:sp>
    </p:spTree>
    <p:extLst>
      <p:ext uri="{BB962C8B-B14F-4D97-AF65-F5344CB8AC3E}">
        <p14:creationId xmlns:p14="http://schemas.microsoft.com/office/powerpoint/2010/main" val="4159625531"/>
      </p:ext>
    </p:extLst>
  </p:cSld>
  <p:clrMap bg1="lt1" tx1="dk1" bg2="lt2" tx2="dk2" accent1="accent1" accent2="accent2" accent3="accent3" accent4="accent4" accent5="accent5" accent6="accent6" hlink="hlink" folHlink="folHlink"/>
  <p:hf hdr="0" ftr="0" dt="0"/>
</p:handoutMaster>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3924C860-5893-4290-A515-753E432E5D38}" type="datetimeFigureOut">
              <a:rPr lang="en-US" smtClean="0"/>
              <a:t>6/2/2026</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46F030A4-7B7D-4352-9254-0E88F5854DC0}" type="slidenum">
              <a:rPr lang="en-US" smtClean="0"/>
              <a:t>‹#›</a:t>
            </a:fld>
            <a:endParaRPr lang="en-US"/>
          </a:p>
        </p:txBody>
      </p:sp>
    </p:spTree>
    <p:extLst>
      <p:ext uri="{BB962C8B-B14F-4D97-AF65-F5344CB8AC3E}">
        <p14:creationId xmlns:p14="http://schemas.microsoft.com/office/powerpoint/2010/main" val="2316580538"/>
      </p:ext>
    </p:extLst>
  </p:cSld>
  <p:clrMap bg1="lt1" tx1="dk1" bg2="lt2" tx2="dk2" accent1="accent1" accent2="accent2" accent3="accent3" accent4="accent4" accent5="accent5" accent6="accent6" hlink="hlink" folHlink="folHlink"/>
  <p:hf hdr="0" ftr="0" dt="0"/>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8" Type="http://schemas.openxmlformats.org/officeDocument/2006/relationships/hyperlink" Target="https://en.wikipedia.org/wiki/Poisson_process" TargetMode="External"/><Relationship Id="rId3" Type="http://schemas.openxmlformats.org/officeDocument/2006/relationships/hyperlink" Target="https://en.wikipedia.org/wiki/Independence_(probability_theory)" TargetMode="External"/><Relationship Id="rId7" Type="http://schemas.openxmlformats.org/officeDocument/2006/relationships/hyperlink" Target="https://en.wikipedia.org/wiki/Exponential_distribution" TargetMode="External"/><Relationship Id="rId2" Type="http://schemas.openxmlformats.org/officeDocument/2006/relationships/slide" Target="../slides/slide3.xml"/><Relationship Id="rId1" Type="http://schemas.openxmlformats.org/officeDocument/2006/relationships/notesMaster" Target="../notesMasters/notesMaster1.xml"/><Relationship Id="rId6" Type="http://schemas.openxmlformats.org/officeDocument/2006/relationships/hyperlink" Target="https://en.wikipedia.org/wiki/Independence_(probability_theory)" TargetMode="External"/><Relationship Id="rId5" Type="http://schemas.openxmlformats.org/officeDocument/2006/relationships/hyperlink" Target="https://en.wikipedia.org/wiki/Poisson_process" TargetMode="External"/><Relationship Id="rId4" Type="http://schemas.openxmlformats.org/officeDocument/2006/relationships/hyperlink" Target="https://en.wikipedia.org/wiki/Exponential_distribution" TargetMode="Externa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13.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14.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15.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mc:AlternateContent xmlns:mc="http://schemas.openxmlformats.org/markup-compatibility/2006" xmlns:a14="http://schemas.microsoft.com/office/drawing/2010/main">
        <mc:Choice Requires="a14">
          <p:sp>
            <p:nvSpPr>
              <p:cNvPr id="3" name="Notes Placeholder 2"/>
              <p:cNvSpPr>
                <a:spLocks noGrp="1"/>
              </p:cNvSpPr>
              <p:nvPr>
                <p:ph type="body" idx="1"/>
              </p:nvPr>
            </p:nvSpPr>
            <p:spPr/>
            <p:txBody>
              <a:bodyPr/>
              <a:lstStyle/>
              <a:p>
                <a:pPr algn="just"/>
                <a:r>
                  <a:rPr lang="en-US" sz="1200" b="0" i="0" dirty="0">
                    <a:solidFill>
                      <a:srgbClr val="202122"/>
                    </a:solidFill>
                    <a:effectLst/>
                    <a:latin typeface="Arial" panose="020B0604020202020204" pitchFamily="34" charset="0"/>
                  </a:rPr>
                  <a:t>The Erlang distribution is the distribution of a sum of k </a:t>
                </a:r>
                <a:r>
                  <a:rPr lang="en-US" sz="1200" b="0" i="0" u="none" strike="noStrike" dirty="0">
                    <a:solidFill>
                      <a:srgbClr val="3366CC"/>
                    </a:solidFill>
                    <a:effectLst/>
                    <a:latin typeface="Arial" panose="020B0604020202020204" pitchFamily="34" charset="0"/>
                    <a:hlinkClick r:id="rId3" tooltip="Independence (probability theory)"/>
                  </a:rPr>
                  <a:t>independent</a:t>
                </a:r>
                <a:r>
                  <a:rPr lang="en-US" sz="1200" b="0" i="0" dirty="0">
                    <a:solidFill>
                      <a:srgbClr val="202122"/>
                    </a:solidFill>
                    <a:effectLst/>
                    <a:latin typeface="Arial" panose="020B0604020202020204" pitchFamily="34" charset="0"/>
                  </a:rPr>
                  <a:t> </a:t>
                </a:r>
                <a:r>
                  <a:rPr lang="en-US" sz="1200" b="0" i="0" u="none" strike="noStrike" dirty="0">
                    <a:solidFill>
                      <a:srgbClr val="3366CC"/>
                    </a:solidFill>
                    <a:effectLst/>
                    <a:latin typeface="Arial" panose="020B0604020202020204" pitchFamily="34" charset="0"/>
                    <a:hlinkClick r:id="rId4" tooltip="Exponential distribution"/>
                  </a:rPr>
                  <a:t>exponential variables</a:t>
                </a:r>
                <a:r>
                  <a:rPr lang="en-US" sz="1200" b="0" i="0" dirty="0">
                    <a:solidFill>
                      <a:srgbClr val="202122"/>
                    </a:solidFill>
                    <a:effectLst/>
                    <a:latin typeface="Arial" panose="020B0604020202020204" pitchFamily="34" charset="0"/>
                  </a:rPr>
                  <a:t> with mean 1/λ each: </a:t>
                </a:r>
                <a14:m>
                  <m:oMath xmlns:m="http://schemas.openxmlformats.org/officeDocument/2006/math">
                    <m:nary>
                      <m:naryPr>
                        <m:chr m:val="∑"/>
                        <m:ctrlPr>
                          <a:rPr lang="en-US" sz="1200" b="0" i="1" smtClean="0">
                            <a:solidFill>
                              <a:srgbClr val="202122"/>
                            </a:solidFill>
                            <a:effectLst/>
                            <a:latin typeface="Cambria Math" panose="02040503050406030204" pitchFamily="18" charset="0"/>
                          </a:rPr>
                        </m:ctrlPr>
                      </m:naryPr>
                      <m:sub>
                        <m:r>
                          <m:rPr>
                            <m:brk m:alnAt="23"/>
                          </m:rPr>
                          <a:rPr lang="en-US" sz="1200" b="0" i="1" smtClean="0">
                            <a:solidFill>
                              <a:srgbClr val="202122"/>
                            </a:solidFill>
                            <a:effectLst/>
                            <a:latin typeface="Cambria Math" panose="02040503050406030204" pitchFamily="18" charset="0"/>
                          </a:rPr>
                          <m:t>𝑖</m:t>
                        </m:r>
                        <m:r>
                          <a:rPr lang="en-US" sz="1200" b="0" i="1" smtClean="0">
                            <a:solidFill>
                              <a:srgbClr val="202122"/>
                            </a:solidFill>
                            <a:effectLst/>
                            <a:latin typeface="Cambria Math" panose="02040503050406030204" pitchFamily="18" charset="0"/>
                          </a:rPr>
                          <m:t>=1</m:t>
                        </m:r>
                      </m:sub>
                      <m:sup>
                        <m:r>
                          <a:rPr lang="en-US" sz="1200" b="0" i="1" smtClean="0">
                            <a:solidFill>
                              <a:srgbClr val="202122"/>
                            </a:solidFill>
                            <a:effectLst/>
                            <a:latin typeface="Cambria Math" panose="02040503050406030204" pitchFamily="18" charset="0"/>
                          </a:rPr>
                          <m:t>𝑘</m:t>
                        </m:r>
                      </m:sup>
                      <m:e>
                        <m:sSub>
                          <m:sSubPr>
                            <m:ctrlPr>
                              <a:rPr lang="en-US" sz="1200" b="0" i="1" smtClean="0">
                                <a:solidFill>
                                  <a:srgbClr val="202122"/>
                                </a:solidFill>
                                <a:effectLst/>
                                <a:latin typeface="Cambria Math" panose="02040503050406030204" pitchFamily="18" charset="0"/>
                              </a:rPr>
                            </m:ctrlPr>
                          </m:sSubPr>
                          <m:e>
                            <m:r>
                              <a:rPr lang="en-US" sz="1200" b="0" i="1" smtClean="0">
                                <a:solidFill>
                                  <a:srgbClr val="202122"/>
                                </a:solidFill>
                                <a:effectLst/>
                                <a:latin typeface="Cambria Math" panose="02040503050406030204" pitchFamily="18" charset="0"/>
                              </a:rPr>
                              <m:t>𝑥</m:t>
                            </m:r>
                          </m:e>
                          <m:sub>
                            <m:r>
                              <a:rPr lang="en-US" sz="1200" b="0" i="1" smtClean="0">
                                <a:solidFill>
                                  <a:srgbClr val="202122"/>
                                </a:solidFill>
                                <a:effectLst/>
                                <a:latin typeface="Cambria Math" panose="02040503050406030204" pitchFamily="18" charset="0"/>
                              </a:rPr>
                              <m:t>𝑖</m:t>
                            </m:r>
                          </m:sub>
                        </m:sSub>
                      </m:e>
                    </m:nary>
                  </m:oMath>
                </a14:m>
                <a:r>
                  <a:rPr lang="en-US" sz="1200" dirty="0"/>
                  <a:t> , mean </a:t>
                </a:r>
                <a14:m>
                  <m:oMath xmlns:m="http://schemas.openxmlformats.org/officeDocument/2006/math">
                    <m:sSub>
                      <m:sSubPr>
                        <m:ctrlPr>
                          <a:rPr lang="en-US" sz="1200" b="0" i="1" smtClean="0">
                            <a:solidFill>
                              <a:srgbClr val="202122"/>
                            </a:solidFill>
                            <a:effectLst/>
                            <a:latin typeface="Cambria Math" panose="02040503050406030204" pitchFamily="18" charset="0"/>
                          </a:rPr>
                        </m:ctrlPr>
                      </m:sSubPr>
                      <m:e>
                        <m:r>
                          <a:rPr lang="en-US" sz="1200" b="0" i="1" smtClean="0">
                            <a:solidFill>
                              <a:srgbClr val="202122"/>
                            </a:solidFill>
                            <a:effectLst/>
                            <a:latin typeface="Cambria Math" panose="02040503050406030204" pitchFamily="18" charset="0"/>
                          </a:rPr>
                          <m:t>𝑥</m:t>
                        </m:r>
                      </m:e>
                      <m:sub>
                        <m:r>
                          <a:rPr lang="en-US" sz="1200" b="0" i="1" smtClean="0">
                            <a:solidFill>
                              <a:srgbClr val="202122"/>
                            </a:solidFill>
                            <a:effectLst/>
                            <a:latin typeface="Cambria Math" panose="02040503050406030204" pitchFamily="18" charset="0"/>
                          </a:rPr>
                          <m:t>𝑖</m:t>
                        </m:r>
                      </m:sub>
                    </m:sSub>
                  </m:oMath>
                </a14:m>
                <a:r>
                  <a:rPr lang="en-US" sz="1200" dirty="0"/>
                  <a:t> = </a:t>
                </a:r>
                <a:r>
                  <a:rPr lang="en-US" sz="1200" b="0" i="0" dirty="0">
                    <a:solidFill>
                      <a:srgbClr val="202122"/>
                    </a:solidFill>
                    <a:effectLst/>
                    <a:latin typeface="Arial" panose="020B0604020202020204" pitchFamily="34" charset="0"/>
                  </a:rPr>
                  <a:t> 1/λ </a:t>
                </a:r>
              </a:p>
              <a:p>
                <a:pPr algn="just"/>
                <a:endParaRPr lang="en-US" sz="1200" b="0" i="0" dirty="0">
                  <a:solidFill>
                    <a:srgbClr val="202122"/>
                  </a:solidFill>
                  <a:effectLst/>
                  <a:latin typeface="Arial" panose="020B0604020202020204" pitchFamily="34" charset="0"/>
                </a:endParaRPr>
              </a:p>
              <a:p>
                <a:pPr algn="just"/>
                <a:r>
                  <a:rPr lang="en-US" b="0" i="0" dirty="0">
                    <a:solidFill>
                      <a:srgbClr val="202122"/>
                    </a:solidFill>
                    <a:effectLst/>
                    <a:latin typeface="Arial" panose="020B0604020202020204" pitchFamily="34" charset="0"/>
                  </a:rPr>
                  <a:t>Equivalently, it is the distribution of the time until the </a:t>
                </a:r>
                <a:r>
                  <a:rPr lang="en-US" b="0" i="1" dirty="0">
                    <a:solidFill>
                      <a:srgbClr val="202122"/>
                    </a:solidFill>
                    <a:effectLst/>
                    <a:latin typeface="Arial" panose="020B0604020202020204" pitchFamily="34" charset="0"/>
                  </a:rPr>
                  <a:t>k</a:t>
                </a:r>
                <a:r>
                  <a:rPr lang="en-US" b="0" i="0" dirty="0">
                    <a:solidFill>
                      <a:srgbClr val="202122"/>
                    </a:solidFill>
                    <a:effectLst/>
                    <a:latin typeface="Arial" panose="020B0604020202020204" pitchFamily="34" charset="0"/>
                  </a:rPr>
                  <a:t>th event of a </a:t>
                </a:r>
                <a:r>
                  <a:rPr lang="en-US" b="0" i="0" u="none" strike="noStrike" dirty="0">
                    <a:solidFill>
                      <a:srgbClr val="3366CC"/>
                    </a:solidFill>
                    <a:effectLst/>
                    <a:latin typeface="Arial" panose="020B0604020202020204" pitchFamily="34" charset="0"/>
                    <a:hlinkClick r:id="rId5" tooltip="Poisson process"/>
                  </a:rPr>
                  <a:t>Poisson process</a:t>
                </a:r>
                <a:r>
                  <a:rPr lang="en-US" b="0" i="0" dirty="0">
                    <a:solidFill>
                      <a:srgbClr val="202122"/>
                    </a:solidFill>
                    <a:effectLst/>
                    <a:latin typeface="Arial" panose="020B0604020202020204" pitchFamily="34" charset="0"/>
                  </a:rPr>
                  <a:t> with a rate of λ.</a:t>
                </a:r>
              </a:p>
              <a:p>
                <a:pPr algn="just"/>
                <a:r>
                  <a:rPr lang="en-US" b="0" i="0" dirty="0">
                    <a:solidFill>
                      <a:srgbClr val="202122"/>
                    </a:solidFill>
                    <a:effectLst/>
                    <a:latin typeface="Arial" panose="020B0604020202020204" pitchFamily="34" charset="0"/>
                  </a:rPr>
                  <a:t> </a:t>
                </a:r>
                <a:endParaRPr lang="en-US" sz="1200" b="0" i="0" dirty="0">
                  <a:solidFill>
                    <a:srgbClr val="202122"/>
                  </a:solidFill>
                  <a:effectLst/>
                  <a:latin typeface="Arial" panose="020B0604020202020204" pitchFamily="34" charset="0"/>
                </a:endParaRPr>
              </a:p>
              <a:p>
                <a:pPr algn="just"/>
                <a:r>
                  <a:rPr lang="en-US" b="0" i="0" dirty="0">
                    <a:solidFill>
                      <a:srgbClr val="202122"/>
                    </a:solidFill>
                    <a:effectLst/>
                    <a:latin typeface="Arial" panose="020B0604020202020204" pitchFamily="34" charset="0"/>
                  </a:rPr>
                  <a:t>The Erlang and Poisson distributions are complementary, in that while the Poisson distribution counts the events that occur in a fixed amount of time, the Erlang distribution counts the amount of time until the occurrence of a fixed number of events. When k=1, the distribution simplifies to the </a:t>
                </a:r>
                <a:r>
                  <a:rPr lang="en-US" b="0" i="0" u="none" strike="noStrike" dirty="0">
                    <a:solidFill>
                      <a:srgbClr val="3366CC"/>
                    </a:solidFill>
                    <a:effectLst/>
                    <a:latin typeface="Arial" panose="020B0604020202020204" pitchFamily="34" charset="0"/>
                    <a:hlinkClick r:id="rId4" tooltip="Exponential distribution"/>
                  </a:rPr>
                  <a:t>exponential distribution</a:t>
                </a:r>
                <a:r>
                  <a:rPr lang="en-US" b="0" i="0" dirty="0">
                    <a:solidFill>
                      <a:srgbClr val="202122"/>
                    </a:solidFill>
                    <a:effectLst/>
                    <a:latin typeface="Arial" panose="020B0604020202020204" pitchFamily="34" charset="0"/>
                  </a:rPr>
                  <a:t>.</a:t>
                </a:r>
                <a:endParaRPr lang="en-US" sz="1200" dirty="0"/>
              </a:p>
            </p:txBody>
          </p:sp>
        </mc:Choice>
        <mc:Fallback xmlns="">
          <p:sp>
            <p:nvSpPr>
              <p:cNvPr id="3" name="Notes Placeholder 2"/>
              <p:cNvSpPr>
                <a:spLocks noGrp="1"/>
              </p:cNvSpPr>
              <p:nvPr>
                <p:ph type="body" idx="1"/>
              </p:nvPr>
            </p:nvSpPr>
            <p:spPr/>
            <p:txBody>
              <a:bodyPr/>
              <a:lstStyle/>
              <a:p>
                <a:pPr algn="just"/>
                <a:r>
                  <a:rPr lang="en-US" sz="1200" b="0" i="0" dirty="0">
                    <a:solidFill>
                      <a:srgbClr val="202122"/>
                    </a:solidFill>
                    <a:effectLst/>
                    <a:latin typeface="Arial" panose="020B0604020202020204" pitchFamily="34" charset="0"/>
                  </a:rPr>
                  <a:t>The Erlang distribution is the distribution of a sum of k </a:t>
                </a:r>
                <a:r>
                  <a:rPr lang="en-US" sz="1200" b="0" i="0" u="none" strike="noStrike" dirty="0">
                    <a:solidFill>
                      <a:srgbClr val="3366CC"/>
                    </a:solidFill>
                    <a:effectLst/>
                    <a:latin typeface="Arial" panose="020B0604020202020204" pitchFamily="34" charset="0"/>
                    <a:hlinkClick r:id="rId6" tooltip="Independence (probability theory)"/>
                  </a:rPr>
                  <a:t>independent</a:t>
                </a:r>
                <a:r>
                  <a:rPr lang="en-US" sz="1200" b="0" i="0" dirty="0">
                    <a:solidFill>
                      <a:srgbClr val="202122"/>
                    </a:solidFill>
                    <a:effectLst/>
                    <a:latin typeface="Arial" panose="020B0604020202020204" pitchFamily="34" charset="0"/>
                  </a:rPr>
                  <a:t> </a:t>
                </a:r>
                <a:r>
                  <a:rPr lang="en-US" sz="1200" b="0" i="0" u="none" strike="noStrike" dirty="0">
                    <a:solidFill>
                      <a:srgbClr val="3366CC"/>
                    </a:solidFill>
                    <a:effectLst/>
                    <a:latin typeface="Arial" panose="020B0604020202020204" pitchFamily="34" charset="0"/>
                    <a:hlinkClick r:id="rId7" tooltip="Exponential distribution"/>
                  </a:rPr>
                  <a:t>exponential variables</a:t>
                </a:r>
                <a:r>
                  <a:rPr lang="en-US" sz="1200" b="0" i="0" dirty="0">
                    <a:solidFill>
                      <a:srgbClr val="202122"/>
                    </a:solidFill>
                    <a:effectLst/>
                    <a:latin typeface="Arial" panose="020B0604020202020204" pitchFamily="34" charset="0"/>
                  </a:rPr>
                  <a:t> with mean 1/λ each: </a:t>
                </a:r>
                <a:r>
                  <a:rPr lang="en-US" sz="1200" b="0" i="0">
                    <a:solidFill>
                      <a:srgbClr val="202122"/>
                    </a:solidFill>
                    <a:effectLst/>
                    <a:latin typeface="Cambria Math" panose="02040503050406030204" pitchFamily="18" charset="0"/>
                  </a:rPr>
                  <a:t>∑24_(𝑖=1)^𝑘▒𝑥_𝑖 </a:t>
                </a:r>
                <a:r>
                  <a:rPr lang="en-US" sz="1200" dirty="0"/>
                  <a:t> , mean </a:t>
                </a:r>
                <a:r>
                  <a:rPr lang="en-US" sz="1200" b="0" i="0">
                    <a:solidFill>
                      <a:srgbClr val="202122"/>
                    </a:solidFill>
                    <a:effectLst/>
                    <a:latin typeface="Cambria Math" panose="02040503050406030204" pitchFamily="18" charset="0"/>
                  </a:rPr>
                  <a:t>𝑥_𝑖</a:t>
                </a:r>
                <a:r>
                  <a:rPr lang="en-US" sz="1200" dirty="0"/>
                  <a:t> = </a:t>
                </a:r>
                <a:r>
                  <a:rPr lang="en-US" sz="1200" b="0" i="0" dirty="0">
                    <a:solidFill>
                      <a:srgbClr val="202122"/>
                    </a:solidFill>
                    <a:effectLst/>
                    <a:latin typeface="Arial" panose="020B0604020202020204" pitchFamily="34" charset="0"/>
                  </a:rPr>
                  <a:t> 1/λ </a:t>
                </a:r>
              </a:p>
              <a:p>
                <a:pPr algn="just"/>
                <a:endParaRPr lang="en-US" sz="1200" b="0" i="0" dirty="0">
                  <a:solidFill>
                    <a:srgbClr val="202122"/>
                  </a:solidFill>
                  <a:effectLst/>
                  <a:latin typeface="Arial" panose="020B0604020202020204" pitchFamily="34" charset="0"/>
                </a:endParaRPr>
              </a:p>
              <a:p>
                <a:pPr algn="just"/>
                <a:r>
                  <a:rPr lang="en-US" b="0" i="0" dirty="0">
                    <a:solidFill>
                      <a:srgbClr val="202122"/>
                    </a:solidFill>
                    <a:effectLst/>
                    <a:latin typeface="Arial" panose="020B0604020202020204" pitchFamily="34" charset="0"/>
                  </a:rPr>
                  <a:t>Equivalently, it is the distribution of the time until the </a:t>
                </a:r>
                <a:r>
                  <a:rPr lang="en-US" b="0" i="1" dirty="0">
                    <a:solidFill>
                      <a:srgbClr val="202122"/>
                    </a:solidFill>
                    <a:effectLst/>
                    <a:latin typeface="Arial" panose="020B0604020202020204" pitchFamily="34" charset="0"/>
                  </a:rPr>
                  <a:t>k</a:t>
                </a:r>
                <a:r>
                  <a:rPr lang="en-US" b="0" i="0" dirty="0">
                    <a:solidFill>
                      <a:srgbClr val="202122"/>
                    </a:solidFill>
                    <a:effectLst/>
                    <a:latin typeface="Arial" panose="020B0604020202020204" pitchFamily="34" charset="0"/>
                  </a:rPr>
                  <a:t>th event of a </a:t>
                </a:r>
                <a:r>
                  <a:rPr lang="en-US" b="0" i="0" u="none" strike="noStrike" dirty="0">
                    <a:solidFill>
                      <a:srgbClr val="3366CC"/>
                    </a:solidFill>
                    <a:effectLst/>
                    <a:latin typeface="Arial" panose="020B0604020202020204" pitchFamily="34" charset="0"/>
                    <a:hlinkClick r:id="rId8" tooltip="Poisson process"/>
                  </a:rPr>
                  <a:t>Poisson process</a:t>
                </a:r>
                <a:r>
                  <a:rPr lang="en-US" b="0" i="0" dirty="0">
                    <a:solidFill>
                      <a:srgbClr val="202122"/>
                    </a:solidFill>
                    <a:effectLst/>
                    <a:latin typeface="Arial" panose="020B0604020202020204" pitchFamily="34" charset="0"/>
                  </a:rPr>
                  <a:t> with a rate of λ.</a:t>
                </a:r>
              </a:p>
              <a:p>
                <a:pPr algn="just"/>
                <a:r>
                  <a:rPr lang="en-US" b="0" i="0" dirty="0">
                    <a:solidFill>
                      <a:srgbClr val="202122"/>
                    </a:solidFill>
                    <a:effectLst/>
                    <a:latin typeface="Arial" panose="020B0604020202020204" pitchFamily="34" charset="0"/>
                  </a:rPr>
                  <a:t> </a:t>
                </a:r>
                <a:endParaRPr lang="en-US" sz="1200" b="0" i="0" dirty="0">
                  <a:solidFill>
                    <a:srgbClr val="202122"/>
                  </a:solidFill>
                  <a:effectLst/>
                  <a:latin typeface="Arial" panose="020B0604020202020204" pitchFamily="34" charset="0"/>
                </a:endParaRPr>
              </a:p>
              <a:p>
                <a:pPr algn="just"/>
                <a:r>
                  <a:rPr lang="en-US" b="0" i="0" dirty="0">
                    <a:solidFill>
                      <a:srgbClr val="202122"/>
                    </a:solidFill>
                    <a:effectLst/>
                    <a:latin typeface="Arial" panose="020B0604020202020204" pitchFamily="34" charset="0"/>
                  </a:rPr>
                  <a:t>The Erlang and Poisson distributions are complementary, in that while the Poisson distribution counts the events that occur in a fixed amount of time, the Erlang distribution counts the amount of time until the occurrence of a fixed number of events. When k=1, the distribution simplifies to the </a:t>
                </a:r>
                <a:r>
                  <a:rPr lang="en-US" b="0" i="0" u="none" strike="noStrike" dirty="0">
                    <a:solidFill>
                      <a:srgbClr val="3366CC"/>
                    </a:solidFill>
                    <a:effectLst/>
                    <a:latin typeface="Arial" panose="020B0604020202020204" pitchFamily="34" charset="0"/>
                    <a:hlinkClick r:id="rId7" tooltip="Exponential distribution"/>
                  </a:rPr>
                  <a:t>exponential distribution</a:t>
                </a:r>
                <a:r>
                  <a:rPr lang="en-US" b="0" i="0" dirty="0">
                    <a:solidFill>
                      <a:srgbClr val="202122"/>
                    </a:solidFill>
                    <a:effectLst/>
                    <a:latin typeface="Arial" panose="020B0604020202020204" pitchFamily="34" charset="0"/>
                  </a:rPr>
                  <a:t>.</a:t>
                </a:r>
                <a:endParaRPr lang="en-US" sz="1200" dirty="0"/>
              </a:p>
            </p:txBody>
          </p:sp>
        </mc:Fallback>
      </mc:AlternateContent>
      <p:sp>
        <p:nvSpPr>
          <p:cNvPr id="4" name="Slide Number Placeholder 3"/>
          <p:cNvSpPr>
            <a:spLocks noGrp="1"/>
          </p:cNvSpPr>
          <p:nvPr>
            <p:ph type="sldNum" sz="quarter" idx="5"/>
          </p:nvPr>
        </p:nvSpPr>
        <p:spPr/>
        <p:txBody>
          <a:bodyPr/>
          <a:lstStyle/>
          <a:p>
            <a:fld id="{46F030A4-7B7D-4352-9254-0E88F5854DC0}" type="slidenum">
              <a:rPr lang="en-US" smtClean="0"/>
              <a:t>3</a:t>
            </a:fld>
            <a:endParaRPr lang="en-US"/>
          </a:p>
        </p:txBody>
      </p:sp>
    </p:spTree>
    <p:extLst>
      <p:ext uri="{BB962C8B-B14F-4D97-AF65-F5344CB8AC3E}">
        <p14:creationId xmlns:p14="http://schemas.microsoft.com/office/powerpoint/2010/main" val="2485000217"/>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QoS = drop , latency </a:t>
            </a:r>
          </a:p>
          <a:p>
            <a:r>
              <a:rPr lang="en-US" sz="1800" b="0" i="0" dirty="0">
                <a:solidFill>
                  <a:srgbClr val="242021"/>
                </a:solidFill>
                <a:effectLst/>
                <a:latin typeface="Times-Roman"/>
              </a:rPr>
              <a:t>This solution (EFC) enables massive improvements in system performance and users quality of service (QoS), introducing higher levels of flexibility for rapid computations and high mobility patterns. In this regards, the service providers point of view has to be considered, in order to provide a proper system resources exploitation. Towards this direction, the paper analyzes the performance of an integrated cloud-fog-edge computing infrastructure depicted in,</a:t>
            </a:r>
          </a:p>
          <a:p>
            <a:r>
              <a:rPr lang="en-US" sz="1800" b="0" i="0" dirty="0">
                <a:solidFill>
                  <a:srgbClr val="242021"/>
                </a:solidFill>
                <a:effectLst/>
                <a:latin typeface="Times-Roman"/>
              </a:rPr>
              <a:t>we have resorted here to a Markov queueing system model with reneging, to take into account the premature departure of a request due to the expiration of the associated deadline</a:t>
            </a:r>
            <a:r>
              <a:rPr lang="en-US" dirty="0"/>
              <a:t> </a:t>
            </a:r>
            <a:br>
              <a:rPr lang="en-US" dirty="0"/>
            </a:br>
            <a:br>
              <a:rPr lang="en-US" dirty="0"/>
            </a:br>
            <a:endParaRPr lang="en-US" dirty="0"/>
          </a:p>
        </p:txBody>
      </p:sp>
      <p:sp>
        <p:nvSpPr>
          <p:cNvPr id="4" name="Slide Number Placeholder 3"/>
          <p:cNvSpPr>
            <a:spLocks noGrp="1"/>
          </p:cNvSpPr>
          <p:nvPr>
            <p:ph type="sldNum" sz="quarter" idx="5"/>
          </p:nvPr>
        </p:nvSpPr>
        <p:spPr/>
        <p:txBody>
          <a:bodyPr/>
          <a:lstStyle/>
          <a:p>
            <a:fld id="{46F030A4-7B7D-4352-9254-0E88F5854DC0}" type="slidenum">
              <a:rPr lang="en-US" smtClean="0"/>
              <a:t>4</a:t>
            </a:fld>
            <a:endParaRPr lang="en-US"/>
          </a:p>
        </p:txBody>
      </p:sp>
    </p:spTree>
    <p:extLst>
      <p:ext uri="{BB962C8B-B14F-4D97-AF65-F5344CB8AC3E}">
        <p14:creationId xmlns:p14="http://schemas.microsoft.com/office/powerpoint/2010/main" val="377617556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K, H, F, A, S have to be derived with suitable optimization approach based on QoS Requirements</a:t>
            </a:r>
          </a:p>
          <a:p>
            <a:r>
              <a:rPr lang="en-US" sz="1800" b="0" i="0" dirty="0">
                <a:solidFill>
                  <a:srgbClr val="242021"/>
                </a:solidFill>
                <a:effectLst/>
                <a:latin typeface="Times-Roman"/>
              </a:rPr>
              <a:t>Note: It is important to note that at both the ECNs and FCNs, the task computation completion is assumed guaranteed, since any new arrived task computation request is admitted if this is assured with a suitable probability, as detailed later.</a:t>
            </a:r>
            <a:r>
              <a:rPr lang="en-US" dirty="0"/>
              <a:t> </a:t>
            </a:r>
            <a:br>
              <a:rPr lang="en-US" dirty="0"/>
            </a:br>
            <a:endParaRPr lang="en-US" dirty="0"/>
          </a:p>
          <a:p>
            <a:endParaRPr lang="en-US" dirty="0"/>
          </a:p>
        </p:txBody>
      </p:sp>
      <p:sp>
        <p:nvSpPr>
          <p:cNvPr id="4" name="Slide Number Placeholder 3"/>
          <p:cNvSpPr>
            <a:spLocks noGrp="1"/>
          </p:cNvSpPr>
          <p:nvPr>
            <p:ph type="sldNum" sz="quarter" idx="5"/>
          </p:nvPr>
        </p:nvSpPr>
        <p:spPr/>
        <p:txBody>
          <a:bodyPr/>
          <a:lstStyle/>
          <a:p>
            <a:fld id="{46F030A4-7B7D-4352-9254-0E88F5854DC0}" type="slidenum">
              <a:rPr lang="en-US" smtClean="0"/>
              <a:t>10</a:t>
            </a:fld>
            <a:endParaRPr lang="en-US"/>
          </a:p>
        </p:txBody>
      </p:sp>
    </p:spTree>
    <p:extLst>
      <p:ext uri="{BB962C8B-B14F-4D97-AF65-F5344CB8AC3E}">
        <p14:creationId xmlns:p14="http://schemas.microsoft.com/office/powerpoint/2010/main" val="3313556854"/>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mc:AlternateContent xmlns:mc="http://schemas.openxmlformats.org/markup-compatibility/2006" xmlns:a14="http://schemas.microsoft.com/office/drawing/2010/main">
        <mc:Choice Requires="a14">
          <p:sp>
            <p:nvSpPr>
              <p:cNvPr id="3" name="Notes Placeholder 2"/>
              <p:cNvSpPr>
                <a:spLocks noGrp="1"/>
              </p:cNvSpPr>
              <p:nvPr>
                <p:ph type="body" idx="1"/>
              </p:nvPr>
            </p:nvSpPr>
            <p:spPr/>
            <p:txBody>
              <a:bodyPr/>
              <a:lstStyle/>
              <a:p>
                <a:r>
                  <a:rPr lang="en-US" b="1" i="0" dirty="0">
                    <a:solidFill>
                      <a:srgbClr val="F9FAFB"/>
                    </a:solidFill>
                    <a:effectLst/>
                    <a:latin typeface="quote-cjk-patch"/>
                  </a:rPr>
                  <a:t>H</a:t>
                </a:r>
                <a:r>
                  <a:rPr lang="en-US" b="0" i="0" dirty="0">
                    <a:solidFill>
                      <a:srgbClr val="F9FAFB"/>
                    </a:solidFill>
                    <a:effectLst/>
                    <a:latin typeface="quote-cjk-patch"/>
                  </a:rPr>
                  <a:t> is chosen as the </a:t>
                </a:r>
                <a:r>
                  <a:rPr lang="en-US" b="1" i="0" dirty="0">
                    <a:solidFill>
                      <a:srgbClr val="F9FAFB"/>
                    </a:solidFill>
                    <a:effectLst/>
                    <a:latin typeface="quote-cjk-patch"/>
                  </a:rPr>
                  <a:t>largest queue length</a:t>
                </a:r>
                <a:r>
                  <a:rPr lang="en-US" b="0" i="0" dirty="0">
                    <a:solidFill>
                      <a:srgbClr val="F9FAFB"/>
                    </a:solidFill>
                    <a:effectLst/>
                    <a:latin typeface="quote-cjk-patch"/>
                  </a:rPr>
                  <a:t> such</a:t>
                </a:r>
                <a:r>
                  <a:rPr lang="en-US" b="0" i="0" baseline="0" dirty="0">
                    <a:solidFill>
                      <a:srgbClr val="F9FAFB"/>
                    </a:solidFill>
                    <a:effectLst/>
                    <a:latin typeface="quote-cjk-patch"/>
                  </a:rPr>
                  <a:t> that</a:t>
                </a:r>
                <a:r>
                  <a:rPr lang="en-US" b="0" i="0" dirty="0">
                    <a:solidFill>
                      <a:srgbClr val="F9FAFB"/>
                    </a:solidFill>
                    <a:effectLst/>
                    <a:latin typeface="quote-cjk-patch"/>
                  </a:rPr>
                  <a:t> </a:t>
                </a:r>
                <a14:m>
                  <m:oMath xmlns:m="http://schemas.openxmlformats.org/officeDocument/2006/math">
                    <m:sSub>
                      <m:sSubPr>
                        <m:ctrlPr>
                          <a:rPr lang="en-US" b="0" i="1" smtClean="0">
                            <a:latin typeface="Cambria Math" panose="02040503050406030204" pitchFamily="18" charset="0"/>
                          </a:rPr>
                        </m:ctrlPr>
                      </m:sSubPr>
                      <m:e>
                        <m:r>
                          <a:rPr lang="en-US" b="0" i="1" smtClean="0">
                            <a:latin typeface="Cambria Math" panose="02040503050406030204" pitchFamily="18" charset="0"/>
                          </a:rPr>
                          <m:t>𝑃</m:t>
                        </m:r>
                      </m:e>
                      <m:sub>
                        <m:r>
                          <a:rPr lang="en-US" b="0" i="1" smtClean="0">
                            <a:latin typeface="Cambria Math" panose="02040503050406030204" pitchFamily="18" charset="0"/>
                          </a:rPr>
                          <m:t>𝑒𝑜𝑢𝑡</m:t>
                        </m:r>
                      </m:sub>
                    </m:sSub>
                    <m:r>
                      <a:rPr lang="en-US" b="0" i="1" smtClean="0">
                        <a:latin typeface="Cambria Math" panose="02040503050406030204" pitchFamily="18" charset="0"/>
                      </a:rPr>
                      <m:t>≤</m:t>
                    </m:r>
                    <m:sSub>
                      <m:sSubPr>
                        <m:ctrlPr>
                          <a:rPr lang="en-US" i="1">
                            <a:latin typeface="Cambria Math" panose="02040503050406030204" pitchFamily="18" charset="0"/>
                          </a:rPr>
                        </m:ctrlPr>
                      </m:sSubPr>
                      <m:e>
                        <m:r>
                          <a:rPr lang="en-US" i="1">
                            <a:latin typeface="Cambria Math" panose="02040503050406030204" pitchFamily="18" charset="0"/>
                          </a:rPr>
                          <m:t>𝑃</m:t>
                        </m:r>
                      </m:e>
                      <m:sub>
                        <m:r>
                          <a:rPr lang="en-US" i="1">
                            <a:latin typeface="Cambria Math" panose="02040503050406030204" pitchFamily="18" charset="0"/>
                          </a:rPr>
                          <m:t>𝑒𝑜𝑢𝑡</m:t>
                        </m:r>
                        <m:r>
                          <a:rPr lang="en-US" b="0" i="1" smtClean="0">
                            <a:latin typeface="Cambria Math" panose="02040503050406030204" pitchFamily="18" charset="0"/>
                          </a:rPr>
                          <m:t>,</m:t>
                        </m:r>
                        <m:r>
                          <a:rPr lang="en-US" b="0" i="1" smtClean="0">
                            <a:latin typeface="Cambria Math" panose="02040503050406030204" pitchFamily="18" charset="0"/>
                          </a:rPr>
                          <m:t>𝑡𝑔</m:t>
                        </m:r>
                      </m:sub>
                    </m:sSub>
                  </m:oMath>
                </a14:m>
                <a:r>
                  <a:rPr lang="en-US" dirty="0"/>
                  <a:t>.</a:t>
                </a:r>
              </a:p>
              <a:p>
                <a:pPr algn="l">
                  <a:buFont typeface="Arial" panose="020B0604020202020204" pitchFamily="34" charset="0"/>
                  <a:buChar char="•"/>
                </a:pPr>
                <a:r>
                  <a:rPr lang="en-US" b="0" i="0" dirty="0">
                    <a:solidFill>
                      <a:srgbClr val="F9FAFB"/>
                    </a:solidFill>
                    <a:effectLst/>
                    <a:latin typeface="quote-cjk-patch"/>
                  </a:rPr>
                  <a:t>If queue length is small → tasks usually meet deadlines.</a:t>
                </a:r>
              </a:p>
              <a:p>
                <a:pPr algn="l">
                  <a:buFont typeface="Arial" panose="020B0604020202020204" pitchFamily="34" charset="0"/>
                  <a:buChar char="•"/>
                </a:pPr>
                <a:r>
                  <a:rPr lang="en-US" b="0" i="0" dirty="0">
                    <a:solidFill>
                      <a:srgbClr val="F9FAFB"/>
                    </a:solidFill>
                    <a:effectLst/>
                    <a:latin typeface="quote-cjk-patch"/>
                  </a:rPr>
                  <a:t>As queue gets longer → risk of missing deadlines increases.</a:t>
                </a:r>
              </a:p>
              <a:p>
                <a:pPr algn="l">
                  <a:buFont typeface="Arial" panose="020B0604020202020204" pitchFamily="34" charset="0"/>
                  <a:buChar char="•"/>
                </a:pPr>
                <a:r>
                  <a:rPr lang="en-US" b="0" i="0" dirty="0">
                    <a:solidFill>
                      <a:srgbClr val="F9FAFB"/>
                    </a:solidFill>
                    <a:effectLst/>
                    <a:latin typeface="quote-cjk-patch"/>
                  </a:rPr>
                  <a:t>We want to find the </a:t>
                </a:r>
                <a:r>
                  <a:rPr lang="en-US" b="1" i="0" dirty="0">
                    <a:solidFill>
                      <a:srgbClr val="F9FAFB"/>
                    </a:solidFill>
                    <a:effectLst/>
                    <a:latin typeface="quote-cjk-patch"/>
                  </a:rPr>
                  <a:t>longest queue we can allow</a:t>
                </a:r>
                <a:r>
                  <a:rPr lang="en-US" b="0" i="0" dirty="0">
                    <a:solidFill>
                      <a:srgbClr val="F9FAFB"/>
                    </a:solidFill>
                    <a:effectLst/>
                    <a:latin typeface="quote-cjk-patch"/>
                  </a:rPr>
                  <a:t> while still keeping the late-task risk below an acceptable level.</a:t>
                </a:r>
                <a:endParaRPr lang="en-US" dirty="0"/>
              </a:p>
              <a:p>
                <a:r>
                  <a:rPr lang="en-US" sz="1800" b="0" i="0" dirty="0">
                    <a:solidFill>
                      <a:srgbClr val="242021"/>
                    </a:solidFill>
                    <a:effectLst/>
                    <a:latin typeface="Times-Roman"/>
                  </a:rPr>
                  <a:t>Hence, given </a:t>
                </a:r>
                <a:r>
                  <a:rPr lang="en-US" sz="1800" b="0" i="1" dirty="0">
                    <a:solidFill>
                      <a:srgbClr val="242021"/>
                    </a:solidFill>
                    <a:effectLst/>
                    <a:latin typeface="CMMI10"/>
                  </a:rPr>
                  <a:t>K </a:t>
                </a:r>
                <a:r>
                  <a:rPr lang="en-US" sz="1800" b="0" i="0" dirty="0">
                    <a:solidFill>
                      <a:srgbClr val="242021"/>
                    </a:solidFill>
                    <a:effectLst/>
                    <a:latin typeface="Times-Roman"/>
                  </a:rPr>
                  <a:t>and </a:t>
                </a:r>
                <a:r>
                  <a:rPr lang="en-US" sz="1800" b="0" i="1" dirty="0">
                    <a:solidFill>
                      <a:srgbClr val="242021"/>
                    </a:solidFill>
                    <a:effectLst/>
                    <a:latin typeface="CMMI10"/>
                  </a:rPr>
                  <a:t>P</a:t>
                </a:r>
                <a:r>
                  <a:rPr lang="en-US" sz="1800" b="0" i="1" dirty="0">
                    <a:solidFill>
                      <a:srgbClr val="242021"/>
                    </a:solidFill>
                    <a:effectLst/>
                    <a:latin typeface="CMMI7"/>
                  </a:rPr>
                  <a:t>EOUT </a:t>
                </a:r>
                <a:r>
                  <a:rPr lang="en-US" sz="1800" b="0" i="0" dirty="0">
                    <a:solidFill>
                      <a:srgbClr val="242021"/>
                    </a:solidFill>
                    <a:effectLst/>
                    <a:latin typeface="Times-Roman"/>
                  </a:rPr>
                  <a:t>, the maximum number </a:t>
                </a:r>
                <a:r>
                  <a:rPr lang="en-US" sz="1800" b="0" i="1" dirty="0">
                    <a:solidFill>
                      <a:srgbClr val="242021"/>
                    </a:solidFill>
                    <a:effectLst/>
                    <a:latin typeface="CMMI10"/>
                  </a:rPr>
                  <a:t>H </a:t>
                </a:r>
                <a:r>
                  <a:rPr lang="en-US" sz="1800" b="0" i="0" dirty="0">
                    <a:solidFill>
                      <a:srgbClr val="242021"/>
                    </a:solidFill>
                    <a:effectLst/>
                    <a:latin typeface="Times-Roman"/>
                  </a:rPr>
                  <a:t>of task computation requests accepted by each ECN is derived under the assumption (worst case) that each task computation request accepted by ECN completes service within its deadline</a:t>
                </a:r>
                <a:r>
                  <a:rPr lang="en-US" dirty="0"/>
                  <a:t> </a:t>
                </a:r>
                <a:br>
                  <a:rPr lang="en-US" dirty="0"/>
                </a:br>
                <a:endParaRPr lang="en-US" dirty="0"/>
              </a:p>
            </p:txBody>
          </p:sp>
        </mc:Choice>
        <mc:Fallback xmlns="">
          <p:sp>
            <p:nvSpPr>
              <p:cNvPr id="3" name="Notes Placeholder 2"/>
              <p:cNvSpPr>
                <a:spLocks noGrp="1"/>
              </p:cNvSpPr>
              <p:nvPr>
                <p:ph type="body" idx="1"/>
              </p:nvPr>
            </p:nvSpPr>
            <p:spPr/>
            <p:txBody>
              <a:bodyPr/>
              <a:lstStyle/>
              <a:p>
                <a:r>
                  <a:rPr lang="en-US" b="1" i="0" dirty="0">
                    <a:solidFill>
                      <a:srgbClr val="F9FAFB"/>
                    </a:solidFill>
                    <a:effectLst/>
                    <a:latin typeface="quote-cjk-patch"/>
                  </a:rPr>
                  <a:t>H</a:t>
                </a:r>
                <a:r>
                  <a:rPr lang="en-US" b="0" i="0" dirty="0">
                    <a:solidFill>
                      <a:srgbClr val="F9FAFB"/>
                    </a:solidFill>
                    <a:effectLst/>
                    <a:latin typeface="quote-cjk-patch"/>
                  </a:rPr>
                  <a:t> is chosen as the </a:t>
                </a:r>
                <a:r>
                  <a:rPr lang="en-US" b="1" i="0" dirty="0">
                    <a:solidFill>
                      <a:srgbClr val="F9FAFB"/>
                    </a:solidFill>
                    <a:effectLst/>
                    <a:latin typeface="quote-cjk-patch"/>
                  </a:rPr>
                  <a:t>largest queue length</a:t>
                </a:r>
                <a:r>
                  <a:rPr lang="en-US" b="0" i="0" dirty="0">
                    <a:solidFill>
                      <a:srgbClr val="F9FAFB"/>
                    </a:solidFill>
                    <a:effectLst/>
                    <a:latin typeface="quote-cjk-patch"/>
                  </a:rPr>
                  <a:t> such</a:t>
                </a:r>
                <a:r>
                  <a:rPr lang="en-US" b="0" i="0" baseline="0" dirty="0">
                    <a:solidFill>
                      <a:srgbClr val="F9FAFB"/>
                    </a:solidFill>
                    <a:effectLst/>
                    <a:latin typeface="quote-cjk-patch"/>
                  </a:rPr>
                  <a:t> that</a:t>
                </a:r>
                <a:r>
                  <a:rPr lang="en-US" b="0" i="0" dirty="0">
                    <a:solidFill>
                      <a:srgbClr val="F9FAFB"/>
                    </a:solidFill>
                    <a:effectLst/>
                    <a:latin typeface="quote-cjk-patch"/>
                  </a:rPr>
                  <a:t> </a:t>
                </a:r>
                <a:r>
                  <a:rPr lang="en-US" b="0" i="0">
                    <a:latin typeface="Cambria Math" panose="02040503050406030204" pitchFamily="18" charset="0"/>
                  </a:rPr>
                  <a:t>𝑃_𝑒𝑜𝑢𝑡≤</a:t>
                </a:r>
                <a:r>
                  <a:rPr lang="en-US" i="0">
                    <a:latin typeface="Cambria Math" panose="02040503050406030204" pitchFamily="18" charset="0"/>
                  </a:rPr>
                  <a:t>𝑃_(𝑒𝑜𝑢𝑡</a:t>
                </a:r>
                <a:r>
                  <a:rPr lang="en-US" b="0" i="0">
                    <a:latin typeface="Cambria Math" panose="02040503050406030204" pitchFamily="18" charset="0"/>
                  </a:rPr>
                  <a:t>,𝑡𝑔)</a:t>
                </a:r>
                <a:r>
                  <a:rPr lang="en-US" dirty="0"/>
                  <a:t>.</a:t>
                </a:r>
              </a:p>
              <a:p>
                <a:pPr algn="l">
                  <a:buFont typeface="Arial" panose="020B0604020202020204" pitchFamily="34" charset="0"/>
                  <a:buChar char="•"/>
                </a:pPr>
                <a:r>
                  <a:rPr lang="en-US" b="0" i="0" dirty="0">
                    <a:solidFill>
                      <a:srgbClr val="F9FAFB"/>
                    </a:solidFill>
                    <a:effectLst/>
                    <a:latin typeface="quote-cjk-patch"/>
                  </a:rPr>
                  <a:t>If queue length is small → tasks usually meet deadlines.</a:t>
                </a:r>
              </a:p>
              <a:p>
                <a:pPr algn="l">
                  <a:buFont typeface="Arial" panose="020B0604020202020204" pitchFamily="34" charset="0"/>
                  <a:buChar char="•"/>
                </a:pPr>
                <a:r>
                  <a:rPr lang="en-US" b="0" i="0" dirty="0">
                    <a:solidFill>
                      <a:srgbClr val="F9FAFB"/>
                    </a:solidFill>
                    <a:effectLst/>
                    <a:latin typeface="quote-cjk-patch"/>
                  </a:rPr>
                  <a:t>As queue gets longer → risk of missing deadlines increases.</a:t>
                </a:r>
              </a:p>
              <a:p>
                <a:pPr algn="l">
                  <a:buFont typeface="Arial" panose="020B0604020202020204" pitchFamily="34" charset="0"/>
                  <a:buChar char="•"/>
                </a:pPr>
                <a:r>
                  <a:rPr lang="en-US" b="0" i="0" dirty="0">
                    <a:solidFill>
                      <a:srgbClr val="F9FAFB"/>
                    </a:solidFill>
                    <a:effectLst/>
                    <a:latin typeface="quote-cjk-patch"/>
                  </a:rPr>
                  <a:t>We want to find the </a:t>
                </a:r>
                <a:r>
                  <a:rPr lang="en-US" b="1" i="0" dirty="0">
                    <a:solidFill>
                      <a:srgbClr val="F9FAFB"/>
                    </a:solidFill>
                    <a:effectLst/>
                    <a:latin typeface="quote-cjk-patch"/>
                  </a:rPr>
                  <a:t>longest queue we can allow</a:t>
                </a:r>
                <a:r>
                  <a:rPr lang="en-US" b="0" i="0" dirty="0">
                    <a:solidFill>
                      <a:srgbClr val="F9FAFB"/>
                    </a:solidFill>
                    <a:effectLst/>
                    <a:latin typeface="quote-cjk-patch"/>
                  </a:rPr>
                  <a:t> while still keeping the late-task risk below an acceptable level.</a:t>
                </a:r>
                <a:endParaRPr lang="en-US" dirty="0"/>
              </a:p>
              <a:p>
                <a:r>
                  <a:rPr lang="en-US" sz="1800" b="0" i="0" dirty="0">
                    <a:solidFill>
                      <a:srgbClr val="242021"/>
                    </a:solidFill>
                    <a:effectLst/>
                    <a:latin typeface="Times-Roman"/>
                  </a:rPr>
                  <a:t>Hence, given </a:t>
                </a:r>
                <a:r>
                  <a:rPr lang="en-US" sz="1800" b="0" i="1" dirty="0">
                    <a:solidFill>
                      <a:srgbClr val="242021"/>
                    </a:solidFill>
                    <a:effectLst/>
                    <a:latin typeface="CMMI10"/>
                  </a:rPr>
                  <a:t>K </a:t>
                </a:r>
                <a:r>
                  <a:rPr lang="en-US" sz="1800" b="0" i="0" dirty="0">
                    <a:solidFill>
                      <a:srgbClr val="242021"/>
                    </a:solidFill>
                    <a:effectLst/>
                    <a:latin typeface="Times-Roman"/>
                  </a:rPr>
                  <a:t>and </a:t>
                </a:r>
                <a:r>
                  <a:rPr lang="en-US" sz="1800" b="0" i="1" dirty="0">
                    <a:solidFill>
                      <a:srgbClr val="242021"/>
                    </a:solidFill>
                    <a:effectLst/>
                    <a:latin typeface="CMMI10"/>
                  </a:rPr>
                  <a:t>P</a:t>
                </a:r>
                <a:r>
                  <a:rPr lang="en-US" sz="1800" b="0" i="1" dirty="0">
                    <a:solidFill>
                      <a:srgbClr val="242021"/>
                    </a:solidFill>
                    <a:effectLst/>
                    <a:latin typeface="CMMI7"/>
                  </a:rPr>
                  <a:t>EOUT </a:t>
                </a:r>
                <a:r>
                  <a:rPr lang="en-US" sz="1800" b="0" i="0" dirty="0">
                    <a:solidFill>
                      <a:srgbClr val="242021"/>
                    </a:solidFill>
                    <a:effectLst/>
                    <a:latin typeface="Times-Roman"/>
                  </a:rPr>
                  <a:t>, the maximum number </a:t>
                </a:r>
                <a:r>
                  <a:rPr lang="en-US" sz="1800" b="0" i="1" dirty="0">
                    <a:solidFill>
                      <a:srgbClr val="242021"/>
                    </a:solidFill>
                    <a:effectLst/>
                    <a:latin typeface="CMMI10"/>
                  </a:rPr>
                  <a:t>H </a:t>
                </a:r>
                <a:r>
                  <a:rPr lang="en-US" sz="1800" b="0" i="0" dirty="0">
                    <a:solidFill>
                      <a:srgbClr val="242021"/>
                    </a:solidFill>
                    <a:effectLst/>
                    <a:latin typeface="Times-Roman"/>
                  </a:rPr>
                  <a:t>of task computation requests accepted by each ECN is derived under the assumption (worst case) that each task computation request accepted by ECN completes service within its deadline</a:t>
                </a:r>
                <a:r>
                  <a:rPr lang="en-US" dirty="0"/>
                  <a:t> </a:t>
                </a:r>
                <a:br>
                  <a:rPr lang="en-US" dirty="0"/>
                </a:br>
                <a:endParaRPr lang="en-US" dirty="0"/>
              </a:p>
            </p:txBody>
          </p:sp>
        </mc:Fallback>
      </mc:AlternateContent>
      <p:sp>
        <p:nvSpPr>
          <p:cNvPr id="4" name="Slide Number Placeholder 3"/>
          <p:cNvSpPr>
            <a:spLocks noGrp="1"/>
          </p:cNvSpPr>
          <p:nvPr>
            <p:ph type="sldNum" sz="quarter" idx="5"/>
          </p:nvPr>
        </p:nvSpPr>
        <p:spPr/>
        <p:txBody>
          <a:bodyPr/>
          <a:lstStyle/>
          <a:p>
            <a:fld id="{46F030A4-7B7D-4352-9254-0E88F5854DC0}" type="slidenum">
              <a:rPr lang="en-US" smtClean="0"/>
              <a:t>11</a:t>
            </a:fld>
            <a:endParaRPr lang="en-US"/>
          </a:p>
        </p:txBody>
      </p:sp>
    </p:spTree>
    <p:extLst>
      <p:ext uri="{BB962C8B-B14F-4D97-AF65-F5344CB8AC3E}">
        <p14:creationId xmlns:p14="http://schemas.microsoft.com/office/powerpoint/2010/main" val="1416859259"/>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sz="1800" b="0" i="0" dirty="0">
                <a:solidFill>
                  <a:srgbClr val="242021"/>
                </a:solidFill>
                <a:effectLst/>
                <a:latin typeface="Times-Roman"/>
              </a:rPr>
              <a:t>It follows that the time needed to a task computation request arrived while in the ECN there are </a:t>
            </a:r>
            <a:r>
              <a:rPr lang="en-US" sz="1800" b="0" i="1" dirty="0">
                <a:solidFill>
                  <a:srgbClr val="242021"/>
                </a:solidFill>
                <a:effectLst/>
                <a:latin typeface="CMMI10"/>
              </a:rPr>
              <a:t>H </a:t>
            </a:r>
            <a:r>
              <a:rPr lang="en-US" sz="1800" b="0" i="1" dirty="0">
                <a:solidFill>
                  <a:srgbClr val="242021"/>
                </a:solidFill>
                <a:effectLst/>
                <a:latin typeface="CMSY10"/>
              </a:rPr>
              <a:t>- </a:t>
            </a:r>
            <a:r>
              <a:rPr lang="en-US" sz="1800" b="0" i="0" dirty="0">
                <a:solidFill>
                  <a:srgbClr val="242021"/>
                </a:solidFill>
                <a:effectLst/>
                <a:latin typeface="Times-Roman"/>
              </a:rPr>
              <a:t>1 requests to complete its service,</a:t>
            </a:r>
          </a:p>
          <a:p>
            <a:r>
              <a:rPr lang="en-US" sz="1800" b="0" i="0" dirty="0">
                <a:solidFill>
                  <a:srgbClr val="242021"/>
                </a:solidFill>
                <a:effectLst/>
                <a:latin typeface="Times-Roman"/>
              </a:rPr>
              <a:t>i.e., </a:t>
            </a:r>
            <a:r>
              <a:rPr lang="en-US" sz="1800" b="0" i="1" dirty="0">
                <a:solidFill>
                  <a:srgbClr val="242021"/>
                </a:solidFill>
                <a:effectLst/>
                <a:latin typeface="CMMI10"/>
              </a:rPr>
              <a:t>T </a:t>
            </a:r>
            <a:r>
              <a:rPr lang="en-US" sz="1800" b="0" i="0" dirty="0">
                <a:solidFill>
                  <a:srgbClr val="242021"/>
                </a:solidFill>
                <a:effectLst/>
                <a:latin typeface="Times-Roman"/>
              </a:rPr>
              <a:t>, </a:t>
            </a:r>
            <a:br>
              <a:rPr lang="en-US" dirty="0"/>
            </a:br>
            <a:r>
              <a:rPr lang="en-US" sz="1800" b="0" i="0" dirty="0">
                <a:solidFill>
                  <a:srgbClr val="242021"/>
                </a:solidFill>
                <a:effectLst/>
                <a:latin typeface="Times-Roman"/>
              </a:rPr>
              <a:t>Therefore, the </a:t>
            </a:r>
            <a:r>
              <a:rPr lang="en-US" sz="1800" b="0" i="1" dirty="0">
                <a:solidFill>
                  <a:srgbClr val="242021"/>
                </a:solidFill>
                <a:effectLst/>
                <a:latin typeface="CMMI10"/>
              </a:rPr>
              <a:t>pdf </a:t>
            </a:r>
            <a:r>
              <a:rPr lang="en-US" sz="1800" b="0" i="0" dirty="0">
                <a:solidFill>
                  <a:srgbClr val="242021"/>
                </a:solidFill>
                <a:effectLst/>
                <a:latin typeface="Times-Roman"/>
              </a:rPr>
              <a:t>of </a:t>
            </a:r>
            <a:r>
              <a:rPr lang="en-US" sz="1800" b="0" i="1" dirty="0">
                <a:solidFill>
                  <a:srgbClr val="242021"/>
                </a:solidFill>
                <a:effectLst/>
                <a:latin typeface="CMMI10"/>
              </a:rPr>
              <a:t>T </a:t>
            </a:r>
            <a:r>
              <a:rPr lang="en-US" sz="1800" b="0" i="0" dirty="0">
                <a:solidFill>
                  <a:srgbClr val="242021"/>
                </a:solidFill>
                <a:effectLst/>
                <a:latin typeface="Times-Roman"/>
              </a:rPr>
              <a:t>can be obtained throughout the convolution of an Erlang distribution generating the random variable corresponding to the sum of the </a:t>
            </a:r>
            <a:r>
              <a:rPr lang="en-US" sz="1800" b="0" i="1" dirty="0">
                <a:solidFill>
                  <a:srgbClr val="242021"/>
                </a:solidFill>
                <a:effectLst/>
                <a:latin typeface="CMMI10"/>
              </a:rPr>
              <a:t>k </a:t>
            </a:r>
            <a:r>
              <a:rPr lang="en-US" sz="1800" b="0" i="0" dirty="0">
                <a:solidFill>
                  <a:srgbClr val="242021"/>
                </a:solidFill>
                <a:effectLst/>
                <a:latin typeface="Times-Roman"/>
              </a:rPr>
              <a:t>independent exponential random variables previously introduced, and the exponential distribution with mean values </a:t>
            </a:r>
            <a:r>
              <a:rPr lang="en-US" sz="1800" b="0" i="1" dirty="0">
                <a:solidFill>
                  <a:srgbClr val="242021"/>
                </a:solidFill>
                <a:effectLst/>
                <a:latin typeface="CMMI10"/>
              </a:rPr>
              <a:t>β</a:t>
            </a:r>
            <a:r>
              <a:rPr lang="en-US" sz="1800" b="0" i="0" dirty="0">
                <a:solidFill>
                  <a:srgbClr val="242021"/>
                </a:solidFill>
                <a:effectLst/>
                <a:latin typeface="Times-Roman"/>
              </a:rPr>
              <a:t>. </a:t>
            </a:r>
            <a:br>
              <a:rPr lang="en-US" dirty="0"/>
            </a:br>
            <a:endParaRPr lang="en-US" dirty="0"/>
          </a:p>
          <a:p>
            <a:r>
              <a:rPr lang="en-US" dirty="0"/>
              <a:t>The authors are approximating the completion time of a task arriving when the system already contains H−1 jobs.</a:t>
            </a:r>
          </a:p>
          <a:p>
            <a:endParaRPr lang="en-US" dirty="0"/>
          </a:p>
          <a:p>
            <a:r>
              <a:rPr lang="en-US" dirty="0"/>
              <a:t>Since service times are exponential and there are K servers working in parallel, the waiting component becomes Erlang distributed. The final service of the task itself contributes one more exponential term. </a:t>
            </a:r>
          </a:p>
        </p:txBody>
      </p:sp>
      <p:sp>
        <p:nvSpPr>
          <p:cNvPr id="4" name="Slide Number Placeholder 3"/>
          <p:cNvSpPr>
            <a:spLocks noGrp="1"/>
          </p:cNvSpPr>
          <p:nvPr>
            <p:ph type="sldNum" sz="quarter" idx="5"/>
          </p:nvPr>
        </p:nvSpPr>
        <p:spPr/>
        <p:txBody>
          <a:bodyPr/>
          <a:lstStyle/>
          <a:p>
            <a:fld id="{46F030A4-7B7D-4352-9254-0E88F5854DC0}" type="slidenum">
              <a:rPr lang="en-US" smtClean="0"/>
              <a:t>13</a:t>
            </a:fld>
            <a:endParaRPr lang="en-US"/>
          </a:p>
        </p:txBody>
      </p:sp>
    </p:spTree>
    <p:extLst>
      <p:ext uri="{BB962C8B-B14F-4D97-AF65-F5344CB8AC3E}">
        <p14:creationId xmlns:p14="http://schemas.microsoft.com/office/powerpoint/2010/main" val="1249659897"/>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5"/>
          </p:nvPr>
        </p:nvSpPr>
        <p:spPr/>
        <p:txBody>
          <a:bodyPr/>
          <a:lstStyle/>
          <a:p>
            <a:fld id="{46F030A4-7B7D-4352-9254-0E88F5854DC0}" type="slidenum">
              <a:rPr lang="en-US" smtClean="0"/>
              <a:t>14</a:t>
            </a:fld>
            <a:endParaRPr lang="en-US"/>
          </a:p>
        </p:txBody>
      </p:sp>
    </p:spTree>
    <p:extLst>
      <p:ext uri="{BB962C8B-B14F-4D97-AF65-F5344CB8AC3E}">
        <p14:creationId xmlns:p14="http://schemas.microsoft.com/office/powerpoint/2010/main" val="2476100557"/>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5"/>
          </p:nvPr>
        </p:nvSpPr>
        <p:spPr/>
        <p:txBody>
          <a:bodyPr/>
          <a:lstStyle/>
          <a:p>
            <a:fld id="{46F030A4-7B7D-4352-9254-0E88F5854DC0}" type="slidenum">
              <a:rPr lang="en-US" smtClean="0"/>
              <a:t>15</a:t>
            </a:fld>
            <a:endParaRPr lang="en-US"/>
          </a:p>
        </p:txBody>
      </p:sp>
    </p:spTree>
    <p:extLst>
      <p:ext uri="{BB962C8B-B14F-4D97-AF65-F5344CB8AC3E}">
        <p14:creationId xmlns:p14="http://schemas.microsoft.com/office/powerpoint/2010/main" val="3568048817"/>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showMasterSp="0" type="title" preserve="1">
  <p:cSld name="Title Slide">
    <p:spTree>
      <p:nvGrpSpPr>
        <p:cNvPr id="1" name=""/>
        <p:cNvGrpSpPr/>
        <p:nvPr/>
      </p:nvGrpSpPr>
      <p:grpSpPr>
        <a:xfrm>
          <a:off x="0" y="0"/>
          <a:ext cx="0" cy="0"/>
          <a:chOff x="0" y="0"/>
          <a:chExt cx="0" cy="0"/>
        </a:xfrm>
      </p:grpSpPr>
      <p:sp>
        <p:nvSpPr>
          <p:cNvPr id="7" name="Rectangle 6"/>
          <p:cNvSpPr/>
          <p:nvPr/>
        </p:nvSpPr>
        <p:spPr>
          <a:xfrm>
            <a:off x="3175" y="6400800"/>
            <a:ext cx="12188825" cy="457200"/>
          </a:xfrm>
          <a:prstGeom prst="rect">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sp>
      <p:sp>
        <p:nvSpPr>
          <p:cNvPr id="8" name="Rectangle 7"/>
          <p:cNvSpPr/>
          <p:nvPr/>
        </p:nvSpPr>
        <p:spPr>
          <a:xfrm>
            <a:off x="15" y="6334316"/>
            <a:ext cx="12188825" cy="64008"/>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sp>
      <p:sp>
        <p:nvSpPr>
          <p:cNvPr id="2" name="Title 1"/>
          <p:cNvSpPr>
            <a:spLocks noGrp="1"/>
          </p:cNvSpPr>
          <p:nvPr>
            <p:ph type="ctrTitle"/>
          </p:nvPr>
        </p:nvSpPr>
        <p:spPr>
          <a:xfrm>
            <a:off x="1097280" y="758952"/>
            <a:ext cx="10058400" cy="3566160"/>
          </a:xfrm>
        </p:spPr>
        <p:txBody>
          <a:bodyPr anchor="b">
            <a:normAutofit/>
          </a:bodyPr>
          <a:lstStyle>
            <a:lvl1pPr algn="l">
              <a:lnSpc>
                <a:spcPct val="85000"/>
              </a:lnSpc>
              <a:defRPr sz="8000" spc="-50" baseline="0">
                <a:solidFill>
                  <a:schemeClr val="tx1">
                    <a:lumMod val="85000"/>
                    <a:lumOff val="15000"/>
                  </a:schemeClr>
                </a:solidFill>
              </a:defRPr>
            </a:lvl1pPr>
          </a:lstStyle>
          <a:p>
            <a:r>
              <a:rPr lang="en-US"/>
              <a:t>Click to edit Master title style</a:t>
            </a:r>
            <a:endParaRPr lang="en-US" dirty="0"/>
          </a:p>
        </p:txBody>
      </p:sp>
      <p:sp>
        <p:nvSpPr>
          <p:cNvPr id="3" name="Subtitle 2"/>
          <p:cNvSpPr>
            <a:spLocks noGrp="1"/>
          </p:cNvSpPr>
          <p:nvPr>
            <p:ph type="subTitle" idx="1"/>
          </p:nvPr>
        </p:nvSpPr>
        <p:spPr>
          <a:xfrm>
            <a:off x="1100051" y="4455621"/>
            <a:ext cx="10058400" cy="1143000"/>
          </a:xfrm>
        </p:spPr>
        <p:txBody>
          <a:bodyPr lIns="91440" rIns="91440">
            <a:normAutofit/>
          </a:bodyPr>
          <a:lstStyle>
            <a:lvl1pPr marL="0" indent="0" algn="l">
              <a:buNone/>
              <a:defRPr sz="2400" cap="all" spc="200" baseline="0">
                <a:solidFill>
                  <a:schemeClr val="tx2"/>
                </a:solidFill>
                <a:latin typeface="+mj-lt"/>
              </a:defRPr>
            </a:lvl1pPr>
            <a:lvl2pPr marL="457200" indent="0" algn="ctr">
              <a:buNone/>
              <a:defRPr sz="2400"/>
            </a:lvl2pPr>
            <a:lvl3pPr marL="914400" indent="0" algn="ctr">
              <a:buNone/>
              <a:defRPr sz="2400"/>
            </a:lvl3pPr>
            <a:lvl4pPr marL="1371600" indent="0" algn="ctr">
              <a:buNone/>
              <a:defRPr sz="2000"/>
            </a:lvl4pPr>
            <a:lvl5pPr marL="1828800" indent="0" algn="ctr">
              <a:buNone/>
              <a:defRPr sz="2000"/>
            </a:lvl5pPr>
            <a:lvl6pPr marL="2286000" indent="0" algn="ctr">
              <a:buNone/>
              <a:defRPr sz="2000"/>
            </a:lvl6pPr>
            <a:lvl7pPr marL="2743200" indent="0" algn="ctr">
              <a:buNone/>
              <a:defRPr sz="2000"/>
            </a:lvl7pPr>
            <a:lvl8pPr marL="3200400" indent="0" algn="ctr">
              <a:buNone/>
              <a:defRPr sz="2000"/>
            </a:lvl8pPr>
            <a:lvl9pPr marL="3657600" indent="0" algn="ctr">
              <a:buNone/>
              <a:defRPr sz="2000"/>
            </a:lvl9pPr>
          </a:lstStyle>
          <a:p>
            <a:r>
              <a:rPr lang="en-US"/>
              <a:t>Click to edit Master subtitle style</a:t>
            </a:r>
            <a:endParaRPr lang="en-US" dirty="0"/>
          </a:p>
        </p:txBody>
      </p:sp>
      <p:sp>
        <p:nvSpPr>
          <p:cNvPr id="4" name="Date Placeholder 3"/>
          <p:cNvSpPr>
            <a:spLocks noGrp="1"/>
          </p:cNvSpPr>
          <p:nvPr>
            <p:ph type="dt" sz="half" idx="10"/>
          </p:nvPr>
        </p:nvSpPr>
        <p:spPr/>
        <p:txBody>
          <a:bodyPr/>
          <a:lstStyle/>
          <a:p>
            <a:fld id="{D614F98A-59E7-4087-9718-15D9A86B3281}" type="datetime1">
              <a:rPr lang="en-US" smtClean="0"/>
              <a:t>6/2/2026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DC4CAFB8-3EF6-4FAF-BDFA-EA2F8D8834E4}" type="slidenum">
              <a:rPr lang="en-US" smtClean="0"/>
              <a:t>‹#›</a:t>
            </a:fld>
            <a:endParaRPr lang="en-US"/>
          </a:p>
        </p:txBody>
      </p:sp>
      <p:cxnSp>
        <p:nvCxnSpPr>
          <p:cNvPr id="9" name="Straight Connector 8"/>
          <p:cNvCxnSpPr/>
          <p:nvPr/>
        </p:nvCxnSpPr>
        <p:spPr>
          <a:xfrm>
            <a:off x="1207658" y="4343400"/>
            <a:ext cx="9875520" cy="0"/>
          </a:xfrm>
          <a:prstGeom prst="line">
            <a:avLst/>
          </a:prstGeom>
          <a:ln w="6350">
            <a:solidFill>
              <a:schemeClr val="tx1">
                <a:lumMod val="50000"/>
                <a:lumOff val="50000"/>
              </a:schemeClr>
            </a:solidFill>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1486194118"/>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3" name="Content Placeholder 2"/>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10"/>
          </p:nvPr>
        </p:nvSpPr>
        <p:spPr/>
        <p:txBody>
          <a:bodyPr/>
          <a:lstStyle/>
          <a:p>
            <a:fld id="{CFE2A4DB-B42B-4370-AA6A-C86D7439DE84}" type="datetime1">
              <a:rPr lang="en-US" smtClean="0"/>
              <a:t>6/2/2026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DC4CAFB8-3EF6-4FAF-BDFA-EA2F8D8834E4}" type="slidenum">
              <a:rPr lang="en-US" smtClean="0"/>
              <a:t>‹#›</a:t>
            </a:fld>
            <a:endParaRPr lang="en-US"/>
          </a:p>
        </p:txBody>
      </p:sp>
    </p:spTree>
    <p:extLst>
      <p:ext uri="{BB962C8B-B14F-4D97-AF65-F5344CB8AC3E}">
        <p14:creationId xmlns:p14="http://schemas.microsoft.com/office/powerpoint/2010/main" val="2897491450"/>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showMasterSp="0" type="secHead" preserve="1">
  <p:cSld name="Section Header">
    <p:bg>
      <p:bgPr>
        <a:solidFill>
          <a:schemeClr val="bg1"/>
        </a:solidFill>
        <a:effectLst/>
      </p:bgPr>
    </p:bg>
    <p:spTree>
      <p:nvGrpSpPr>
        <p:cNvPr id="1" name=""/>
        <p:cNvGrpSpPr/>
        <p:nvPr/>
      </p:nvGrpSpPr>
      <p:grpSpPr>
        <a:xfrm>
          <a:off x="0" y="0"/>
          <a:ext cx="0" cy="0"/>
          <a:chOff x="0" y="0"/>
          <a:chExt cx="0" cy="0"/>
        </a:xfrm>
      </p:grpSpPr>
      <p:sp>
        <p:nvSpPr>
          <p:cNvPr id="7" name="Rectangle 6"/>
          <p:cNvSpPr/>
          <p:nvPr/>
        </p:nvSpPr>
        <p:spPr>
          <a:xfrm>
            <a:off x="3175" y="6400800"/>
            <a:ext cx="12188825" cy="457200"/>
          </a:xfrm>
          <a:prstGeom prst="rect">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sp>
      <p:sp>
        <p:nvSpPr>
          <p:cNvPr id="8" name="Rectangle 7"/>
          <p:cNvSpPr/>
          <p:nvPr/>
        </p:nvSpPr>
        <p:spPr>
          <a:xfrm>
            <a:off x="15" y="6334316"/>
            <a:ext cx="12188825" cy="64008"/>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sp>
      <p:sp>
        <p:nvSpPr>
          <p:cNvPr id="2" name="Title 1"/>
          <p:cNvSpPr>
            <a:spLocks noGrp="1"/>
          </p:cNvSpPr>
          <p:nvPr>
            <p:ph type="title"/>
          </p:nvPr>
        </p:nvSpPr>
        <p:spPr>
          <a:xfrm>
            <a:off x="1097280" y="758952"/>
            <a:ext cx="10058400" cy="3566160"/>
          </a:xfrm>
        </p:spPr>
        <p:txBody>
          <a:bodyPr anchor="b" anchorCtr="0">
            <a:normAutofit/>
          </a:bodyPr>
          <a:lstStyle>
            <a:lvl1pPr>
              <a:lnSpc>
                <a:spcPct val="85000"/>
              </a:lnSpc>
              <a:defRPr sz="8000" b="0">
                <a:solidFill>
                  <a:schemeClr val="tx1">
                    <a:lumMod val="85000"/>
                    <a:lumOff val="15000"/>
                  </a:schemeClr>
                </a:solidFill>
              </a:defRPr>
            </a:lvl1pPr>
          </a:lstStyle>
          <a:p>
            <a:r>
              <a:rPr lang="en-US"/>
              <a:t>Click to edit Master title style</a:t>
            </a:r>
            <a:endParaRPr lang="en-US" dirty="0"/>
          </a:p>
        </p:txBody>
      </p:sp>
      <p:sp>
        <p:nvSpPr>
          <p:cNvPr id="3" name="Text Placeholder 2"/>
          <p:cNvSpPr>
            <a:spLocks noGrp="1"/>
          </p:cNvSpPr>
          <p:nvPr>
            <p:ph type="body" idx="1"/>
          </p:nvPr>
        </p:nvSpPr>
        <p:spPr>
          <a:xfrm>
            <a:off x="1097280" y="4453128"/>
            <a:ext cx="10058400" cy="1143000"/>
          </a:xfrm>
        </p:spPr>
        <p:txBody>
          <a:bodyPr lIns="91440" rIns="91440" anchor="t" anchorCtr="0">
            <a:normAutofit/>
          </a:bodyPr>
          <a:lstStyle>
            <a:lvl1pPr marL="0" indent="0">
              <a:buNone/>
              <a:defRPr sz="2400" cap="all" spc="200" baseline="0">
                <a:solidFill>
                  <a:schemeClr val="tx2"/>
                </a:solidFill>
                <a:latin typeface="+mj-lt"/>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fld id="{585AB252-1959-4E99-9C70-B56B44623854}" type="datetime1">
              <a:rPr lang="en-US" smtClean="0"/>
              <a:t>6/2/2026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DC4CAFB8-3EF6-4FAF-BDFA-EA2F8D8834E4}" type="slidenum">
              <a:rPr lang="en-US" smtClean="0"/>
              <a:t>‹#›</a:t>
            </a:fld>
            <a:endParaRPr lang="en-US"/>
          </a:p>
        </p:txBody>
      </p:sp>
      <p:cxnSp>
        <p:nvCxnSpPr>
          <p:cNvPr id="9" name="Straight Connector 8"/>
          <p:cNvCxnSpPr/>
          <p:nvPr/>
        </p:nvCxnSpPr>
        <p:spPr>
          <a:xfrm>
            <a:off x="1207658" y="4343400"/>
            <a:ext cx="9875520" cy="0"/>
          </a:xfrm>
          <a:prstGeom prst="line">
            <a:avLst/>
          </a:prstGeom>
          <a:ln w="6350">
            <a:solidFill>
              <a:schemeClr val="tx1">
                <a:lumMod val="50000"/>
                <a:lumOff val="50000"/>
              </a:schemeClr>
            </a:solidFill>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3292436373"/>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8" name="Title 7"/>
          <p:cNvSpPr>
            <a:spLocks noGrp="1"/>
          </p:cNvSpPr>
          <p:nvPr>
            <p:ph type="title"/>
          </p:nvPr>
        </p:nvSpPr>
        <p:spPr>
          <a:xfrm>
            <a:off x="1097280" y="286603"/>
            <a:ext cx="10058400" cy="1450757"/>
          </a:xfrm>
        </p:spPr>
        <p:txBody>
          <a:bodyPr/>
          <a:lstStyle/>
          <a:p>
            <a:r>
              <a:rPr lang="en-US"/>
              <a:t>Click to edit Master title style</a:t>
            </a:r>
            <a:endParaRPr lang="en-US" dirty="0"/>
          </a:p>
        </p:txBody>
      </p:sp>
      <p:sp>
        <p:nvSpPr>
          <p:cNvPr id="3" name="Content Placeholder 2"/>
          <p:cNvSpPr>
            <a:spLocks noGrp="1"/>
          </p:cNvSpPr>
          <p:nvPr>
            <p:ph sz="half" idx="1"/>
          </p:nvPr>
        </p:nvSpPr>
        <p:spPr>
          <a:xfrm>
            <a:off x="1097278" y="1845734"/>
            <a:ext cx="4937760" cy="4023360"/>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Content Placeholder 3"/>
          <p:cNvSpPr>
            <a:spLocks noGrp="1"/>
          </p:cNvSpPr>
          <p:nvPr>
            <p:ph sz="half" idx="2"/>
          </p:nvPr>
        </p:nvSpPr>
        <p:spPr>
          <a:xfrm>
            <a:off x="6217920" y="1845735"/>
            <a:ext cx="4937760" cy="4023360"/>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5" name="Date Placeholder 4"/>
          <p:cNvSpPr>
            <a:spLocks noGrp="1"/>
          </p:cNvSpPr>
          <p:nvPr>
            <p:ph type="dt" sz="half" idx="10"/>
          </p:nvPr>
        </p:nvSpPr>
        <p:spPr/>
        <p:txBody>
          <a:bodyPr/>
          <a:lstStyle/>
          <a:p>
            <a:fld id="{2AC8FC70-C5BA-4FCA-8D45-54AC3A5850E2}" type="datetime1">
              <a:rPr lang="en-US" smtClean="0"/>
              <a:t>6/2/2026</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DC4CAFB8-3EF6-4FAF-BDFA-EA2F8D8834E4}" type="slidenum">
              <a:rPr lang="en-US" smtClean="0"/>
              <a:t>‹#›</a:t>
            </a:fld>
            <a:endParaRPr lang="en-US"/>
          </a:p>
        </p:txBody>
      </p:sp>
    </p:spTree>
    <p:extLst>
      <p:ext uri="{BB962C8B-B14F-4D97-AF65-F5344CB8AC3E}">
        <p14:creationId xmlns:p14="http://schemas.microsoft.com/office/powerpoint/2010/main" val="2023002826"/>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10" name="Title 9"/>
          <p:cNvSpPr>
            <a:spLocks noGrp="1"/>
          </p:cNvSpPr>
          <p:nvPr>
            <p:ph type="title"/>
          </p:nvPr>
        </p:nvSpPr>
        <p:spPr>
          <a:xfrm>
            <a:off x="1097280" y="286603"/>
            <a:ext cx="10058400" cy="1450757"/>
          </a:xfrm>
        </p:spPr>
        <p:txBody>
          <a:bodyPr/>
          <a:lstStyle/>
          <a:p>
            <a:r>
              <a:rPr lang="en-US"/>
              <a:t>Click to edit Master title style</a:t>
            </a:r>
            <a:endParaRPr lang="en-US" dirty="0"/>
          </a:p>
        </p:txBody>
      </p:sp>
      <p:sp>
        <p:nvSpPr>
          <p:cNvPr id="3" name="Text Placeholder 2"/>
          <p:cNvSpPr>
            <a:spLocks noGrp="1"/>
          </p:cNvSpPr>
          <p:nvPr>
            <p:ph type="body" idx="1"/>
          </p:nvPr>
        </p:nvSpPr>
        <p:spPr>
          <a:xfrm>
            <a:off x="1097280" y="1846052"/>
            <a:ext cx="4937760" cy="736282"/>
          </a:xfrm>
        </p:spPr>
        <p:txBody>
          <a:bodyPr lIns="91440" rIns="91440" anchor="ctr">
            <a:normAutofit/>
          </a:bodyPr>
          <a:lstStyle>
            <a:lvl1pPr marL="0" indent="0">
              <a:buNone/>
              <a:defRPr sz="2000" b="0" cap="all" baseline="0">
                <a:solidFill>
                  <a:schemeClr val="tx2"/>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p:cNvSpPr>
            <a:spLocks noGrp="1"/>
          </p:cNvSpPr>
          <p:nvPr>
            <p:ph sz="half" idx="2"/>
          </p:nvPr>
        </p:nvSpPr>
        <p:spPr>
          <a:xfrm>
            <a:off x="1097280" y="2582334"/>
            <a:ext cx="4937760" cy="3378200"/>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5" name="Text Placeholder 4"/>
          <p:cNvSpPr>
            <a:spLocks noGrp="1"/>
          </p:cNvSpPr>
          <p:nvPr>
            <p:ph type="body" sz="quarter" idx="3"/>
          </p:nvPr>
        </p:nvSpPr>
        <p:spPr>
          <a:xfrm>
            <a:off x="6217920" y="1846052"/>
            <a:ext cx="4937760" cy="736282"/>
          </a:xfrm>
        </p:spPr>
        <p:txBody>
          <a:bodyPr lIns="91440" rIns="91440" anchor="ctr">
            <a:normAutofit/>
          </a:bodyPr>
          <a:lstStyle>
            <a:lvl1pPr marL="0" indent="0">
              <a:buNone/>
              <a:defRPr sz="2000" b="0" cap="all" baseline="0">
                <a:solidFill>
                  <a:schemeClr val="tx2"/>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p:cNvSpPr>
            <a:spLocks noGrp="1"/>
          </p:cNvSpPr>
          <p:nvPr>
            <p:ph sz="quarter" idx="4"/>
          </p:nvPr>
        </p:nvSpPr>
        <p:spPr>
          <a:xfrm>
            <a:off x="6217920" y="2582334"/>
            <a:ext cx="4937760" cy="3378200"/>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7" name="Date Placeholder 6"/>
          <p:cNvSpPr>
            <a:spLocks noGrp="1"/>
          </p:cNvSpPr>
          <p:nvPr>
            <p:ph type="dt" sz="half" idx="10"/>
          </p:nvPr>
        </p:nvSpPr>
        <p:spPr/>
        <p:txBody>
          <a:bodyPr/>
          <a:lstStyle/>
          <a:p>
            <a:fld id="{5E11CDF8-1CDD-499C-A80B-E3C9F4493A4B}" type="datetime1">
              <a:rPr lang="en-US" smtClean="0"/>
              <a:t>6/2/2026</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DC4CAFB8-3EF6-4FAF-BDFA-EA2F8D8834E4}" type="slidenum">
              <a:rPr lang="en-US" smtClean="0"/>
              <a:t>‹#›</a:t>
            </a:fld>
            <a:endParaRPr lang="en-US"/>
          </a:p>
        </p:txBody>
      </p:sp>
    </p:spTree>
    <p:extLst>
      <p:ext uri="{BB962C8B-B14F-4D97-AF65-F5344CB8AC3E}">
        <p14:creationId xmlns:p14="http://schemas.microsoft.com/office/powerpoint/2010/main" val="3340508509"/>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3" name="Date Placeholder 2"/>
          <p:cNvSpPr>
            <a:spLocks noGrp="1"/>
          </p:cNvSpPr>
          <p:nvPr>
            <p:ph type="dt" sz="half" idx="10"/>
          </p:nvPr>
        </p:nvSpPr>
        <p:spPr/>
        <p:txBody>
          <a:bodyPr/>
          <a:lstStyle/>
          <a:p>
            <a:fld id="{931B7B72-FF39-4566-A995-20B3DEC891FC}" type="datetime1">
              <a:rPr lang="en-US" smtClean="0"/>
              <a:t>6/2/2026</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DC4CAFB8-3EF6-4FAF-BDFA-EA2F8D8834E4}" type="slidenum">
              <a:rPr lang="en-US" smtClean="0"/>
              <a:t>‹#›</a:t>
            </a:fld>
            <a:endParaRPr lang="en-US"/>
          </a:p>
        </p:txBody>
      </p:sp>
    </p:spTree>
    <p:extLst>
      <p:ext uri="{BB962C8B-B14F-4D97-AF65-F5344CB8AC3E}">
        <p14:creationId xmlns:p14="http://schemas.microsoft.com/office/powerpoint/2010/main" val="1318734398"/>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showMasterSp="0" type="blank" preserve="1">
  <p:cSld name="Blank">
    <p:spTree>
      <p:nvGrpSpPr>
        <p:cNvPr id="1" name=""/>
        <p:cNvGrpSpPr/>
        <p:nvPr/>
      </p:nvGrpSpPr>
      <p:grpSpPr>
        <a:xfrm>
          <a:off x="0" y="0"/>
          <a:ext cx="0" cy="0"/>
          <a:chOff x="0" y="0"/>
          <a:chExt cx="0" cy="0"/>
        </a:xfrm>
      </p:grpSpPr>
      <p:sp>
        <p:nvSpPr>
          <p:cNvPr id="5" name="Rectangle 4"/>
          <p:cNvSpPr/>
          <p:nvPr/>
        </p:nvSpPr>
        <p:spPr>
          <a:xfrm>
            <a:off x="3175" y="6400800"/>
            <a:ext cx="12188825" cy="457200"/>
          </a:xfrm>
          <a:prstGeom prst="rect">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sp>
      <p:sp>
        <p:nvSpPr>
          <p:cNvPr id="6" name="Rectangle 5"/>
          <p:cNvSpPr/>
          <p:nvPr/>
        </p:nvSpPr>
        <p:spPr>
          <a:xfrm>
            <a:off x="15" y="6334316"/>
            <a:ext cx="12188825" cy="64008"/>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sp>
      <p:sp>
        <p:nvSpPr>
          <p:cNvPr id="7" name="Date Placeholder 6"/>
          <p:cNvSpPr>
            <a:spLocks noGrp="1"/>
          </p:cNvSpPr>
          <p:nvPr>
            <p:ph type="dt" sz="half" idx="10"/>
          </p:nvPr>
        </p:nvSpPr>
        <p:spPr/>
        <p:txBody>
          <a:bodyPr/>
          <a:lstStyle/>
          <a:p>
            <a:fld id="{0661C902-08C8-4E57-9411-D062DDCCDB94}" type="datetime1">
              <a:rPr lang="en-US" smtClean="0"/>
              <a:t>6/2/2026</a:t>
            </a:fld>
            <a:endParaRPr lang="en-US"/>
          </a:p>
        </p:txBody>
      </p:sp>
      <p:sp>
        <p:nvSpPr>
          <p:cNvPr id="8" name="Footer Placeholder 7"/>
          <p:cNvSpPr>
            <a:spLocks noGrp="1"/>
          </p:cNvSpPr>
          <p:nvPr>
            <p:ph type="ftr" sz="quarter" idx="11"/>
          </p:nvPr>
        </p:nvSpPr>
        <p:spPr/>
        <p:txBody>
          <a:bodyPr/>
          <a:lstStyle>
            <a:lvl1pPr>
              <a:defRPr>
                <a:solidFill>
                  <a:srgbClr val="FFFFFF"/>
                </a:solidFill>
              </a:defRPr>
            </a:lvl1pPr>
          </a:lstStyle>
          <a:p>
            <a:endParaRPr lang="en-US"/>
          </a:p>
        </p:txBody>
      </p:sp>
      <p:sp>
        <p:nvSpPr>
          <p:cNvPr id="9" name="Slide Number Placeholder 8"/>
          <p:cNvSpPr>
            <a:spLocks noGrp="1"/>
          </p:cNvSpPr>
          <p:nvPr>
            <p:ph type="sldNum" sz="quarter" idx="12"/>
          </p:nvPr>
        </p:nvSpPr>
        <p:spPr/>
        <p:txBody>
          <a:bodyPr/>
          <a:lstStyle/>
          <a:p>
            <a:fld id="{DC4CAFB8-3EF6-4FAF-BDFA-EA2F8D8834E4}" type="slidenum">
              <a:rPr lang="en-US" smtClean="0"/>
              <a:t>‹#›</a:t>
            </a:fld>
            <a:endParaRPr lang="en-US"/>
          </a:p>
        </p:txBody>
      </p:sp>
    </p:spTree>
    <p:extLst>
      <p:ext uri="{BB962C8B-B14F-4D97-AF65-F5344CB8AC3E}">
        <p14:creationId xmlns:p14="http://schemas.microsoft.com/office/powerpoint/2010/main" val="266478880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showMasterSp="0" type="objTx" preserve="1">
  <p:cSld name="Content with Caption">
    <p:spTree>
      <p:nvGrpSpPr>
        <p:cNvPr id="1" name=""/>
        <p:cNvGrpSpPr/>
        <p:nvPr/>
      </p:nvGrpSpPr>
      <p:grpSpPr>
        <a:xfrm>
          <a:off x="0" y="0"/>
          <a:ext cx="0" cy="0"/>
          <a:chOff x="0" y="0"/>
          <a:chExt cx="0" cy="0"/>
        </a:xfrm>
      </p:grpSpPr>
      <p:sp>
        <p:nvSpPr>
          <p:cNvPr id="8" name="Rectangle 7"/>
          <p:cNvSpPr/>
          <p:nvPr/>
        </p:nvSpPr>
        <p:spPr>
          <a:xfrm>
            <a:off x="16" y="0"/>
            <a:ext cx="4050791" cy="6858000"/>
          </a:xfrm>
          <a:prstGeom prst="rect">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sp>
      <p:sp>
        <p:nvSpPr>
          <p:cNvPr id="9" name="Rectangle 8"/>
          <p:cNvSpPr/>
          <p:nvPr/>
        </p:nvSpPr>
        <p:spPr>
          <a:xfrm>
            <a:off x="4040071" y="0"/>
            <a:ext cx="64008" cy="6858000"/>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sp>
      <p:sp>
        <p:nvSpPr>
          <p:cNvPr id="2" name="Title 1"/>
          <p:cNvSpPr>
            <a:spLocks noGrp="1"/>
          </p:cNvSpPr>
          <p:nvPr>
            <p:ph type="title"/>
          </p:nvPr>
        </p:nvSpPr>
        <p:spPr>
          <a:xfrm>
            <a:off x="457200" y="594359"/>
            <a:ext cx="3200400" cy="2286000"/>
          </a:xfrm>
        </p:spPr>
        <p:txBody>
          <a:bodyPr anchor="b">
            <a:normAutofit/>
          </a:bodyPr>
          <a:lstStyle>
            <a:lvl1pPr>
              <a:defRPr sz="3600" b="0">
                <a:solidFill>
                  <a:srgbClr val="FFFFFF"/>
                </a:solidFill>
              </a:defRPr>
            </a:lvl1pPr>
          </a:lstStyle>
          <a:p>
            <a:r>
              <a:rPr lang="en-US"/>
              <a:t>Click to edit Master title style</a:t>
            </a:r>
            <a:endParaRPr lang="en-US" dirty="0"/>
          </a:p>
        </p:txBody>
      </p:sp>
      <p:sp>
        <p:nvSpPr>
          <p:cNvPr id="3" name="Content Placeholder 2"/>
          <p:cNvSpPr>
            <a:spLocks noGrp="1"/>
          </p:cNvSpPr>
          <p:nvPr>
            <p:ph idx="1"/>
          </p:nvPr>
        </p:nvSpPr>
        <p:spPr>
          <a:xfrm>
            <a:off x="4800600" y="731520"/>
            <a:ext cx="6492240" cy="5257800"/>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Text Placeholder 3"/>
          <p:cNvSpPr>
            <a:spLocks noGrp="1"/>
          </p:cNvSpPr>
          <p:nvPr>
            <p:ph type="body" sz="half" idx="2"/>
          </p:nvPr>
        </p:nvSpPr>
        <p:spPr>
          <a:xfrm>
            <a:off x="457200" y="2926080"/>
            <a:ext cx="3200400" cy="3379124"/>
          </a:xfrm>
        </p:spPr>
        <p:txBody>
          <a:bodyPr lIns="91440" rIns="91440">
            <a:normAutofit/>
          </a:bodyPr>
          <a:lstStyle>
            <a:lvl1pPr marL="0" indent="0">
              <a:buNone/>
              <a:defRPr sz="1500">
                <a:solidFill>
                  <a:srgbClr val="FFFFFF"/>
                </a:solidFill>
              </a:defRPr>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5" name="Date Placeholder 4"/>
          <p:cNvSpPr>
            <a:spLocks noGrp="1"/>
          </p:cNvSpPr>
          <p:nvPr>
            <p:ph type="dt" sz="half" idx="10"/>
          </p:nvPr>
        </p:nvSpPr>
        <p:spPr>
          <a:xfrm>
            <a:off x="465512" y="6459785"/>
            <a:ext cx="2618510" cy="365125"/>
          </a:xfrm>
        </p:spPr>
        <p:txBody>
          <a:bodyPr/>
          <a:lstStyle>
            <a:lvl1pPr algn="l">
              <a:defRPr/>
            </a:lvl1pPr>
          </a:lstStyle>
          <a:p>
            <a:fld id="{347417BE-C366-40DE-876F-9E3200C88EA1}" type="datetime1">
              <a:rPr lang="en-US" smtClean="0"/>
              <a:t>6/2/2026</a:t>
            </a:fld>
            <a:endParaRPr lang="en-US"/>
          </a:p>
        </p:txBody>
      </p:sp>
      <p:sp>
        <p:nvSpPr>
          <p:cNvPr id="6" name="Footer Placeholder 5"/>
          <p:cNvSpPr>
            <a:spLocks noGrp="1"/>
          </p:cNvSpPr>
          <p:nvPr>
            <p:ph type="ftr" sz="quarter" idx="11"/>
          </p:nvPr>
        </p:nvSpPr>
        <p:spPr>
          <a:xfrm>
            <a:off x="4800600" y="6459785"/>
            <a:ext cx="4648200" cy="365125"/>
          </a:xfrm>
        </p:spPr>
        <p:txBody>
          <a:bodyPr/>
          <a:lstStyle>
            <a:lvl1pPr algn="l">
              <a:defRPr>
                <a:solidFill>
                  <a:schemeClr val="tx2"/>
                </a:solidFill>
              </a:defRPr>
            </a:lvl1pPr>
          </a:lstStyle>
          <a:p>
            <a:endParaRPr lang="en-US"/>
          </a:p>
        </p:txBody>
      </p:sp>
      <p:sp>
        <p:nvSpPr>
          <p:cNvPr id="7" name="Slide Number Placeholder 6"/>
          <p:cNvSpPr>
            <a:spLocks noGrp="1"/>
          </p:cNvSpPr>
          <p:nvPr>
            <p:ph type="sldNum" sz="quarter" idx="12"/>
          </p:nvPr>
        </p:nvSpPr>
        <p:spPr/>
        <p:txBody>
          <a:bodyPr/>
          <a:lstStyle>
            <a:lvl1pPr>
              <a:defRPr>
                <a:solidFill>
                  <a:schemeClr val="tx2"/>
                </a:solidFill>
              </a:defRPr>
            </a:lvl1pPr>
          </a:lstStyle>
          <a:p>
            <a:fld id="{DC4CAFB8-3EF6-4FAF-BDFA-EA2F8D8834E4}" type="slidenum">
              <a:rPr lang="en-US" smtClean="0"/>
              <a:t>‹#›</a:t>
            </a:fld>
            <a:endParaRPr lang="en-US"/>
          </a:p>
        </p:txBody>
      </p:sp>
    </p:spTree>
    <p:extLst>
      <p:ext uri="{BB962C8B-B14F-4D97-AF65-F5344CB8AC3E}">
        <p14:creationId xmlns:p14="http://schemas.microsoft.com/office/powerpoint/2010/main" val="1459813968"/>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showMasterSp="0" type="picTx" preserve="1">
  <p:cSld name="Picture with Caption">
    <p:spTree>
      <p:nvGrpSpPr>
        <p:cNvPr id="1" name=""/>
        <p:cNvGrpSpPr/>
        <p:nvPr/>
      </p:nvGrpSpPr>
      <p:grpSpPr>
        <a:xfrm>
          <a:off x="0" y="0"/>
          <a:ext cx="0" cy="0"/>
          <a:chOff x="0" y="0"/>
          <a:chExt cx="0" cy="0"/>
        </a:xfrm>
      </p:grpSpPr>
      <p:sp>
        <p:nvSpPr>
          <p:cNvPr id="8" name="Rectangle 7"/>
          <p:cNvSpPr/>
          <p:nvPr/>
        </p:nvSpPr>
        <p:spPr>
          <a:xfrm>
            <a:off x="0" y="4953000"/>
            <a:ext cx="12188825" cy="1905000"/>
          </a:xfrm>
          <a:prstGeom prst="rect">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sp>
      <p:sp>
        <p:nvSpPr>
          <p:cNvPr id="9" name="Rectangle 8"/>
          <p:cNvSpPr/>
          <p:nvPr/>
        </p:nvSpPr>
        <p:spPr>
          <a:xfrm>
            <a:off x="15" y="4915076"/>
            <a:ext cx="12188825" cy="64008"/>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sp>
      <p:sp>
        <p:nvSpPr>
          <p:cNvPr id="2" name="Title 1"/>
          <p:cNvSpPr>
            <a:spLocks noGrp="1"/>
          </p:cNvSpPr>
          <p:nvPr>
            <p:ph type="title"/>
          </p:nvPr>
        </p:nvSpPr>
        <p:spPr>
          <a:xfrm>
            <a:off x="1097280" y="5074920"/>
            <a:ext cx="10113645" cy="822960"/>
          </a:xfrm>
        </p:spPr>
        <p:txBody>
          <a:bodyPr lIns="91440" tIns="0" rIns="91440" bIns="0" anchor="b">
            <a:noAutofit/>
          </a:bodyPr>
          <a:lstStyle>
            <a:lvl1pPr>
              <a:defRPr sz="3600" b="0">
                <a:solidFill>
                  <a:srgbClr val="FFFFFF"/>
                </a:solidFill>
              </a:defRPr>
            </a:lvl1pPr>
          </a:lstStyle>
          <a:p>
            <a:r>
              <a:rPr lang="en-US"/>
              <a:t>Click to edit Master title style</a:t>
            </a:r>
            <a:endParaRPr lang="en-US" dirty="0"/>
          </a:p>
        </p:txBody>
      </p:sp>
      <p:sp>
        <p:nvSpPr>
          <p:cNvPr id="3" name="Picture Placeholder 2"/>
          <p:cNvSpPr>
            <a:spLocks noGrp="1" noChangeAspect="1"/>
          </p:cNvSpPr>
          <p:nvPr>
            <p:ph type="pic" idx="1"/>
          </p:nvPr>
        </p:nvSpPr>
        <p:spPr>
          <a:xfrm>
            <a:off x="15" y="0"/>
            <a:ext cx="12191985" cy="4915076"/>
          </a:xfrm>
          <a:solidFill>
            <a:schemeClr val="bg2">
              <a:lumMod val="90000"/>
            </a:schemeClr>
          </a:solidFill>
        </p:spPr>
        <p:txBody>
          <a:bodyPr lIns="457200" tIns="457200" anchor="t"/>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r>
              <a:rPr lang="en-US"/>
              <a:t>Click icon to add picture</a:t>
            </a:r>
            <a:endParaRPr lang="en-US" dirty="0"/>
          </a:p>
        </p:txBody>
      </p:sp>
      <p:sp>
        <p:nvSpPr>
          <p:cNvPr id="4" name="Text Placeholder 3"/>
          <p:cNvSpPr>
            <a:spLocks noGrp="1"/>
          </p:cNvSpPr>
          <p:nvPr>
            <p:ph type="body" sz="half" idx="2"/>
          </p:nvPr>
        </p:nvSpPr>
        <p:spPr>
          <a:xfrm>
            <a:off x="1097280" y="5907024"/>
            <a:ext cx="10113264" cy="594360"/>
          </a:xfrm>
        </p:spPr>
        <p:txBody>
          <a:bodyPr lIns="91440" tIns="0" rIns="91440" bIns="0">
            <a:normAutofit/>
          </a:bodyPr>
          <a:lstStyle>
            <a:lvl1pPr marL="0" indent="0">
              <a:spcBef>
                <a:spcPts val="0"/>
              </a:spcBef>
              <a:spcAft>
                <a:spcPts val="600"/>
              </a:spcAft>
              <a:buNone/>
              <a:defRPr sz="1500">
                <a:solidFill>
                  <a:srgbClr val="FFFFFF"/>
                </a:solidFill>
              </a:defRPr>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5" name="Date Placeholder 4"/>
          <p:cNvSpPr>
            <a:spLocks noGrp="1"/>
          </p:cNvSpPr>
          <p:nvPr>
            <p:ph type="dt" sz="half" idx="10"/>
          </p:nvPr>
        </p:nvSpPr>
        <p:spPr/>
        <p:txBody>
          <a:bodyPr/>
          <a:lstStyle/>
          <a:p>
            <a:fld id="{75631CA3-10EB-4E81-939B-2483A979C747}" type="datetime1">
              <a:rPr lang="en-US" smtClean="0"/>
              <a:t>6/2/2026</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DC4CAFB8-3EF6-4FAF-BDFA-EA2F8D8834E4}" type="slidenum">
              <a:rPr lang="en-US" smtClean="0"/>
              <a:t>‹#›</a:t>
            </a:fld>
            <a:endParaRPr lang="en-US"/>
          </a:p>
        </p:txBody>
      </p:sp>
    </p:spTree>
    <p:extLst>
      <p:ext uri="{BB962C8B-B14F-4D97-AF65-F5344CB8AC3E}">
        <p14:creationId xmlns:p14="http://schemas.microsoft.com/office/powerpoint/2010/main" val="1018086460"/>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3" name="Vertical Text Placeholder 2"/>
          <p:cNvSpPr>
            <a:spLocks noGrp="1"/>
          </p:cNvSpPr>
          <p:nvPr>
            <p:ph type="body" orient="vert" idx="1"/>
          </p:nvPr>
        </p:nvSpPr>
        <p:spPr/>
        <p:txBody>
          <a:bodyPr vert="eaVert" lIns="45720" tIns="0" rIns="45720" bIns="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10"/>
          </p:nvPr>
        </p:nvSpPr>
        <p:spPr/>
        <p:txBody>
          <a:bodyPr/>
          <a:lstStyle/>
          <a:p>
            <a:fld id="{4F145982-A9BA-400B-8003-B638FE612428}" type="datetime1">
              <a:rPr lang="en-US" smtClean="0"/>
              <a:t>6/2/2026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DC4CAFB8-3EF6-4FAF-BDFA-EA2F8D8834E4}" type="slidenum">
              <a:rPr lang="en-US" smtClean="0"/>
              <a:t>‹#›</a:t>
            </a:fld>
            <a:endParaRPr lang="en-US"/>
          </a:p>
        </p:txBody>
      </p:sp>
    </p:spTree>
    <p:extLst>
      <p:ext uri="{BB962C8B-B14F-4D97-AF65-F5344CB8AC3E}">
        <p14:creationId xmlns:p14="http://schemas.microsoft.com/office/powerpoint/2010/main" val="684958131"/>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showMasterSp="0" type="vertTitleAndTx" preserve="1">
  <p:cSld name="Vertical Title and Text">
    <p:spTree>
      <p:nvGrpSpPr>
        <p:cNvPr id="1" name=""/>
        <p:cNvGrpSpPr/>
        <p:nvPr/>
      </p:nvGrpSpPr>
      <p:grpSpPr>
        <a:xfrm>
          <a:off x="0" y="0"/>
          <a:ext cx="0" cy="0"/>
          <a:chOff x="0" y="0"/>
          <a:chExt cx="0" cy="0"/>
        </a:xfrm>
      </p:grpSpPr>
      <p:sp>
        <p:nvSpPr>
          <p:cNvPr id="7" name="Rectangle 6"/>
          <p:cNvSpPr/>
          <p:nvPr/>
        </p:nvSpPr>
        <p:spPr>
          <a:xfrm>
            <a:off x="3175" y="6400800"/>
            <a:ext cx="12188825" cy="457200"/>
          </a:xfrm>
          <a:prstGeom prst="rect">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sp>
      <p:sp>
        <p:nvSpPr>
          <p:cNvPr id="8" name="Rectangle 7"/>
          <p:cNvSpPr/>
          <p:nvPr/>
        </p:nvSpPr>
        <p:spPr>
          <a:xfrm>
            <a:off x="15" y="6334316"/>
            <a:ext cx="12188825" cy="64008"/>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sp>
      <p:sp>
        <p:nvSpPr>
          <p:cNvPr id="2" name="Vertical Title 1"/>
          <p:cNvSpPr>
            <a:spLocks noGrp="1"/>
          </p:cNvSpPr>
          <p:nvPr>
            <p:ph type="title" orient="vert"/>
          </p:nvPr>
        </p:nvSpPr>
        <p:spPr>
          <a:xfrm>
            <a:off x="8724900" y="412302"/>
            <a:ext cx="2628900" cy="5759898"/>
          </a:xfrm>
        </p:spPr>
        <p:txBody>
          <a:bodyPr vert="eaVert"/>
          <a:lstStyle/>
          <a:p>
            <a:r>
              <a:rPr lang="en-US"/>
              <a:t>Click to edit Master title style</a:t>
            </a:r>
            <a:endParaRPr lang="en-US" dirty="0"/>
          </a:p>
        </p:txBody>
      </p:sp>
      <p:sp>
        <p:nvSpPr>
          <p:cNvPr id="3" name="Vertical Text Placeholder 2"/>
          <p:cNvSpPr>
            <a:spLocks noGrp="1"/>
          </p:cNvSpPr>
          <p:nvPr>
            <p:ph type="body" orient="vert" idx="1"/>
          </p:nvPr>
        </p:nvSpPr>
        <p:spPr>
          <a:xfrm>
            <a:off x="838200" y="412302"/>
            <a:ext cx="7734300" cy="5759898"/>
          </a:xfrm>
        </p:spPr>
        <p:txBody>
          <a:bodyPr vert="eaVert" lIns="45720" tIns="0" rIns="45720" bIns="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10"/>
          </p:nvPr>
        </p:nvSpPr>
        <p:spPr/>
        <p:txBody>
          <a:bodyPr/>
          <a:lstStyle/>
          <a:p>
            <a:fld id="{372CD4CF-9B4A-4471-9AD5-9856A5C57886}" type="datetime1">
              <a:rPr lang="en-US" smtClean="0"/>
              <a:t>6/2/2026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DC4CAFB8-3EF6-4FAF-BDFA-EA2F8D8834E4}" type="slidenum">
              <a:rPr lang="en-US" smtClean="0"/>
              <a:t>‹#›</a:t>
            </a:fld>
            <a:endParaRPr lang="en-US"/>
          </a:p>
        </p:txBody>
      </p:sp>
    </p:spTree>
    <p:extLst>
      <p:ext uri="{BB962C8B-B14F-4D97-AF65-F5344CB8AC3E}">
        <p14:creationId xmlns:p14="http://schemas.microsoft.com/office/powerpoint/2010/main" val="1448752474"/>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7" name="Rectangle 6"/>
          <p:cNvSpPr/>
          <p:nvPr/>
        </p:nvSpPr>
        <p:spPr>
          <a:xfrm>
            <a:off x="1" y="6400800"/>
            <a:ext cx="12192000" cy="457200"/>
          </a:xfrm>
          <a:prstGeom prst="rect">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sp>
      <p:sp>
        <p:nvSpPr>
          <p:cNvPr id="9" name="Rectangle 8"/>
          <p:cNvSpPr/>
          <p:nvPr/>
        </p:nvSpPr>
        <p:spPr>
          <a:xfrm>
            <a:off x="15" y="6334316"/>
            <a:ext cx="12191985" cy="66484"/>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sp>
      <p:sp>
        <p:nvSpPr>
          <p:cNvPr id="2" name="Title Placeholder 1"/>
          <p:cNvSpPr>
            <a:spLocks noGrp="1"/>
          </p:cNvSpPr>
          <p:nvPr>
            <p:ph type="title"/>
          </p:nvPr>
        </p:nvSpPr>
        <p:spPr>
          <a:xfrm>
            <a:off x="1097280" y="286603"/>
            <a:ext cx="10058400" cy="1450757"/>
          </a:xfrm>
          <a:prstGeom prst="rect">
            <a:avLst/>
          </a:prstGeom>
        </p:spPr>
        <p:txBody>
          <a:bodyPr vert="horz" lIns="91440" tIns="45720" rIns="91440" bIns="45720" rtlCol="0" anchor="b">
            <a:normAutofit/>
          </a:bodyPr>
          <a:lstStyle/>
          <a:p>
            <a:r>
              <a:rPr lang="en-US"/>
              <a:t>Click to edit Master title style</a:t>
            </a:r>
            <a:endParaRPr lang="en-US" dirty="0"/>
          </a:p>
        </p:txBody>
      </p:sp>
      <p:sp>
        <p:nvSpPr>
          <p:cNvPr id="3" name="Text Placeholder 2"/>
          <p:cNvSpPr>
            <a:spLocks noGrp="1"/>
          </p:cNvSpPr>
          <p:nvPr>
            <p:ph type="body" idx="1"/>
          </p:nvPr>
        </p:nvSpPr>
        <p:spPr>
          <a:xfrm>
            <a:off x="1097280" y="1845734"/>
            <a:ext cx="10058400" cy="4023360"/>
          </a:xfrm>
          <a:prstGeom prst="rect">
            <a:avLst/>
          </a:prstGeom>
        </p:spPr>
        <p:txBody>
          <a:bodyPr vert="horz" lIns="0" tIns="45720" rIns="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2"/>
          </p:nvPr>
        </p:nvSpPr>
        <p:spPr>
          <a:xfrm>
            <a:off x="1097280" y="6459785"/>
            <a:ext cx="2472271" cy="365125"/>
          </a:xfrm>
          <a:prstGeom prst="rect">
            <a:avLst/>
          </a:prstGeom>
        </p:spPr>
        <p:txBody>
          <a:bodyPr vert="horz" lIns="91440" tIns="45720" rIns="91440" bIns="45720" rtlCol="0" anchor="ctr"/>
          <a:lstStyle>
            <a:lvl1pPr algn="l">
              <a:defRPr sz="900">
                <a:solidFill>
                  <a:srgbClr val="FFFFFF"/>
                </a:solidFill>
              </a:defRPr>
            </a:lvl1pPr>
          </a:lstStyle>
          <a:p>
            <a:fld id="{265F74D5-7FE4-42A5-977E-127C393055C8}" type="datetime1">
              <a:rPr lang="en-US" smtClean="0"/>
              <a:t>6/2/2026</a:t>
            </a:fld>
            <a:endParaRPr lang="en-US"/>
          </a:p>
        </p:txBody>
      </p:sp>
      <p:sp>
        <p:nvSpPr>
          <p:cNvPr id="5" name="Footer Placeholder 4"/>
          <p:cNvSpPr>
            <a:spLocks noGrp="1"/>
          </p:cNvSpPr>
          <p:nvPr>
            <p:ph type="ftr" sz="quarter" idx="3"/>
          </p:nvPr>
        </p:nvSpPr>
        <p:spPr>
          <a:xfrm>
            <a:off x="3686185" y="6459785"/>
            <a:ext cx="4822804" cy="365125"/>
          </a:xfrm>
          <a:prstGeom prst="rect">
            <a:avLst/>
          </a:prstGeom>
        </p:spPr>
        <p:txBody>
          <a:bodyPr vert="horz" lIns="91440" tIns="45720" rIns="91440" bIns="45720" rtlCol="0" anchor="ctr"/>
          <a:lstStyle>
            <a:lvl1pPr algn="ctr">
              <a:defRPr sz="900" cap="all" baseline="0">
                <a:solidFill>
                  <a:srgbClr val="FFFFFF"/>
                </a:solidFill>
              </a:defRPr>
            </a:lvl1pPr>
          </a:lstStyle>
          <a:p>
            <a:endParaRPr lang="en-US"/>
          </a:p>
        </p:txBody>
      </p:sp>
      <p:sp>
        <p:nvSpPr>
          <p:cNvPr id="6" name="Slide Number Placeholder 5"/>
          <p:cNvSpPr>
            <a:spLocks noGrp="1"/>
          </p:cNvSpPr>
          <p:nvPr>
            <p:ph type="sldNum" sz="quarter" idx="4"/>
          </p:nvPr>
        </p:nvSpPr>
        <p:spPr>
          <a:xfrm>
            <a:off x="9900458" y="6459785"/>
            <a:ext cx="1312025" cy="365125"/>
          </a:xfrm>
          <a:prstGeom prst="rect">
            <a:avLst/>
          </a:prstGeom>
        </p:spPr>
        <p:txBody>
          <a:bodyPr vert="horz" lIns="91440" tIns="45720" rIns="91440" bIns="45720" rtlCol="0" anchor="ctr"/>
          <a:lstStyle>
            <a:lvl1pPr algn="r">
              <a:defRPr sz="1050">
                <a:solidFill>
                  <a:srgbClr val="FFFFFF"/>
                </a:solidFill>
              </a:defRPr>
            </a:lvl1pPr>
          </a:lstStyle>
          <a:p>
            <a:fld id="{DC4CAFB8-3EF6-4FAF-BDFA-EA2F8D8834E4}" type="slidenum">
              <a:rPr lang="en-US" smtClean="0"/>
              <a:t>‹#›</a:t>
            </a:fld>
            <a:endParaRPr lang="en-US"/>
          </a:p>
        </p:txBody>
      </p:sp>
      <p:cxnSp>
        <p:nvCxnSpPr>
          <p:cNvPr id="10" name="Straight Connector 9"/>
          <p:cNvCxnSpPr/>
          <p:nvPr/>
        </p:nvCxnSpPr>
        <p:spPr>
          <a:xfrm>
            <a:off x="1193532" y="1737845"/>
            <a:ext cx="9966960" cy="0"/>
          </a:xfrm>
          <a:prstGeom prst="line">
            <a:avLst/>
          </a:prstGeom>
          <a:ln w="6350">
            <a:solidFill>
              <a:schemeClr val="tx1">
                <a:lumMod val="50000"/>
                <a:lumOff val="50000"/>
              </a:schemeClr>
            </a:solidFill>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1530513047"/>
      </p:ext>
    </p:extLst>
  </p:cSld>
  <p:clrMap bg1="lt1" tx1="dk1" bg2="lt2" tx2="dk2" accent1="accent1" accent2="accent2" accent3="accent3" accent4="accent4" accent5="accent5" accent6="accent6" hlink="hlink" folHlink="folHlink"/>
  <p:sldLayoutIdLst>
    <p:sldLayoutId id="2147483697" r:id="rId1"/>
    <p:sldLayoutId id="2147483698" r:id="rId2"/>
    <p:sldLayoutId id="2147483699" r:id="rId3"/>
    <p:sldLayoutId id="2147483700" r:id="rId4"/>
    <p:sldLayoutId id="2147483701" r:id="rId5"/>
    <p:sldLayoutId id="2147483702" r:id="rId6"/>
    <p:sldLayoutId id="2147483703" r:id="rId7"/>
    <p:sldLayoutId id="2147483704" r:id="rId8"/>
    <p:sldLayoutId id="2147483705" r:id="rId9"/>
    <p:sldLayoutId id="2147483706" r:id="rId10"/>
    <p:sldLayoutId id="2147483707" r:id="rId11"/>
  </p:sldLayoutIdLst>
  <p:hf hdr="0" ftr="0" dt="0"/>
  <p:txStyles>
    <p:titleStyle>
      <a:lvl1pPr algn="l" defTabSz="914400" rtl="0" eaLnBrk="1" latinLnBrk="0" hangingPunct="1">
        <a:lnSpc>
          <a:spcPct val="85000"/>
        </a:lnSpc>
        <a:spcBef>
          <a:spcPct val="0"/>
        </a:spcBef>
        <a:buNone/>
        <a:defRPr sz="4800" kern="1200" spc="-50" baseline="0">
          <a:solidFill>
            <a:schemeClr val="tx1">
              <a:lumMod val="75000"/>
              <a:lumOff val="25000"/>
            </a:schemeClr>
          </a:solidFill>
          <a:latin typeface="+mj-lt"/>
          <a:ea typeface="+mj-ea"/>
          <a:cs typeface="+mj-cs"/>
        </a:defRPr>
      </a:lvl1pPr>
    </p:titleStyle>
    <p:bodyStyle>
      <a:lvl1pPr marL="91440" indent="-91440" algn="l" defTabSz="914400" rtl="0" eaLnBrk="1" latinLnBrk="0" hangingPunct="1">
        <a:lnSpc>
          <a:spcPct val="90000"/>
        </a:lnSpc>
        <a:spcBef>
          <a:spcPts val="1200"/>
        </a:spcBef>
        <a:spcAft>
          <a:spcPts val="200"/>
        </a:spcAft>
        <a:buClr>
          <a:schemeClr val="accent1"/>
        </a:buClr>
        <a:buSzPct val="100000"/>
        <a:buFont typeface="Calibri" panose="020F0502020204030204" pitchFamily="34" charset="0"/>
        <a:buChar char=" "/>
        <a:defRPr sz="2000" kern="1200">
          <a:solidFill>
            <a:schemeClr val="tx1">
              <a:lumMod val="75000"/>
              <a:lumOff val="25000"/>
            </a:schemeClr>
          </a:solidFill>
          <a:latin typeface="+mn-lt"/>
          <a:ea typeface="+mn-ea"/>
          <a:cs typeface="+mn-cs"/>
        </a:defRPr>
      </a:lvl1pPr>
      <a:lvl2pPr marL="384048" indent="-182880" algn="l" defTabSz="914400" rtl="0" eaLnBrk="1" latinLnBrk="0" hangingPunct="1">
        <a:lnSpc>
          <a:spcPct val="90000"/>
        </a:lnSpc>
        <a:spcBef>
          <a:spcPts val="200"/>
        </a:spcBef>
        <a:spcAft>
          <a:spcPts val="400"/>
        </a:spcAft>
        <a:buClr>
          <a:schemeClr val="accent1"/>
        </a:buClr>
        <a:buFont typeface="Calibri" pitchFamily="34" charset="0"/>
        <a:buChar char="◦"/>
        <a:defRPr sz="1800" kern="1200">
          <a:solidFill>
            <a:schemeClr val="tx1">
              <a:lumMod val="75000"/>
              <a:lumOff val="25000"/>
            </a:schemeClr>
          </a:solidFill>
          <a:latin typeface="+mn-lt"/>
          <a:ea typeface="+mn-ea"/>
          <a:cs typeface="+mn-cs"/>
        </a:defRPr>
      </a:lvl2pPr>
      <a:lvl3pPr marL="566928" indent="-182880" algn="l" defTabSz="914400" rtl="0" eaLnBrk="1" latinLnBrk="0" hangingPunct="1">
        <a:lnSpc>
          <a:spcPct val="90000"/>
        </a:lnSpc>
        <a:spcBef>
          <a:spcPts val="200"/>
        </a:spcBef>
        <a:spcAft>
          <a:spcPts val="400"/>
        </a:spcAft>
        <a:buClr>
          <a:schemeClr val="accent1"/>
        </a:buClr>
        <a:buFont typeface="Calibri" pitchFamily="34" charset="0"/>
        <a:buChar char="◦"/>
        <a:defRPr sz="1400" kern="1200">
          <a:solidFill>
            <a:schemeClr val="tx1">
              <a:lumMod val="75000"/>
              <a:lumOff val="25000"/>
            </a:schemeClr>
          </a:solidFill>
          <a:latin typeface="+mn-lt"/>
          <a:ea typeface="+mn-ea"/>
          <a:cs typeface="+mn-cs"/>
        </a:defRPr>
      </a:lvl3pPr>
      <a:lvl4pPr marL="749808" indent="-182880" algn="l" defTabSz="914400" rtl="0" eaLnBrk="1" latinLnBrk="0" hangingPunct="1">
        <a:lnSpc>
          <a:spcPct val="90000"/>
        </a:lnSpc>
        <a:spcBef>
          <a:spcPts val="200"/>
        </a:spcBef>
        <a:spcAft>
          <a:spcPts val="400"/>
        </a:spcAft>
        <a:buClr>
          <a:schemeClr val="accent1"/>
        </a:buClr>
        <a:buFont typeface="Calibri" pitchFamily="34" charset="0"/>
        <a:buChar char="◦"/>
        <a:defRPr sz="1400" kern="1200">
          <a:solidFill>
            <a:schemeClr val="tx1">
              <a:lumMod val="75000"/>
              <a:lumOff val="25000"/>
            </a:schemeClr>
          </a:solidFill>
          <a:latin typeface="+mn-lt"/>
          <a:ea typeface="+mn-ea"/>
          <a:cs typeface="+mn-cs"/>
        </a:defRPr>
      </a:lvl4pPr>
      <a:lvl5pPr marL="932688" indent="-182880" algn="l" defTabSz="914400" rtl="0" eaLnBrk="1" latinLnBrk="0" hangingPunct="1">
        <a:lnSpc>
          <a:spcPct val="90000"/>
        </a:lnSpc>
        <a:spcBef>
          <a:spcPts val="200"/>
        </a:spcBef>
        <a:spcAft>
          <a:spcPts val="400"/>
        </a:spcAft>
        <a:buClr>
          <a:schemeClr val="accent1"/>
        </a:buClr>
        <a:buFont typeface="Calibri" pitchFamily="34" charset="0"/>
        <a:buChar char="◦"/>
        <a:defRPr sz="1400" kern="1200">
          <a:solidFill>
            <a:schemeClr val="tx1">
              <a:lumMod val="75000"/>
              <a:lumOff val="25000"/>
            </a:schemeClr>
          </a:solidFill>
          <a:latin typeface="+mn-lt"/>
          <a:ea typeface="+mn-ea"/>
          <a:cs typeface="+mn-cs"/>
        </a:defRPr>
      </a:lvl5pPr>
      <a:lvl6pPr marL="1100000" indent="-228600" algn="l" defTabSz="914400" rtl="0" eaLnBrk="1" latinLnBrk="0" hangingPunct="1">
        <a:lnSpc>
          <a:spcPct val="90000"/>
        </a:lnSpc>
        <a:spcBef>
          <a:spcPts val="200"/>
        </a:spcBef>
        <a:spcAft>
          <a:spcPts val="400"/>
        </a:spcAft>
        <a:buClr>
          <a:schemeClr val="accent1"/>
        </a:buClr>
        <a:buFont typeface="Calibri" pitchFamily="34" charset="0"/>
        <a:buChar char="◦"/>
        <a:defRPr sz="1400" kern="1200">
          <a:solidFill>
            <a:schemeClr val="tx1">
              <a:lumMod val="75000"/>
              <a:lumOff val="25000"/>
            </a:schemeClr>
          </a:solidFill>
          <a:latin typeface="+mn-lt"/>
          <a:ea typeface="+mn-ea"/>
          <a:cs typeface="+mn-cs"/>
        </a:defRPr>
      </a:lvl6pPr>
      <a:lvl7pPr marL="1300000" indent="-228600" algn="l" defTabSz="914400" rtl="0" eaLnBrk="1" latinLnBrk="0" hangingPunct="1">
        <a:lnSpc>
          <a:spcPct val="90000"/>
        </a:lnSpc>
        <a:spcBef>
          <a:spcPts val="200"/>
        </a:spcBef>
        <a:spcAft>
          <a:spcPts val="400"/>
        </a:spcAft>
        <a:buClr>
          <a:schemeClr val="accent1"/>
        </a:buClr>
        <a:buFont typeface="Calibri" pitchFamily="34" charset="0"/>
        <a:buChar char="◦"/>
        <a:defRPr sz="1400" kern="1200">
          <a:solidFill>
            <a:schemeClr val="tx1">
              <a:lumMod val="75000"/>
              <a:lumOff val="25000"/>
            </a:schemeClr>
          </a:solidFill>
          <a:latin typeface="+mn-lt"/>
          <a:ea typeface="+mn-ea"/>
          <a:cs typeface="+mn-cs"/>
        </a:defRPr>
      </a:lvl7pPr>
      <a:lvl8pPr marL="1500000" indent="-228600" algn="l" defTabSz="914400" rtl="0" eaLnBrk="1" latinLnBrk="0" hangingPunct="1">
        <a:lnSpc>
          <a:spcPct val="90000"/>
        </a:lnSpc>
        <a:spcBef>
          <a:spcPts val="200"/>
        </a:spcBef>
        <a:spcAft>
          <a:spcPts val="400"/>
        </a:spcAft>
        <a:buClr>
          <a:schemeClr val="accent1"/>
        </a:buClr>
        <a:buFont typeface="Calibri" pitchFamily="34" charset="0"/>
        <a:buChar char="◦"/>
        <a:defRPr sz="1400" kern="1200">
          <a:solidFill>
            <a:schemeClr val="tx1">
              <a:lumMod val="75000"/>
              <a:lumOff val="25000"/>
            </a:schemeClr>
          </a:solidFill>
          <a:latin typeface="+mn-lt"/>
          <a:ea typeface="+mn-ea"/>
          <a:cs typeface="+mn-cs"/>
        </a:defRPr>
      </a:lvl8pPr>
      <a:lvl9pPr marL="1700000" indent="-228600" algn="l" defTabSz="914400" rtl="0" eaLnBrk="1" latinLnBrk="0" hangingPunct="1">
        <a:lnSpc>
          <a:spcPct val="90000"/>
        </a:lnSpc>
        <a:spcBef>
          <a:spcPts val="200"/>
        </a:spcBef>
        <a:spcAft>
          <a:spcPts val="400"/>
        </a:spcAft>
        <a:buClr>
          <a:schemeClr val="accent1"/>
        </a:buClr>
        <a:buFont typeface="Calibri" pitchFamily="34" charset="0"/>
        <a:buChar char="◦"/>
        <a:defRPr sz="1400" kern="1200">
          <a:solidFill>
            <a:schemeClr val="tx1">
              <a:lumMod val="75000"/>
              <a:lumOff val="25000"/>
            </a:schemeClr>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3" Type="http://schemas.openxmlformats.org/officeDocument/2006/relationships/image" Target="../media/image2.svg"/><Relationship Id="rId2" Type="http://schemas.openxmlformats.org/officeDocument/2006/relationships/image" Target="../media/image1.png"/><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notesSlide" Target="../notesSlides/notesSlide1.xml"/><Relationship Id="rId1" Type="http://schemas.openxmlformats.org/officeDocument/2006/relationships/slideLayout" Target="../slideLayouts/slideLayout2.xml"/><Relationship Id="rId4" Type="http://schemas.openxmlformats.org/officeDocument/2006/relationships/image" Target="../media/image4.png"/></Relationships>
</file>

<file path=ppt/slides/_rels/slide4.xml.rels><?xml version="1.0" encoding="UTF-8" standalone="yes"?>
<Relationships xmlns="http://schemas.openxmlformats.org/package/2006/relationships"><Relationship Id="rId2" Type="http://schemas.openxmlformats.org/officeDocument/2006/relationships/notesSlide" Target="../notesSlides/notesSlide2.xml"/><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8.xml.rels><?xml version="1.0" encoding="UTF-8" standalone="yes"?>
<Relationships xmlns="http://schemas.openxmlformats.org/package/2006/relationships"><Relationship Id="rId2" Type="http://schemas.openxmlformats.org/officeDocument/2006/relationships/image" Target="../media/image5.png"/><Relationship Id="rId1" Type="http://schemas.openxmlformats.org/officeDocument/2006/relationships/slideLayout" Target="../slideLayouts/slideLayout4.xml"/></Relationships>
</file>

<file path=ppt/slides/_rels/slide9.xml.rels><?xml version="1.0" encoding="UTF-8" standalone="yes"?>
<Relationships xmlns="http://schemas.openxmlformats.org/package/2006/relationships"><Relationship Id="rId2" Type="http://schemas.openxmlformats.org/officeDocument/2006/relationships/image" Target="../media/image6.png"/><Relationship Id="rId1" Type="http://schemas.openxmlformats.org/officeDocument/2006/relationships/slideLayout" Target="../slideLayouts/slideLayout7.xml"/></Relationships>
</file>

<file path=ppt/slides/_rels/slide10.xml.rels><?xml version="1.0" encoding="UTF-8" standalone="yes"?>
<Relationships xmlns="http://schemas.openxmlformats.org/package/2006/relationships"><Relationship Id="rId3" Type="http://schemas.openxmlformats.org/officeDocument/2006/relationships/image" Target="../media/image7.png"/><Relationship Id="rId2" Type="http://schemas.openxmlformats.org/officeDocument/2006/relationships/notesSlide" Target="../notesSlides/notesSlide3.xml"/><Relationship Id="rId1" Type="http://schemas.openxmlformats.org/officeDocument/2006/relationships/slideLayout" Target="../slideLayouts/slideLayout2.xml"/><Relationship Id="rId4" Type="http://schemas.openxmlformats.org/officeDocument/2006/relationships/image" Target="../media/image8.png"/></Relationships>
</file>

<file path=ppt/slides/_rels/slide11.xml.rels><?xml version="1.0" encoding="UTF-8" standalone="yes"?>
<Relationships xmlns="http://schemas.openxmlformats.org/package/2006/relationships"><Relationship Id="rId8" Type="http://schemas.openxmlformats.org/officeDocument/2006/relationships/image" Target="../media/image14.png"/><Relationship Id="rId3" Type="http://schemas.openxmlformats.org/officeDocument/2006/relationships/image" Target="../media/image9.png"/><Relationship Id="rId7" Type="http://schemas.openxmlformats.org/officeDocument/2006/relationships/image" Target="../media/image13.png"/><Relationship Id="rId2" Type="http://schemas.openxmlformats.org/officeDocument/2006/relationships/notesSlide" Target="../notesSlides/notesSlide4.xml"/><Relationship Id="rId1" Type="http://schemas.openxmlformats.org/officeDocument/2006/relationships/slideLayout" Target="../slideLayouts/slideLayout2.xml"/><Relationship Id="rId6" Type="http://schemas.openxmlformats.org/officeDocument/2006/relationships/image" Target="../media/image12.png"/><Relationship Id="rId5" Type="http://schemas.openxmlformats.org/officeDocument/2006/relationships/image" Target="../media/image11.png"/><Relationship Id="rId4" Type="http://schemas.openxmlformats.org/officeDocument/2006/relationships/image" Target="../media/image10.png"/><Relationship Id="rId9" Type="http://schemas.openxmlformats.org/officeDocument/2006/relationships/image" Target="../media/image15.png"/></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13.xml.rels><?xml version="1.0" encoding="UTF-8" standalone="yes"?>
<Relationships xmlns="http://schemas.openxmlformats.org/package/2006/relationships"><Relationship Id="rId3" Type="http://schemas.openxmlformats.org/officeDocument/2006/relationships/image" Target="../media/image16.png"/><Relationship Id="rId2" Type="http://schemas.openxmlformats.org/officeDocument/2006/relationships/notesSlide" Target="../notesSlides/notesSlide5.xml"/><Relationship Id="rId1" Type="http://schemas.openxmlformats.org/officeDocument/2006/relationships/slideLayout" Target="../slideLayouts/slideLayout2.xml"/><Relationship Id="rId6" Type="http://schemas.openxmlformats.org/officeDocument/2006/relationships/image" Target="../media/image19.png"/><Relationship Id="rId5" Type="http://schemas.openxmlformats.org/officeDocument/2006/relationships/image" Target="../media/image18.png"/><Relationship Id="rId4" Type="http://schemas.openxmlformats.org/officeDocument/2006/relationships/image" Target="../media/image17.png"/></Relationships>
</file>

<file path=ppt/slides/_rels/slide14.xml.rels><?xml version="1.0" encoding="UTF-8" standalone="yes"?>
<Relationships xmlns="http://schemas.openxmlformats.org/package/2006/relationships"><Relationship Id="rId3" Type="http://schemas.openxmlformats.org/officeDocument/2006/relationships/image" Target="../media/image20.png"/><Relationship Id="rId2" Type="http://schemas.openxmlformats.org/officeDocument/2006/relationships/notesSlide" Target="../notesSlides/notesSlide6.xml"/><Relationship Id="rId1" Type="http://schemas.openxmlformats.org/officeDocument/2006/relationships/slideLayout" Target="../slideLayouts/slideLayout2.xml"/><Relationship Id="rId6" Type="http://schemas.openxmlformats.org/officeDocument/2006/relationships/image" Target="../media/image23.png"/><Relationship Id="rId5" Type="http://schemas.openxmlformats.org/officeDocument/2006/relationships/image" Target="../media/image22.png"/><Relationship Id="rId4" Type="http://schemas.openxmlformats.org/officeDocument/2006/relationships/image" Target="../media/image21.png"/></Relationships>
</file>

<file path=ppt/slides/_rels/slide15.xml.rels><?xml version="1.0" encoding="UTF-8" standalone="yes"?>
<Relationships xmlns="http://schemas.openxmlformats.org/package/2006/relationships"><Relationship Id="rId3" Type="http://schemas.openxmlformats.org/officeDocument/2006/relationships/image" Target="../media/image24.png"/><Relationship Id="rId2" Type="http://schemas.openxmlformats.org/officeDocument/2006/relationships/notesSlide" Target="../notesSlides/notesSlide7.xml"/><Relationship Id="rId1" Type="http://schemas.openxmlformats.org/officeDocument/2006/relationships/slideLayout" Target="../slideLayouts/slideLayout2.xml"/><Relationship Id="rId4" Type="http://schemas.openxmlformats.org/officeDocument/2006/relationships/image" Target="../media/image25.png"/></Relationships>
</file>

<file path=ppt/slides/_rels/slide16.xml.rels><?xml version="1.0" encoding="UTF-8" standalone="yes"?>
<Relationships xmlns="http://schemas.openxmlformats.org/package/2006/relationships"><Relationship Id="rId8" Type="http://schemas.openxmlformats.org/officeDocument/2006/relationships/image" Target="../media/image32.png"/><Relationship Id="rId3" Type="http://schemas.openxmlformats.org/officeDocument/2006/relationships/image" Target="../media/image27.png"/><Relationship Id="rId7" Type="http://schemas.openxmlformats.org/officeDocument/2006/relationships/image" Target="../media/image31.png"/><Relationship Id="rId2" Type="http://schemas.openxmlformats.org/officeDocument/2006/relationships/image" Target="../media/image26.png"/><Relationship Id="rId1" Type="http://schemas.openxmlformats.org/officeDocument/2006/relationships/slideLayout" Target="../slideLayouts/slideLayout2.xml"/><Relationship Id="rId6" Type="http://schemas.openxmlformats.org/officeDocument/2006/relationships/image" Target="../media/image30.png"/><Relationship Id="rId5" Type="http://schemas.openxmlformats.org/officeDocument/2006/relationships/image" Target="../media/image29.png"/><Relationship Id="rId10" Type="http://schemas.openxmlformats.org/officeDocument/2006/relationships/image" Target="../media/image34.png"/><Relationship Id="rId4" Type="http://schemas.openxmlformats.org/officeDocument/2006/relationships/image" Target="../media/image28.png"/><Relationship Id="rId9" Type="http://schemas.openxmlformats.org/officeDocument/2006/relationships/image" Target="../media/image33.png"/></Relationships>
</file>

<file path=ppt/slides/_rels/slide17.xml.rels><?xml version="1.0" encoding="UTF-8" standalone="yes"?>
<Relationships xmlns="http://schemas.openxmlformats.org/package/2006/relationships"><Relationship Id="rId3" Type="http://schemas.openxmlformats.org/officeDocument/2006/relationships/image" Target="../media/image36.png"/><Relationship Id="rId2" Type="http://schemas.openxmlformats.org/officeDocument/2006/relationships/image" Target="../media/image35.png"/><Relationship Id="rId1" Type="http://schemas.openxmlformats.org/officeDocument/2006/relationships/slideLayout" Target="../slideLayouts/slideLayout2.xml"/><Relationship Id="rId6" Type="http://schemas.openxmlformats.org/officeDocument/2006/relationships/image" Target="../media/image39.png"/><Relationship Id="rId5" Type="http://schemas.openxmlformats.org/officeDocument/2006/relationships/image" Target="../media/image38.png"/><Relationship Id="rId4" Type="http://schemas.openxmlformats.org/officeDocument/2006/relationships/image" Target="../media/image37.png"/></Relationships>
</file>

<file path=ppt/slides/_rels/slide18.xml.rels><?xml version="1.0" encoding="UTF-8" standalone="yes"?>
<Relationships xmlns="http://schemas.openxmlformats.org/package/2006/relationships"><Relationship Id="rId3" Type="http://schemas.openxmlformats.org/officeDocument/2006/relationships/image" Target="../media/image41.png"/><Relationship Id="rId7" Type="http://schemas.openxmlformats.org/officeDocument/2006/relationships/image" Target="../media/image45.png"/><Relationship Id="rId2" Type="http://schemas.openxmlformats.org/officeDocument/2006/relationships/image" Target="../media/image40.png"/><Relationship Id="rId1" Type="http://schemas.openxmlformats.org/officeDocument/2006/relationships/slideLayout" Target="../slideLayouts/slideLayout2.xml"/><Relationship Id="rId6" Type="http://schemas.openxmlformats.org/officeDocument/2006/relationships/image" Target="../media/image44.png"/><Relationship Id="rId5" Type="http://schemas.openxmlformats.org/officeDocument/2006/relationships/image" Target="../media/image43.png"/><Relationship Id="rId4" Type="http://schemas.openxmlformats.org/officeDocument/2006/relationships/image" Target="../media/image42.png"/></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20.xml.rels><?xml version="1.0" encoding="UTF-8" standalone="yes"?>
<Relationships xmlns="http://schemas.openxmlformats.org/package/2006/relationships"><Relationship Id="rId3" Type="http://schemas.openxmlformats.org/officeDocument/2006/relationships/image" Target="../media/image47.png"/><Relationship Id="rId2" Type="http://schemas.openxmlformats.org/officeDocument/2006/relationships/image" Target="../media/image46.png"/><Relationship Id="rId1" Type="http://schemas.openxmlformats.org/officeDocument/2006/relationships/slideLayout" Target="../slideLayouts/slideLayout2.xml"/><Relationship Id="rId4" Type="http://schemas.openxmlformats.org/officeDocument/2006/relationships/image" Target="../media/image48.png"/></Relationships>
</file>

<file path=ppt/slides/_rels/slide21.xml.rels><?xml version="1.0" encoding="UTF-8" standalone="yes"?>
<Relationships xmlns="http://schemas.openxmlformats.org/package/2006/relationships"><Relationship Id="rId3" Type="http://schemas.openxmlformats.org/officeDocument/2006/relationships/image" Target="../media/image50.png"/><Relationship Id="rId2" Type="http://schemas.openxmlformats.org/officeDocument/2006/relationships/image" Target="../media/image49.png"/><Relationship Id="rId1" Type="http://schemas.openxmlformats.org/officeDocument/2006/relationships/slideLayout" Target="../slideLayouts/slideLayout2.xml"/><Relationship Id="rId5" Type="http://schemas.openxmlformats.org/officeDocument/2006/relationships/image" Target="../media/image52.png"/><Relationship Id="rId4" Type="http://schemas.openxmlformats.org/officeDocument/2006/relationships/image" Target="../media/image51.png"/></Relationships>
</file>

<file path=ppt/slides/_rels/slide22.xml.rels><?xml version="1.0" encoding="UTF-8" standalone="yes"?>
<Relationships xmlns="http://schemas.openxmlformats.org/package/2006/relationships"><Relationship Id="rId3" Type="http://schemas.openxmlformats.org/officeDocument/2006/relationships/image" Target="../media/image54.png"/><Relationship Id="rId2" Type="http://schemas.openxmlformats.org/officeDocument/2006/relationships/image" Target="../media/image53.png"/><Relationship Id="rId1" Type="http://schemas.openxmlformats.org/officeDocument/2006/relationships/slideLayout" Target="../slideLayouts/slideLayout2.xml"/><Relationship Id="rId5" Type="http://schemas.openxmlformats.org/officeDocument/2006/relationships/image" Target="../media/image56.png"/><Relationship Id="rId4" Type="http://schemas.openxmlformats.org/officeDocument/2006/relationships/image" Target="../media/image55.png"/></Relationships>
</file>

<file path=ppt/slides/_rels/slide23.xml.rels><?xml version="1.0" encoding="UTF-8" standalone="yes"?>
<Relationships xmlns="http://schemas.openxmlformats.org/package/2006/relationships"><Relationship Id="rId2" Type="http://schemas.openxmlformats.org/officeDocument/2006/relationships/image" Target="../media/image57.png"/><Relationship Id="rId1" Type="http://schemas.openxmlformats.org/officeDocument/2006/relationships/slideLayout" Target="../slideLayouts/slideLayout2.xml"/></Relationships>
</file>

<file path=ppt/slides/_rels/slide24.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25.xml.rels><?xml version="1.0" encoding="UTF-8" standalone="yes"?>
<Relationships xmlns="http://schemas.openxmlformats.org/package/2006/relationships"><Relationship Id="rId3" Type="http://schemas.openxmlformats.org/officeDocument/2006/relationships/image" Target="../media/image59.png"/><Relationship Id="rId2" Type="http://schemas.openxmlformats.org/officeDocument/2006/relationships/image" Target="../media/image58.png"/><Relationship Id="rId1" Type="http://schemas.openxmlformats.org/officeDocument/2006/relationships/slideLayout" Target="../slideLayouts/slideLayout2.xml"/><Relationship Id="rId4" Type="http://schemas.openxmlformats.org/officeDocument/2006/relationships/image" Target="../media/image60.png"/></Relationships>
</file>

<file path=ppt/slides/_rels/slide26.xml.rels><?xml version="1.0" encoding="UTF-8" standalone="yes"?>
<Relationships xmlns="http://schemas.openxmlformats.org/package/2006/relationships"><Relationship Id="rId3" Type="http://schemas.openxmlformats.org/officeDocument/2006/relationships/image" Target="../media/image62.png"/><Relationship Id="rId2" Type="http://schemas.openxmlformats.org/officeDocument/2006/relationships/image" Target="../media/image61.png"/><Relationship Id="rId1" Type="http://schemas.openxmlformats.org/officeDocument/2006/relationships/slideLayout" Target="../slideLayouts/slideLayout2.xml"/><Relationship Id="rId5" Type="http://schemas.openxmlformats.org/officeDocument/2006/relationships/image" Target="../media/image64.png"/><Relationship Id="rId4" Type="http://schemas.openxmlformats.org/officeDocument/2006/relationships/image" Target="../media/image63.png"/></Relationships>
</file>

<file path=ppt/slides/_rels/slide27.xml.rels><?xml version="1.0" encoding="UTF-8" standalone="yes"?>
<Relationships xmlns="http://schemas.openxmlformats.org/package/2006/relationships"><Relationship Id="rId3" Type="http://schemas.openxmlformats.org/officeDocument/2006/relationships/image" Target="../media/image66.png"/><Relationship Id="rId2" Type="http://schemas.openxmlformats.org/officeDocument/2006/relationships/image" Target="../media/image65.png"/><Relationship Id="rId1" Type="http://schemas.openxmlformats.org/officeDocument/2006/relationships/slideLayout" Target="../slideLayouts/slideLayout2.xml"/><Relationship Id="rId4" Type="http://schemas.openxmlformats.org/officeDocument/2006/relationships/image" Target="../media/image67.png"/></Relationships>
</file>

<file path=ppt/slides/_rels/slide28.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29.xml.rels><?xml version="1.0" encoding="UTF-8" standalone="yes"?>
<Relationships xmlns="http://schemas.openxmlformats.org/package/2006/relationships"><Relationship Id="rId2" Type="http://schemas.openxmlformats.org/officeDocument/2006/relationships/image" Target="../media/image68.png"/><Relationship Id="rId1" Type="http://schemas.openxmlformats.org/officeDocument/2006/relationships/slideLayout" Target="../slideLayouts/slideLayout2.xml"/></Relationships>
</file>

<file path=ppt/slides/_rels/slide30.xml.rels><?xml version="1.0" encoding="UTF-8" standalone="yes"?>
<Relationships xmlns="http://schemas.openxmlformats.org/package/2006/relationships"><Relationship Id="rId3" Type="http://schemas.openxmlformats.org/officeDocument/2006/relationships/image" Target="../media/image68.png"/><Relationship Id="rId2" Type="http://schemas.openxmlformats.org/officeDocument/2006/relationships/image" Target="../media/image69.png"/><Relationship Id="rId1" Type="http://schemas.openxmlformats.org/officeDocument/2006/relationships/slideLayout" Target="../slideLayouts/slideLayout2.xml"/><Relationship Id="rId4" Type="http://schemas.openxmlformats.org/officeDocument/2006/relationships/image" Target="../media/image70.png"/></Relationships>
</file>

<file path=ppt/slides/_rels/slide31.xml.rels><?xml version="1.0" encoding="UTF-8" standalone="yes"?>
<Relationships xmlns="http://schemas.openxmlformats.org/package/2006/relationships"><Relationship Id="rId2" Type="http://schemas.openxmlformats.org/officeDocument/2006/relationships/image" Target="../media/image71.png"/><Relationship Id="rId1" Type="http://schemas.openxmlformats.org/officeDocument/2006/relationships/slideLayout" Target="../slideLayouts/slideLayout2.xml"/></Relationships>
</file>

<file path=ppt/slides/_rels/slide32.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3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4.xml.rels><?xml version="1.0" encoding="UTF-8" standalone="yes"?>
<Relationships xmlns="http://schemas.openxmlformats.org/package/2006/relationships"><Relationship Id="rId2" Type="http://schemas.openxmlformats.org/officeDocument/2006/relationships/image" Target="../media/image72.png"/><Relationship Id="rId1" Type="http://schemas.openxmlformats.org/officeDocument/2006/relationships/slideLayout" Target="../slideLayouts/slideLayout7.xml"/></Relationships>
</file>

<file path=ppt/slides/_rels/slide35.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36.xml.rels><?xml version="1.0" encoding="UTF-8" standalone="yes"?>
<Relationships xmlns="http://schemas.openxmlformats.org/package/2006/relationships"><Relationship Id="rId2" Type="http://schemas.openxmlformats.org/officeDocument/2006/relationships/image" Target="../media/image73.png"/><Relationship Id="rId1" Type="http://schemas.openxmlformats.org/officeDocument/2006/relationships/slideLayout" Target="../slideLayouts/slideLayout2.xml"/></Relationships>
</file>

<file path=ppt/slides/_rels/slide37.xml.rels><?xml version="1.0" encoding="UTF-8" standalone="yes"?>
<Relationships xmlns="http://schemas.openxmlformats.org/package/2006/relationships"><Relationship Id="rId3" Type="http://schemas.openxmlformats.org/officeDocument/2006/relationships/image" Target="../media/image75.png"/><Relationship Id="rId2" Type="http://schemas.openxmlformats.org/officeDocument/2006/relationships/image" Target="../media/image74.png"/><Relationship Id="rId1" Type="http://schemas.openxmlformats.org/officeDocument/2006/relationships/slideLayout" Target="../slideLayouts/slideLayout2.xml"/></Relationships>
</file>

<file path=ppt/slides/_rels/slide38.xml.rels><?xml version="1.0" encoding="UTF-8" standalone="yes"?>
<Relationships xmlns="http://schemas.openxmlformats.org/package/2006/relationships"><Relationship Id="rId2" Type="http://schemas.openxmlformats.org/officeDocument/2006/relationships/image" Target="../media/image76.png"/><Relationship Id="rId1" Type="http://schemas.openxmlformats.org/officeDocument/2006/relationships/slideLayout" Target="../slideLayouts/slideLayout2.xml"/></Relationships>
</file>

<file path=ppt/slides/_rels/slide39.xml.rels><?xml version="1.0" encoding="UTF-8" standalone="yes"?>
<Relationships xmlns="http://schemas.openxmlformats.org/package/2006/relationships"><Relationship Id="rId2" Type="http://schemas.openxmlformats.org/officeDocument/2006/relationships/image" Target="../media/image77.png"/><Relationship Id="rId1" Type="http://schemas.openxmlformats.org/officeDocument/2006/relationships/slideLayout" Target="../slideLayouts/slideLayout2.xml"/></Relationships>
</file>

<file path=ppt/slides/_rels/slide40.xml.rels><?xml version="1.0" encoding="UTF-8" standalone="yes"?>
<Relationships xmlns="http://schemas.openxmlformats.org/package/2006/relationships"><Relationship Id="rId3" Type="http://schemas.openxmlformats.org/officeDocument/2006/relationships/image" Target="../media/image78.png"/><Relationship Id="rId2" Type="http://schemas.openxmlformats.org/officeDocument/2006/relationships/image" Target="../media/image760.png"/><Relationship Id="rId1" Type="http://schemas.openxmlformats.org/officeDocument/2006/relationships/slideLayout" Target="../slideLayouts/slideLayout2.xml"/></Relationships>
</file>

<file path=ppt/slides/_rels/slide41.xml.rels><?xml version="1.0" encoding="UTF-8" standalone="yes"?>
<Relationships xmlns="http://schemas.openxmlformats.org/package/2006/relationships"><Relationship Id="rId2" Type="http://schemas.openxmlformats.org/officeDocument/2006/relationships/image" Target="../media/image79.png"/><Relationship Id="rId1" Type="http://schemas.openxmlformats.org/officeDocument/2006/relationships/slideLayout" Target="../slideLayouts/slideLayout2.xml"/></Relationships>
</file>

<file path=ppt/slides/_rels/slide42.xml.rels><?xml version="1.0" encoding="UTF-8" standalone="yes"?>
<Relationships xmlns="http://schemas.openxmlformats.org/package/2006/relationships"><Relationship Id="rId2" Type="http://schemas.openxmlformats.org/officeDocument/2006/relationships/image" Target="../media/image80.png"/><Relationship Id="rId1" Type="http://schemas.openxmlformats.org/officeDocument/2006/relationships/slideLayout" Target="../slideLayouts/slideLayout2.xml"/></Relationships>
</file>

<file path=ppt/slides/_rels/slide43.xml.rels><?xml version="1.0" encoding="UTF-8" standalone="yes"?>
<Relationships xmlns="http://schemas.openxmlformats.org/package/2006/relationships"><Relationship Id="rId3" Type="http://schemas.openxmlformats.org/officeDocument/2006/relationships/image" Target="../media/image82.png"/><Relationship Id="rId2" Type="http://schemas.openxmlformats.org/officeDocument/2006/relationships/image" Target="../media/image81.png"/><Relationship Id="rId1" Type="http://schemas.openxmlformats.org/officeDocument/2006/relationships/slideLayout" Target="../slideLayouts/slideLayout2.xml"/></Relationships>
</file>

<file path=ppt/slides/_rels/slide44.xml.rels><?xml version="1.0" encoding="UTF-8" standalone="yes"?>
<Relationships xmlns="http://schemas.openxmlformats.org/package/2006/relationships"><Relationship Id="rId2" Type="http://schemas.openxmlformats.org/officeDocument/2006/relationships/image" Target="../media/image83.png"/><Relationship Id="rId1" Type="http://schemas.openxmlformats.org/officeDocument/2006/relationships/slideLayout" Target="../slideLayouts/slideLayout2.xml"/></Relationships>
</file>

<file path=ppt/slides/_rels/slide45.xml.rels><?xml version="1.0" encoding="UTF-8" standalone="yes"?>
<Relationships xmlns="http://schemas.openxmlformats.org/package/2006/relationships"><Relationship Id="rId2" Type="http://schemas.openxmlformats.org/officeDocument/2006/relationships/image" Target="../media/image84.png"/><Relationship Id="rId1" Type="http://schemas.openxmlformats.org/officeDocument/2006/relationships/slideLayout" Target="../slideLayouts/slideLayout2.xml"/></Relationships>
</file>

<file path=ppt/slides/_rels/slide4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7.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908CD4BE-631A-4D53-BC52-5E7DA44A9BF6}"/>
              </a:ext>
            </a:extLst>
          </p:cNvPr>
          <p:cNvSpPr>
            <a:spLocks noGrp="1"/>
          </p:cNvSpPr>
          <p:nvPr>
            <p:ph type="ctrTitle"/>
          </p:nvPr>
        </p:nvSpPr>
        <p:spPr/>
        <p:txBody>
          <a:bodyPr>
            <a:normAutofit/>
          </a:bodyPr>
          <a:lstStyle/>
          <a:p>
            <a:pPr algn="ctr"/>
            <a:r>
              <a:rPr lang="en-US" sz="4000" b="0" i="0" dirty="0">
                <a:solidFill>
                  <a:srgbClr val="242021"/>
                </a:solidFill>
                <a:effectLst/>
                <a:latin typeface="Times-Roman"/>
              </a:rPr>
              <a:t>Performance Analysis of a Delay Constrained Data Offloading Scheme in an Integrated Cloud-Fog-Edge Computing System</a:t>
            </a:r>
            <a:endParaRPr lang="en-US" sz="4000" dirty="0"/>
          </a:p>
        </p:txBody>
      </p:sp>
      <p:sp>
        <p:nvSpPr>
          <p:cNvPr id="3" name="Subtitle 2">
            <a:extLst>
              <a:ext uri="{FF2B5EF4-FFF2-40B4-BE49-F238E27FC236}">
                <a16:creationId xmlns:a16="http://schemas.microsoft.com/office/drawing/2014/main" id="{75AEBEF2-7695-4313-8793-7679B7C5F6A2}"/>
              </a:ext>
            </a:extLst>
          </p:cNvPr>
          <p:cNvSpPr>
            <a:spLocks noGrp="1"/>
          </p:cNvSpPr>
          <p:nvPr>
            <p:ph type="subTitle" idx="1"/>
          </p:nvPr>
        </p:nvSpPr>
        <p:spPr/>
        <p:txBody>
          <a:bodyPr/>
          <a:lstStyle/>
          <a:p>
            <a:pPr algn="ctr"/>
            <a:r>
              <a:rPr lang="en-US" dirty="0"/>
              <a:t>Presented by Mohammad mahdi manafi</a:t>
            </a:r>
          </a:p>
          <a:p>
            <a:pPr algn="ctr"/>
            <a:r>
              <a:rPr lang="en-US" dirty="0"/>
              <a:t>Dr. </a:t>
            </a:r>
            <a:r>
              <a:rPr lang="en-US" dirty="0" err="1"/>
              <a:t>khorsandi</a:t>
            </a:r>
            <a:endParaRPr lang="en-US" dirty="0"/>
          </a:p>
        </p:txBody>
      </p:sp>
      <p:pic>
        <p:nvPicPr>
          <p:cNvPr id="6" name="Graphic 5">
            <a:extLst>
              <a:ext uri="{FF2B5EF4-FFF2-40B4-BE49-F238E27FC236}">
                <a16:creationId xmlns:a16="http://schemas.microsoft.com/office/drawing/2014/main" id="{1610D9F3-DDB6-4B5E-BA32-4C5A3869A91B}"/>
              </a:ext>
            </a:extLst>
          </p:cNvPr>
          <p:cNvPicPr>
            <a:picLocks noChangeAspect="1"/>
          </p:cNvPicPr>
          <p:nvPr/>
        </p:nvPicPr>
        <p:blipFill>
          <a:blip r:embed="rId2">
            <a:extLst>
              <a:ext uri="{28A0092B-C50C-407E-A947-70E740481C1C}">
                <a14:useLocalDpi xmlns:a14="http://schemas.microsoft.com/office/drawing/2010/main" val="0"/>
              </a:ext>
              <a:ext uri="{96DAC541-7B7A-43D3-8B79-37D633B846F1}">
                <asvg:svgBlip xmlns:asvg="http://schemas.microsoft.com/office/drawing/2016/SVG/main" r:embed="rId3"/>
              </a:ext>
            </a:extLst>
          </a:blip>
          <a:stretch>
            <a:fillRect/>
          </a:stretch>
        </p:blipFill>
        <p:spPr>
          <a:xfrm>
            <a:off x="320306" y="166162"/>
            <a:ext cx="1565644" cy="1897750"/>
          </a:xfrm>
          <a:prstGeom prst="rect">
            <a:avLst/>
          </a:prstGeom>
        </p:spPr>
      </p:pic>
    </p:spTree>
    <p:extLst>
      <p:ext uri="{BB962C8B-B14F-4D97-AF65-F5344CB8AC3E}">
        <p14:creationId xmlns:p14="http://schemas.microsoft.com/office/powerpoint/2010/main" val="1427472396"/>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C28276C2-4B3C-448B-B50C-0129093A59BA}"/>
              </a:ext>
            </a:extLst>
          </p:cNvPr>
          <p:cNvSpPr>
            <a:spLocks noGrp="1"/>
          </p:cNvSpPr>
          <p:nvPr>
            <p:ph type="title"/>
          </p:nvPr>
        </p:nvSpPr>
        <p:spPr/>
        <p:txBody>
          <a:bodyPr/>
          <a:lstStyle/>
          <a:p>
            <a:r>
              <a:rPr lang="en-US" dirty="0"/>
              <a:t>Outlines</a:t>
            </a:r>
          </a:p>
        </p:txBody>
      </p:sp>
      <p:sp>
        <p:nvSpPr>
          <p:cNvPr id="3" name="Content Placeholder 2">
            <a:extLst>
              <a:ext uri="{FF2B5EF4-FFF2-40B4-BE49-F238E27FC236}">
                <a16:creationId xmlns:a16="http://schemas.microsoft.com/office/drawing/2014/main" id="{D39C4A1A-67E6-4BB8-9D3A-51A0056F77F1}"/>
              </a:ext>
            </a:extLst>
          </p:cNvPr>
          <p:cNvSpPr>
            <a:spLocks noGrp="1"/>
          </p:cNvSpPr>
          <p:nvPr>
            <p:ph idx="1"/>
          </p:nvPr>
        </p:nvSpPr>
        <p:spPr>
          <a:xfrm>
            <a:off x="1097280" y="1845734"/>
            <a:ext cx="10058400" cy="4523168"/>
          </a:xfrm>
        </p:spPr>
        <p:txBody>
          <a:bodyPr>
            <a:normAutofit fontScale="92500" lnSpcReduction="20000"/>
          </a:bodyPr>
          <a:lstStyle/>
          <a:p>
            <a:pPr>
              <a:buFont typeface="Wingdings" panose="05000000000000000000" pitchFamily="2" charset="2"/>
              <a:buChar char="q"/>
            </a:pPr>
            <a:r>
              <a:rPr lang="en-US" dirty="0"/>
              <a:t>Prerequisites</a:t>
            </a:r>
          </a:p>
          <a:p>
            <a:pPr lvl="1">
              <a:buFont typeface="Wingdings" panose="05000000000000000000" pitchFamily="2" charset="2"/>
              <a:buChar char="q"/>
            </a:pPr>
            <a:r>
              <a:rPr lang="en-US" dirty="0"/>
              <a:t>Erlang’s Distribution</a:t>
            </a:r>
          </a:p>
          <a:p>
            <a:pPr>
              <a:buFont typeface="Wingdings" panose="05000000000000000000" pitchFamily="2" charset="2"/>
              <a:buChar char="q"/>
            </a:pPr>
            <a:r>
              <a:rPr lang="en-US" dirty="0"/>
              <a:t>Introduction</a:t>
            </a:r>
          </a:p>
          <a:p>
            <a:pPr lvl="1">
              <a:buFont typeface="Wingdings" panose="05000000000000000000" pitchFamily="2" charset="2"/>
              <a:buChar char="q"/>
            </a:pPr>
            <a:r>
              <a:rPr lang="en-US" dirty="0"/>
              <a:t>State the problems</a:t>
            </a:r>
          </a:p>
          <a:p>
            <a:pPr lvl="1">
              <a:buFont typeface="Wingdings" panose="05000000000000000000" pitchFamily="2" charset="2"/>
              <a:buChar char="q"/>
            </a:pPr>
            <a:r>
              <a:rPr lang="en-US" dirty="0"/>
              <a:t>State the motivation</a:t>
            </a:r>
          </a:p>
          <a:p>
            <a:pPr lvl="1">
              <a:buFont typeface="Wingdings" panose="05000000000000000000" pitchFamily="2" charset="2"/>
              <a:buChar char="q"/>
            </a:pPr>
            <a:r>
              <a:rPr lang="en-US" dirty="0"/>
              <a:t>State the solution approach </a:t>
            </a:r>
          </a:p>
          <a:p>
            <a:pPr>
              <a:buFont typeface="Wingdings" panose="05000000000000000000" pitchFamily="2" charset="2"/>
              <a:buChar char="q"/>
            </a:pPr>
            <a:r>
              <a:rPr lang="en-US" dirty="0"/>
              <a:t>Related works</a:t>
            </a:r>
          </a:p>
          <a:p>
            <a:pPr>
              <a:buFont typeface="Wingdings" panose="05000000000000000000" pitchFamily="2" charset="2"/>
              <a:buChar char="q"/>
            </a:pPr>
            <a:r>
              <a:rPr lang="en-US" dirty="0"/>
              <a:t>System models</a:t>
            </a:r>
          </a:p>
          <a:p>
            <a:pPr lvl="1">
              <a:buFont typeface="Wingdings" panose="05000000000000000000" pitchFamily="2" charset="2"/>
              <a:buChar char="q"/>
            </a:pPr>
            <a:r>
              <a:rPr lang="en-US" dirty="0"/>
              <a:t>Edge subsystem analysis</a:t>
            </a:r>
          </a:p>
          <a:p>
            <a:pPr lvl="1">
              <a:buFont typeface="Wingdings" panose="05000000000000000000" pitchFamily="2" charset="2"/>
              <a:buChar char="q"/>
            </a:pPr>
            <a:r>
              <a:rPr lang="en-US" dirty="0"/>
              <a:t>Fog subsystem analysis</a:t>
            </a:r>
          </a:p>
          <a:p>
            <a:pPr lvl="1">
              <a:buFont typeface="Wingdings" panose="05000000000000000000" pitchFamily="2" charset="2"/>
              <a:buChar char="q"/>
            </a:pPr>
            <a:r>
              <a:rPr lang="en-US" dirty="0"/>
              <a:t>Cloud subsystem analysis</a:t>
            </a:r>
          </a:p>
          <a:p>
            <a:pPr>
              <a:buFont typeface="Wingdings" panose="05000000000000000000" pitchFamily="2" charset="2"/>
              <a:buChar char="q"/>
            </a:pPr>
            <a:r>
              <a:rPr lang="en-US" dirty="0"/>
              <a:t>Problem formulation</a:t>
            </a:r>
          </a:p>
          <a:p>
            <a:pPr>
              <a:buFont typeface="Wingdings" panose="05000000000000000000" pitchFamily="2" charset="2"/>
              <a:buChar char="q"/>
            </a:pPr>
            <a:r>
              <a:rPr lang="en-US" dirty="0"/>
              <a:t>Proposed Heuristic</a:t>
            </a:r>
          </a:p>
          <a:p>
            <a:pPr>
              <a:buFont typeface="Wingdings" panose="05000000000000000000" pitchFamily="2" charset="2"/>
              <a:buChar char="q"/>
            </a:pPr>
            <a:r>
              <a:rPr lang="en-US" dirty="0"/>
              <a:t>Numerical results</a:t>
            </a:r>
          </a:p>
          <a:p>
            <a:pPr>
              <a:buFont typeface="Wingdings" panose="05000000000000000000" pitchFamily="2" charset="2"/>
              <a:buChar char="q"/>
            </a:pPr>
            <a:endParaRPr lang="en-US" dirty="0"/>
          </a:p>
          <a:p>
            <a:pPr>
              <a:buFont typeface="Wingdings" panose="05000000000000000000" pitchFamily="2" charset="2"/>
              <a:buChar char="q"/>
            </a:pPr>
            <a:endParaRPr lang="en-US" dirty="0"/>
          </a:p>
        </p:txBody>
      </p:sp>
      <p:sp>
        <p:nvSpPr>
          <p:cNvPr id="4" name="Slide Number Placeholder 3">
            <a:extLst>
              <a:ext uri="{FF2B5EF4-FFF2-40B4-BE49-F238E27FC236}">
                <a16:creationId xmlns:a16="http://schemas.microsoft.com/office/drawing/2014/main" id="{8C363C5E-DCE2-404D-B916-7FC5A2607A23}"/>
              </a:ext>
            </a:extLst>
          </p:cNvPr>
          <p:cNvSpPr>
            <a:spLocks noGrp="1"/>
          </p:cNvSpPr>
          <p:nvPr>
            <p:ph type="sldNum" sz="quarter" idx="12"/>
          </p:nvPr>
        </p:nvSpPr>
        <p:spPr/>
        <p:txBody>
          <a:bodyPr/>
          <a:lstStyle/>
          <a:p>
            <a:fld id="{DC4CAFB8-3EF6-4FAF-BDFA-EA2F8D8834E4}" type="slidenum">
              <a:rPr lang="en-US" sz="1400" smtClean="0"/>
              <a:t>2</a:t>
            </a:fld>
            <a:endParaRPr lang="en-US" sz="1400" dirty="0"/>
          </a:p>
        </p:txBody>
      </p:sp>
      <p:sp>
        <p:nvSpPr>
          <p:cNvPr id="5" name="TextBox 4">
            <a:extLst>
              <a:ext uri="{FF2B5EF4-FFF2-40B4-BE49-F238E27FC236}">
                <a16:creationId xmlns:a16="http://schemas.microsoft.com/office/drawing/2014/main" id="{4C101CFD-D696-4DA5-90E1-788177441836}"/>
              </a:ext>
            </a:extLst>
          </p:cNvPr>
          <p:cNvSpPr txBox="1"/>
          <p:nvPr/>
        </p:nvSpPr>
        <p:spPr>
          <a:xfrm>
            <a:off x="189571" y="6447755"/>
            <a:ext cx="3579542" cy="369332"/>
          </a:xfrm>
          <a:prstGeom prst="rect">
            <a:avLst/>
          </a:prstGeom>
          <a:noFill/>
        </p:spPr>
        <p:txBody>
          <a:bodyPr wrap="square" rtlCol="0">
            <a:spAutoFit/>
          </a:bodyPr>
          <a:lstStyle/>
          <a:p>
            <a:r>
              <a:rPr lang="en-US" dirty="0">
                <a:solidFill>
                  <a:schemeClr val="bg1"/>
                </a:solidFill>
              </a:rPr>
              <a:t>Mohammad Mahdi Manafi</a:t>
            </a:r>
          </a:p>
        </p:txBody>
      </p:sp>
    </p:spTree>
    <p:extLst>
      <p:ext uri="{BB962C8B-B14F-4D97-AF65-F5344CB8AC3E}">
        <p14:creationId xmlns:p14="http://schemas.microsoft.com/office/powerpoint/2010/main" val="778595857"/>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87C6622-62C3-4387-ACAF-52F03FCCB1A7}"/>
              </a:ext>
            </a:extLst>
          </p:cNvPr>
          <p:cNvSpPr>
            <a:spLocks noGrp="1"/>
          </p:cNvSpPr>
          <p:nvPr>
            <p:ph type="title"/>
          </p:nvPr>
        </p:nvSpPr>
        <p:spPr/>
        <p:txBody>
          <a:bodyPr/>
          <a:lstStyle/>
          <a:p>
            <a:r>
              <a:rPr lang="en-US" dirty="0"/>
              <a:t>Erlang’s Distribution</a:t>
            </a:r>
          </a:p>
        </p:txBody>
      </p:sp>
      <mc:AlternateContent xmlns:mc="http://schemas.openxmlformats.org/markup-compatibility/2006" xmlns:a14="http://schemas.microsoft.com/office/drawing/2010/main">
        <mc:Choice Requires="a14">
          <p:sp>
            <p:nvSpPr>
              <p:cNvPr id="3" name="Content Placeholder 2">
                <a:extLst>
                  <a:ext uri="{FF2B5EF4-FFF2-40B4-BE49-F238E27FC236}">
                    <a16:creationId xmlns:a16="http://schemas.microsoft.com/office/drawing/2014/main" id="{E5B3F4A2-01F3-44A0-903B-FA19BEDB086B}"/>
                  </a:ext>
                </a:extLst>
              </p:cNvPr>
              <p:cNvSpPr>
                <a:spLocks noGrp="1"/>
              </p:cNvSpPr>
              <p:nvPr>
                <p:ph idx="1"/>
              </p:nvPr>
            </p:nvSpPr>
            <p:spPr>
              <a:xfrm>
                <a:off x="1097280" y="1845734"/>
                <a:ext cx="6160770" cy="4023360"/>
              </a:xfrm>
            </p:spPr>
            <p:txBody>
              <a:bodyPr/>
              <a:lstStyle/>
              <a:p>
                <a:pPr>
                  <a:buFont typeface="Wingdings" panose="05000000000000000000" pitchFamily="2" charset="2"/>
                  <a:buChar char="q"/>
                </a:pPr>
                <a14:m>
                  <m:oMath xmlns:m="http://schemas.openxmlformats.org/officeDocument/2006/math">
                    <m:r>
                      <a:rPr lang="en-US" b="0" i="1" smtClean="0">
                        <a:latin typeface="Cambria Math" panose="02040503050406030204" pitchFamily="18" charset="0"/>
                      </a:rPr>
                      <m:t>𝑘</m:t>
                    </m:r>
                    <m:r>
                      <a:rPr lang="en-US" b="0" i="1" smtClean="0">
                        <a:latin typeface="Cambria Math" panose="02040503050406030204" pitchFamily="18" charset="0"/>
                      </a:rPr>
                      <m:t> ∈</m:t>
                    </m:r>
                    <m:d>
                      <m:dPr>
                        <m:begChr m:val="{"/>
                        <m:endChr m:val="}"/>
                        <m:ctrlPr>
                          <a:rPr lang="en-US" b="0" i="1" smtClean="0">
                            <a:latin typeface="Cambria Math" panose="02040503050406030204" pitchFamily="18" charset="0"/>
                            <a:ea typeface="Cambria Math" panose="02040503050406030204" pitchFamily="18" charset="0"/>
                          </a:rPr>
                        </m:ctrlPr>
                      </m:dPr>
                      <m:e>
                        <m:r>
                          <a:rPr lang="en-US" b="0" i="1" smtClean="0">
                            <a:latin typeface="Cambria Math" panose="02040503050406030204" pitchFamily="18" charset="0"/>
                            <a:ea typeface="Cambria Math" panose="02040503050406030204" pitchFamily="18" charset="0"/>
                          </a:rPr>
                          <m:t>1,2,3,…</m:t>
                        </m:r>
                      </m:e>
                    </m:d>
                  </m:oMath>
                </a14:m>
                <a:r>
                  <a:rPr lang="en-US" b="0" dirty="0">
                    <a:ea typeface="Cambria Math" panose="02040503050406030204" pitchFamily="18" charset="0"/>
                  </a:rPr>
                  <a:t> , </a:t>
                </a:r>
                <a14:m>
                  <m:oMath xmlns:m="http://schemas.openxmlformats.org/officeDocument/2006/math">
                    <m:sSub>
                      <m:sSubPr>
                        <m:ctrlPr>
                          <a:rPr lang="en-US" i="1" smtClean="0">
                            <a:latin typeface="Cambria Math" panose="02040503050406030204" pitchFamily="18" charset="0"/>
                            <a:ea typeface="Cambria Math" panose="02040503050406030204" pitchFamily="18" charset="0"/>
                          </a:rPr>
                        </m:ctrlPr>
                      </m:sSubPr>
                      <m:e>
                        <m:r>
                          <a:rPr lang="en-US" b="0" i="1" smtClean="0">
                            <a:latin typeface="Cambria Math" panose="02040503050406030204" pitchFamily="18" charset="0"/>
                            <a:ea typeface="Cambria Math" panose="02040503050406030204" pitchFamily="18" charset="0"/>
                          </a:rPr>
                          <m:t>𝑋</m:t>
                        </m:r>
                      </m:e>
                      <m:sub>
                        <m:r>
                          <a:rPr lang="en-US" b="0" i="1" smtClean="0">
                            <a:latin typeface="Cambria Math" panose="02040503050406030204" pitchFamily="18" charset="0"/>
                            <a:ea typeface="Cambria Math" panose="02040503050406030204" pitchFamily="18" charset="0"/>
                          </a:rPr>
                          <m:t>𝑘</m:t>
                        </m:r>
                      </m:sub>
                    </m:sSub>
                    <m:r>
                      <a:rPr lang="en-US" i="1">
                        <a:latin typeface="Cambria Math" panose="02040503050406030204" pitchFamily="18" charset="0"/>
                        <a:ea typeface="Cambria Math" panose="02040503050406030204" pitchFamily="18" charset="0"/>
                      </a:rPr>
                      <m:t>∈</m:t>
                    </m:r>
                    <m:d>
                      <m:dPr>
                        <m:begChr m:val="["/>
                        <m:ctrlPr>
                          <a:rPr lang="en-US" i="1">
                            <a:latin typeface="Cambria Math" panose="02040503050406030204" pitchFamily="18" charset="0"/>
                            <a:ea typeface="Cambria Math" panose="02040503050406030204" pitchFamily="18" charset="0"/>
                          </a:rPr>
                        </m:ctrlPr>
                      </m:dPr>
                      <m:e>
                        <m:r>
                          <a:rPr lang="en-US" i="1">
                            <a:latin typeface="Cambria Math" panose="02040503050406030204" pitchFamily="18" charset="0"/>
                            <a:ea typeface="Cambria Math" panose="02040503050406030204" pitchFamily="18" charset="0"/>
                          </a:rPr>
                          <m:t>0,∞</m:t>
                        </m:r>
                      </m:e>
                    </m:d>
                  </m:oMath>
                </a14:m>
                <a:endParaRPr lang="en-US" b="0" dirty="0">
                  <a:ea typeface="Cambria Math" panose="02040503050406030204" pitchFamily="18" charset="0"/>
                </a:endParaRPr>
              </a:p>
              <a:p>
                <a:pPr>
                  <a:buFont typeface="Wingdings" panose="05000000000000000000" pitchFamily="2" charset="2"/>
                  <a:buChar char="q"/>
                </a:pPr>
                <a14:m>
                  <m:oMath xmlns:m="http://schemas.openxmlformats.org/officeDocument/2006/math">
                    <m:r>
                      <a:rPr lang="en-US" i="1" smtClean="0">
                        <a:latin typeface="Cambria Math" panose="02040503050406030204" pitchFamily="18" charset="0"/>
                        <a:ea typeface="Cambria Math" panose="02040503050406030204" pitchFamily="18" charset="0"/>
                      </a:rPr>
                      <m:t>𝜆</m:t>
                    </m:r>
                    <m:r>
                      <a:rPr lang="en-US" i="1">
                        <a:latin typeface="Cambria Math" panose="02040503050406030204" pitchFamily="18" charset="0"/>
                        <a:ea typeface="Cambria Math" panose="02040503050406030204" pitchFamily="18" charset="0"/>
                      </a:rPr>
                      <m:t>∈</m:t>
                    </m:r>
                    <m:d>
                      <m:dPr>
                        <m:begChr m:val="["/>
                        <m:ctrlPr>
                          <a:rPr lang="en-US" b="0" i="1" smtClean="0">
                            <a:latin typeface="Cambria Math" panose="02040503050406030204" pitchFamily="18" charset="0"/>
                            <a:ea typeface="Cambria Math" panose="02040503050406030204" pitchFamily="18" charset="0"/>
                          </a:rPr>
                        </m:ctrlPr>
                      </m:dPr>
                      <m:e>
                        <m:r>
                          <a:rPr lang="en-US" b="0" i="1" smtClean="0">
                            <a:latin typeface="Cambria Math" panose="02040503050406030204" pitchFamily="18" charset="0"/>
                            <a:ea typeface="Cambria Math" panose="02040503050406030204" pitchFamily="18" charset="0"/>
                          </a:rPr>
                          <m:t>0,∞</m:t>
                        </m:r>
                      </m:e>
                    </m:d>
                  </m:oMath>
                </a14:m>
                <a:r>
                  <a:rPr lang="en-US" b="0" dirty="0">
                    <a:ea typeface="Cambria Math" panose="02040503050406030204" pitchFamily="18" charset="0"/>
                  </a:rPr>
                  <a:t> or instead </a:t>
                </a:r>
                <a14:m>
                  <m:oMath xmlns:m="http://schemas.openxmlformats.org/officeDocument/2006/math">
                    <m:r>
                      <a:rPr lang="en-US" sz="2400" i="1">
                        <a:latin typeface="Cambria Math" panose="02040503050406030204" pitchFamily="18" charset="0"/>
                        <a:ea typeface="Cambria Math" panose="02040503050406030204" pitchFamily="18" charset="0"/>
                      </a:rPr>
                      <m:t>𝛽</m:t>
                    </m:r>
                    <m:r>
                      <a:rPr lang="en-US" sz="2400" i="1">
                        <a:latin typeface="Cambria Math" panose="02040503050406030204" pitchFamily="18" charset="0"/>
                        <a:ea typeface="Cambria Math" panose="02040503050406030204" pitchFamily="18" charset="0"/>
                      </a:rPr>
                      <m:t>=</m:t>
                    </m:r>
                    <m:f>
                      <m:fPr>
                        <m:type m:val="skw"/>
                        <m:ctrlPr>
                          <a:rPr lang="en-US" sz="2400" i="1">
                            <a:latin typeface="Cambria Math" panose="02040503050406030204" pitchFamily="18" charset="0"/>
                            <a:ea typeface="Cambria Math" panose="02040503050406030204" pitchFamily="18" charset="0"/>
                          </a:rPr>
                        </m:ctrlPr>
                      </m:fPr>
                      <m:num>
                        <m:r>
                          <a:rPr lang="en-US" sz="2400" i="1">
                            <a:latin typeface="Cambria Math" panose="02040503050406030204" pitchFamily="18" charset="0"/>
                            <a:ea typeface="Cambria Math" panose="02040503050406030204" pitchFamily="18" charset="0"/>
                          </a:rPr>
                          <m:t>1</m:t>
                        </m:r>
                      </m:num>
                      <m:den>
                        <m:r>
                          <a:rPr lang="en-US" sz="2400" i="1">
                            <a:latin typeface="Cambria Math" panose="02040503050406030204" pitchFamily="18" charset="0"/>
                            <a:ea typeface="Cambria Math" panose="02040503050406030204" pitchFamily="18" charset="0"/>
                          </a:rPr>
                          <m:t>𝜆</m:t>
                        </m:r>
                      </m:den>
                    </m:f>
                    <m:r>
                      <a:rPr lang="en-US" sz="2400" b="0" i="0" smtClean="0">
                        <a:latin typeface="Cambria Math" panose="02040503050406030204" pitchFamily="18" charset="0"/>
                        <a:ea typeface="Cambria Math" panose="02040503050406030204" pitchFamily="18" charset="0"/>
                      </a:rPr>
                      <m:t>→ </m:t>
                    </m:r>
                    <m:r>
                      <m:rPr>
                        <m:sty m:val="p"/>
                      </m:rPr>
                      <a:rPr lang="el-GR" sz="2400" b="0" i="1" smtClean="0">
                        <a:latin typeface="Cambria Math" panose="02040503050406030204" pitchFamily="18" charset="0"/>
                        <a:ea typeface="Cambria Math" panose="02040503050406030204" pitchFamily="18" charset="0"/>
                      </a:rPr>
                      <m:t>λ</m:t>
                    </m:r>
                    <m:r>
                      <a:rPr lang="en-US" sz="2400" b="0" i="1" smtClean="0">
                        <a:latin typeface="Cambria Math" panose="02040503050406030204" pitchFamily="18" charset="0"/>
                        <a:ea typeface="Cambria Math" panose="02040503050406030204" pitchFamily="18" charset="0"/>
                      </a:rPr>
                      <m:t>=</m:t>
                    </m:r>
                    <m:f>
                      <m:fPr>
                        <m:ctrlPr>
                          <a:rPr lang="en-US" sz="2400" b="0" i="1" smtClean="0">
                            <a:latin typeface="Cambria Math" panose="02040503050406030204" pitchFamily="18" charset="0"/>
                            <a:ea typeface="Cambria Math" panose="02040503050406030204" pitchFamily="18" charset="0"/>
                          </a:rPr>
                        </m:ctrlPr>
                      </m:fPr>
                      <m:num>
                        <m:r>
                          <a:rPr lang="en-US" sz="2400" b="0" i="1" smtClean="0">
                            <a:latin typeface="Cambria Math" panose="02040503050406030204" pitchFamily="18" charset="0"/>
                            <a:ea typeface="Cambria Math" panose="02040503050406030204" pitchFamily="18" charset="0"/>
                          </a:rPr>
                          <m:t>1</m:t>
                        </m:r>
                      </m:num>
                      <m:den>
                        <m:r>
                          <a:rPr lang="en-US" sz="2400" b="0" i="1" smtClean="0">
                            <a:latin typeface="Cambria Math" panose="02040503050406030204" pitchFamily="18" charset="0"/>
                            <a:ea typeface="Cambria Math" panose="02040503050406030204" pitchFamily="18" charset="0"/>
                          </a:rPr>
                          <m:t>𝛽</m:t>
                        </m:r>
                      </m:den>
                    </m:f>
                  </m:oMath>
                </a14:m>
                <a:endParaRPr lang="en-US" dirty="0">
                  <a:ea typeface="Cambria Math" panose="02040503050406030204" pitchFamily="18" charset="0"/>
                </a:endParaRPr>
              </a:p>
              <a:p>
                <a:pPr>
                  <a:buFont typeface="Wingdings" panose="05000000000000000000" pitchFamily="2" charset="2"/>
                  <a:buChar char="q"/>
                </a:pPr>
                <a:r>
                  <a:rPr lang="en-US" dirty="0">
                    <a:ea typeface="Cambria Math" panose="02040503050406030204" pitchFamily="18" charset="0"/>
                  </a:rPr>
                  <a:t>M</a:t>
                </a:r>
                <a:r>
                  <a:rPr lang="en-US" b="0" dirty="0">
                    <a:ea typeface="Cambria Math" panose="02040503050406030204" pitchFamily="18" charset="0"/>
                  </a:rPr>
                  <a:t>ean </a:t>
                </a:r>
                <a14:m>
                  <m:oMath xmlns:m="http://schemas.openxmlformats.org/officeDocument/2006/math">
                    <m:f>
                      <m:fPr>
                        <m:ctrlPr>
                          <a:rPr lang="en-US" sz="2800" b="0" i="1" smtClean="0">
                            <a:latin typeface="Cambria Math" panose="02040503050406030204" pitchFamily="18" charset="0"/>
                            <a:ea typeface="Cambria Math" panose="02040503050406030204" pitchFamily="18" charset="0"/>
                          </a:rPr>
                        </m:ctrlPr>
                      </m:fPr>
                      <m:num>
                        <m:r>
                          <a:rPr lang="en-US" sz="2800" b="0" i="1" smtClean="0">
                            <a:latin typeface="Cambria Math" panose="02040503050406030204" pitchFamily="18" charset="0"/>
                            <a:ea typeface="Cambria Math" panose="02040503050406030204" pitchFamily="18" charset="0"/>
                          </a:rPr>
                          <m:t>𝑘</m:t>
                        </m:r>
                      </m:num>
                      <m:den>
                        <m:r>
                          <a:rPr lang="en-US" sz="2800" b="0" i="1" smtClean="0">
                            <a:latin typeface="Cambria Math" panose="02040503050406030204" pitchFamily="18" charset="0"/>
                            <a:ea typeface="Cambria Math" panose="02040503050406030204" pitchFamily="18" charset="0"/>
                          </a:rPr>
                          <m:t>𝜆</m:t>
                        </m:r>
                      </m:den>
                    </m:f>
                  </m:oMath>
                </a14:m>
                <a:r>
                  <a:rPr lang="en-US" sz="2800" b="0" dirty="0">
                    <a:ea typeface="Cambria Math" panose="02040503050406030204" pitchFamily="18" charset="0"/>
                  </a:rPr>
                  <a:t> </a:t>
                </a:r>
                <a:r>
                  <a:rPr lang="en-US" b="0" dirty="0">
                    <a:ea typeface="Cambria Math" panose="02040503050406030204" pitchFamily="18" charset="0"/>
                  </a:rPr>
                  <a:t>, Variance </a:t>
                </a:r>
                <a14:m>
                  <m:oMath xmlns:m="http://schemas.openxmlformats.org/officeDocument/2006/math">
                    <m:f>
                      <m:fPr>
                        <m:ctrlPr>
                          <a:rPr lang="en-US" sz="2800" b="0" i="1" smtClean="0">
                            <a:latin typeface="Cambria Math" panose="02040503050406030204" pitchFamily="18" charset="0"/>
                            <a:ea typeface="Cambria Math" panose="02040503050406030204" pitchFamily="18" charset="0"/>
                          </a:rPr>
                        </m:ctrlPr>
                      </m:fPr>
                      <m:num>
                        <m:r>
                          <a:rPr lang="en-US" sz="2800" b="0" i="1" smtClean="0">
                            <a:latin typeface="Cambria Math" panose="02040503050406030204" pitchFamily="18" charset="0"/>
                            <a:ea typeface="Cambria Math" panose="02040503050406030204" pitchFamily="18" charset="0"/>
                          </a:rPr>
                          <m:t>𝑘</m:t>
                        </m:r>
                      </m:num>
                      <m:den>
                        <m:sSup>
                          <m:sSupPr>
                            <m:ctrlPr>
                              <a:rPr lang="en-US" sz="2800" b="0" i="1" smtClean="0">
                                <a:latin typeface="Cambria Math" panose="02040503050406030204" pitchFamily="18" charset="0"/>
                                <a:ea typeface="Cambria Math" panose="02040503050406030204" pitchFamily="18" charset="0"/>
                              </a:rPr>
                            </m:ctrlPr>
                          </m:sSupPr>
                          <m:e>
                            <m:r>
                              <a:rPr lang="en-US" sz="2800" b="0" i="1" smtClean="0">
                                <a:latin typeface="Cambria Math" panose="02040503050406030204" pitchFamily="18" charset="0"/>
                                <a:ea typeface="Cambria Math" panose="02040503050406030204" pitchFamily="18" charset="0"/>
                              </a:rPr>
                              <m:t>𝜆</m:t>
                            </m:r>
                          </m:e>
                          <m:sup>
                            <m:r>
                              <a:rPr lang="en-US" sz="2800" b="0" i="1" smtClean="0">
                                <a:latin typeface="Cambria Math" panose="02040503050406030204" pitchFamily="18" charset="0"/>
                                <a:ea typeface="Cambria Math" panose="02040503050406030204" pitchFamily="18" charset="0"/>
                              </a:rPr>
                              <m:t>2</m:t>
                            </m:r>
                          </m:sup>
                        </m:sSup>
                      </m:den>
                    </m:f>
                  </m:oMath>
                </a14:m>
                <a:endParaRPr lang="en-US" sz="2800" b="0" dirty="0">
                  <a:ea typeface="Cambria Math" panose="02040503050406030204" pitchFamily="18" charset="0"/>
                </a:endParaRPr>
              </a:p>
              <a:p>
                <a:pPr>
                  <a:buFont typeface="Wingdings" panose="05000000000000000000" pitchFamily="2" charset="2"/>
                  <a:buChar char="q"/>
                </a:pPr>
                <a:r>
                  <a:rPr lang="en-US" b="0" dirty="0">
                    <a:ea typeface="Cambria Math" panose="02040503050406030204" pitchFamily="18" charset="0"/>
                  </a:rPr>
                  <a:t>Cumulative Distribution function</a:t>
                </a:r>
              </a:p>
              <a:p>
                <a:pPr lvl="1">
                  <a:buFont typeface="Wingdings" panose="05000000000000000000" pitchFamily="2" charset="2"/>
                  <a:buChar char="q"/>
                </a:pPr>
                <a14:m>
                  <m:oMath xmlns:m="http://schemas.openxmlformats.org/officeDocument/2006/math">
                    <m:r>
                      <a:rPr lang="en-US" sz="2400" b="0" i="1" smtClean="0">
                        <a:latin typeface="Cambria Math" panose="02040503050406030204" pitchFamily="18" charset="0"/>
                        <a:ea typeface="Cambria Math" panose="02040503050406030204" pitchFamily="18" charset="0"/>
                      </a:rPr>
                      <m:t>𝑃</m:t>
                    </m:r>
                    <m:d>
                      <m:dPr>
                        <m:ctrlPr>
                          <a:rPr lang="en-US" sz="2400" b="0" i="1" smtClean="0">
                            <a:latin typeface="Cambria Math" panose="02040503050406030204" pitchFamily="18" charset="0"/>
                            <a:ea typeface="Cambria Math" panose="02040503050406030204" pitchFamily="18" charset="0"/>
                          </a:rPr>
                        </m:ctrlPr>
                      </m:dPr>
                      <m:e>
                        <m:r>
                          <a:rPr lang="en-US" sz="2400" b="0" i="1" smtClean="0">
                            <a:latin typeface="Cambria Math" panose="02040503050406030204" pitchFamily="18" charset="0"/>
                            <a:ea typeface="Cambria Math" panose="02040503050406030204" pitchFamily="18" charset="0"/>
                          </a:rPr>
                          <m:t>𝑘</m:t>
                        </m:r>
                        <m:r>
                          <a:rPr lang="en-US" sz="2400" b="0" i="1" smtClean="0">
                            <a:latin typeface="Cambria Math" panose="02040503050406030204" pitchFamily="18" charset="0"/>
                            <a:ea typeface="Cambria Math" panose="02040503050406030204" pitchFamily="18" charset="0"/>
                          </a:rPr>
                          <m:t>,</m:t>
                        </m:r>
                        <m:r>
                          <a:rPr lang="en-US" sz="2400" b="0" i="1" smtClean="0">
                            <a:latin typeface="Cambria Math" panose="02040503050406030204" pitchFamily="18" charset="0"/>
                            <a:ea typeface="Cambria Math" panose="02040503050406030204" pitchFamily="18" charset="0"/>
                          </a:rPr>
                          <m:t>𝜆</m:t>
                        </m:r>
                        <m:r>
                          <a:rPr lang="en-US" sz="2400" b="0" i="1" smtClean="0">
                            <a:latin typeface="Cambria Math" panose="02040503050406030204" pitchFamily="18" charset="0"/>
                            <a:ea typeface="Cambria Math" panose="02040503050406030204" pitchFamily="18" charset="0"/>
                          </a:rPr>
                          <m:t>𝑥</m:t>
                        </m:r>
                      </m:e>
                    </m:d>
                    <m:r>
                      <a:rPr lang="en-US" sz="2400" b="0" i="1" smtClean="0">
                        <a:latin typeface="Cambria Math" panose="02040503050406030204" pitchFamily="18" charset="0"/>
                        <a:ea typeface="Cambria Math" panose="02040503050406030204" pitchFamily="18" charset="0"/>
                      </a:rPr>
                      <m:t>=1−</m:t>
                    </m:r>
                    <m:nary>
                      <m:naryPr>
                        <m:chr m:val="∑"/>
                        <m:ctrlPr>
                          <a:rPr lang="en-US" sz="2400" b="0" i="1" smtClean="0">
                            <a:latin typeface="Cambria Math" panose="02040503050406030204" pitchFamily="18" charset="0"/>
                            <a:ea typeface="Cambria Math" panose="02040503050406030204" pitchFamily="18" charset="0"/>
                          </a:rPr>
                        </m:ctrlPr>
                      </m:naryPr>
                      <m:sub>
                        <m:r>
                          <m:rPr>
                            <m:brk m:alnAt="23"/>
                          </m:rPr>
                          <a:rPr lang="en-US" sz="2400" b="0" i="1" smtClean="0">
                            <a:latin typeface="Cambria Math" panose="02040503050406030204" pitchFamily="18" charset="0"/>
                            <a:ea typeface="Cambria Math" panose="02040503050406030204" pitchFamily="18" charset="0"/>
                          </a:rPr>
                          <m:t>𝑛</m:t>
                        </m:r>
                        <m:r>
                          <a:rPr lang="en-US" sz="2400" b="0" i="1" smtClean="0">
                            <a:latin typeface="Cambria Math" panose="02040503050406030204" pitchFamily="18" charset="0"/>
                            <a:ea typeface="Cambria Math" panose="02040503050406030204" pitchFamily="18" charset="0"/>
                          </a:rPr>
                          <m:t>=0</m:t>
                        </m:r>
                      </m:sub>
                      <m:sup>
                        <m:r>
                          <a:rPr lang="en-US" sz="2400" b="0" i="1" smtClean="0">
                            <a:latin typeface="Cambria Math" panose="02040503050406030204" pitchFamily="18" charset="0"/>
                            <a:ea typeface="Cambria Math" panose="02040503050406030204" pitchFamily="18" charset="0"/>
                          </a:rPr>
                          <m:t>𝑘</m:t>
                        </m:r>
                        <m:r>
                          <a:rPr lang="en-US" sz="2400" b="0" i="1" smtClean="0">
                            <a:latin typeface="Cambria Math" panose="02040503050406030204" pitchFamily="18" charset="0"/>
                            <a:ea typeface="Cambria Math" panose="02040503050406030204" pitchFamily="18" charset="0"/>
                          </a:rPr>
                          <m:t>−1</m:t>
                        </m:r>
                      </m:sup>
                      <m:e>
                        <m:f>
                          <m:fPr>
                            <m:ctrlPr>
                              <a:rPr lang="en-US" sz="2400" b="0" i="1" smtClean="0">
                                <a:latin typeface="Cambria Math" panose="02040503050406030204" pitchFamily="18" charset="0"/>
                                <a:ea typeface="Cambria Math" panose="02040503050406030204" pitchFamily="18" charset="0"/>
                              </a:rPr>
                            </m:ctrlPr>
                          </m:fPr>
                          <m:num>
                            <m:r>
                              <a:rPr lang="en-US" sz="2400" b="0" i="1" smtClean="0">
                                <a:latin typeface="Cambria Math" panose="02040503050406030204" pitchFamily="18" charset="0"/>
                                <a:ea typeface="Cambria Math" panose="02040503050406030204" pitchFamily="18" charset="0"/>
                              </a:rPr>
                              <m:t>1</m:t>
                            </m:r>
                          </m:num>
                          <m:den>
                            <m:r>
                              <a:rPr lang="en-US" sz="2400" b="0" i="1" smtClean="0">
                                <a:latin typeface="Cambria Math" panose="02040503050406030204" pitchFamily="18" charset="0"/>
                                <a:ea typeface="Cambria Math" panose="02040503050406030204" pitchFamily="18" charset="0"/>
                              </a:rPr>
                              <m:t>𝑛</m:t>
                            </m:r>
                            <m:r>
                              <a:rPr lang="en-US" sz="2400" b="0" i="1" smtClean="0">
                                <a:latin typeface="Cambria Math" panose="02040503050406030204" pitchFamily="18" charset="0"/>
                                <a:ea typeface="Cambria Math" panose="02040503050406030204" pitchFamily="18" charset="0"/>
                              </a:rPr>
                              <m:t>!</m:t>
                            </m:r>
                          </m:den>
                        </m:f>
                        <m:sSup>
                          <m:sSupPr>
                            <m:ctrlPr>
                              <a:rPr lang="en-US" sz="2400" b="0" i="1" smtClean="0">
                                <a:latin typeface="Cambria Math" panose="02040503050406030204" pitchFamily="18" charset="0"/>
                                <a:ea typeface="Cambria Math" panose="02040503050406030204" pitchFamily="18" charset="0"/>
                              </a:rPr>
                            </m:ctrlPr>
                          </m:sSupPr>
                          <m:e>
                            <m:r>
                              <a:rPr lang="en-US" sz="2400" b="0" i="1" smtClean="0">
                                <a:latin typeface="Cambria Math" panose="02040503050406030204" pitchFamily="18" charset="0"/>
                                <a:ea typeface="Cambria Math" panose="02040503050406030204" pitchFamily="18" charset="0"/>
                              </a:rPr>
                              <m:t>𝑒</m:t>
                            </m:r>
                          </m:e>
                          <m:sup>
                            <m:r>
                              <a:rPr lang="en-US" sz="2400" b="0" i="1" smtClean="0">
                                <a:latin typeface="Cambria Math" panose="02040503050406030204" pitchFamily="18" charset="0"/>
                                <a:ea typeface="Cambria Math" panose="02040503050406030204" pitchFamily="18" charset="0"/>
                              </a:rPr>
                              <m:t>−</m:t>
                            </m:r>
                            <m:r>
                              <a:rPr lang="en-US" sz="2400" b="0" i="1" smtClean="0">
                                <a:latin typeface="Cambria Math" panose="02040503050406030204" pitchFamily="18" charset="0"/>
                                <a:ea typeface="Cambria Math" panose="02040503050406030204" pitchFamily="18" charset="0"/>
                              </a:rPr>
                              <m:t>𝜆</m:t>
                            </m:r>
                            <m:r>
                              <a:rPr lang="en-US" sz="2400" b="0" i="1" smtClean="0">
                                <a:latin typeface="Cambria Math" panose="02040503050406030204" pitchFamily="18" charset="0"/>
                                <a:ea typeface="Cambria Math" panose="02040503050406030204" pitchFamily="18" charset="0"/>
                              </a:rPr>
                              <m:t>𝑥</m:t>
                            </m:r>
                          </m:sup>
                        </m:sSup>
                        <m:sSup>
                          <m:sSupPr>
                            <m:ctrlPr>
                              <a:rPr lang="en-US" sz="2400" b="0" i="1" smtClean="0">
                                <a:latin typeface="Cambria Math" panose="02040503050406030204" pitchFamily="18" charset="0"/>
                                <a:ea typeface="Cambria Math" panose="02040503050406030204" pitchFamily="18" charset="0"/>
                              </a:rPr>
                            </m:ctrlPr>
                          </m:sSupPr>
                          <m:e>
                            <m:r>
                              <a:rPr lang="en-US" sz="2400" b="0" i="1" smtClean="0">
                                <a:latin typeface="Cambria Math" panose="02040503050406030204" pitchFamily="18" charset="0"/>
                                <a:ea typeface="Cambria Math" panose="02040503050406030204" pitchFamily="18" charset="0"/>
                              </a:rPr>
                              <m:t>(</m:t>
                            </m:r>
                            <m:r>
                              <a:rPr lang="en-US" sz="2400" b="0" i="1" smtClean="0">
                                <a:latin typeface="Cambria Math" panose="02040503050406030204" pitchFamily="18" charset="0"/>
                                <a:ea typeface="Cambria Math" panose="02040503050406030204" pitchFamily="18" charset="0"/>
                              </a:rPr>
                              <m:t>𝜆</m:t>
                            </m:r>
                            <m:r>
                              <a:rPr lang="en-US" sz="2400" b="0" i="1" smtClean="0">
                                <a:latin typeface="Cambria Math" panose="02040503050406030204" pitchFamily="18" charset="0"/>
                                <a:ea typeface="Cambria Math" panose="02040503050406030204" pitchFamily="18" charset="0"/>
                              </a:rPr>
                              <m:t>𝑥</m:t>
                            </m:r>
                            <m:r>
                              <a:rPr lang="en-US" sz="2400" b="0" i="1" smtClean="0">
                                <a:latin typeface="Cambria Math" panose="02040503050406030204" pitchFamily="18" charset="0"/>
                                <a:ea typeface="Cambria Math" panose="02040503050406030204" pitchFamily="18" charset="0"/>
                              </a:rPr>
                              <m:t>)</m:t>
                            </m:r>
                          </m:e>
                          <m:sup>
                            <m:r>
                              <a:rPr lang="en-US" sz="2400" b="0" i="1" smtClean="0">
                                <a:latin typeface="Cambria Math" panose="02040503050406030204" pitchFamily="18" charset="0"/>
                                <a:ea typeface="Cambria Math" panose="02040503050406030204" pitchFamily="18" charset="0"/>
                              </a:rPr>
                              <m:t>𝑛</m:t>
                            </m:r>
                          </m:sup>
                        </m:sSup>
                      </m:e>
                    </m:nary>
                  </m:oMath>
                </a14:m>
                <a:endParaRPr lang="en-US" b="0" dirty="0">
                  <a:ea typeface="Cambria Math" panose="02040503050406030204" pitchFamily="18" charset="0"/>
                </a:endParaRPr>
              </a:p>
              <a:p>
                <a:pPr>
                  <a:buFont typeface="Wingdings" panose="05000000000000000000" pitchFamily="2" charset="2"/>
                  <a:buChar char="q"/>
                </a:pPr>
                <a:r>
                  <a:rPr lang="en-US" dirty="0"/>
                  <a:t>Probability Density Function</a:t>
                </a:r>
              </a:p>
              <a:p>
                <a:pPr lvl="1">
                  <a:buFont typeface="Wingdings" panose="05000000000000000000" pitchFamily="2" charset="2"/>
                  <a:buChar char="q"/>
                </a:pPr>
                <a:r>
                  <a:rPr lang="en-US" dirty="0"/>
                  <a:t> </a:t>
                </a:r>
                <a14:m>
                  <m:oMath xmlns:m="http://schemas.openxmlformats.org/officeDocument/2006/math">
                    <m:f>
                      <m:fPr>
                        <m:ctrlPr>
                          <a:rPr lang="en-US" sz="2800" i="1" smtClean="0">
                            <a:latin typeface="Cambria Math" panose="02040503050406030204" pitchFamily="18" charset="0"/>
                          </a:rPr>
                        </m:ctrlPr>
                      </m:fPr>
                      <m:num>
                        <m:sSup>
                          <m:sSupPr>
                            <m:ctrlPr>
                              <a:rPr lang="en-US" sz="2800" i="1" smtClean="0">
                                <a:latin typeface="Cambria Math" panose="02040503050406030204" pitchFamily="18" charset="0"/>
                              </a:rPr>
                            </m:ctrlPr>
                          </m:sSupPr>
                          <m:e>
                            <m:r>
                              <a:rPr lang="en-US" sz="2800" i="1" smtClean="0">
                                <a:latin typeface="Cambria Math" panose="02040503050406030204" pitchFamily="18" charset="0"/>
                                <a:ea typeface="Cambria Math" panose="02040503050406030204" pitchFamily="18" charset="0"/>
                              </a:rPr>
                              <m:t>𝜆</m:t>
                            </m:r>
                          </m:e>
                          <m:sup>
                            <m:r>
                              <a:rPr lang="en-US" sz="2800" b="0" i="1" smtClean="0">
                                <a:latin typeface="Cambria Math" panose="02040503050406030204" pitchFamily="18" charset="0"/>
                              </a:rPr>
                              <m:t>𝑘</m:t>
                            </m:r>
                          </m:sup>
                        </m:sSup>
                        <m:sSup>
                          <m:sSupPr>
                            <m:ctrlPr>
                              <a:rPr lang="en-US" sz="2800" i="1" smtClean="0">
                                <a:latin typeface="Cambria Math" panose="02040503050406030204" pitchFamily="18" charset="0"/>
                              </a:rPr>
                            </m:ctrlPr>
                          </m:sSupPr>
                          <m:e>
                            <m:r>
                              <a:rPr lang="en-US" sz="2800" b="0" i="1" smtClean="0">
                                <a:latin typeface="Cambria Math" panose="02040503050406030204" pitchFamily="18" charset="0"/>
                              </a:rPr>
                              <m:t>𝑥</m:t>
                            </m:r>
                          </m:e>
                          <m:sup>
                            <m:r>
                              <a:rPr lang="en-US" sz="2800" b="0" i="1" smtClean="0">
                                <a:latin typeface="Cambria Math" panose="02040503050406030204" pitchFamily="18" charset="0"/>
                              </a:rPr>
                              <m:t>𝑘</m:t>
                            </m:r>
                            <m:r>
                              <a:rPr lang="en-US" sz="2800" b="0" i="1" smtClean="0">
                                <a:latin typeface="Cambria Math" panose="02040503050406030204" pitchFamily="18" charset="0"/>
                              </a:rPr>
                              <m:t>−1</m:t>
                            </m:r>
                          </m:sup>
                        </m:sSup>
                        <m:sSup>
                          <m:sSupPr>
                            <m:ctrlPr>
                              <a:rPr lang="en-US" sz="2800" i="1" smtClean="0">
                                <a:latin typeface="Cambria Math" panose="02040503050406030204" pitchFamily="18" charset="0"/>
                              </a:rPr>
                            </m:ctrlPr>
                          </m:sSupPr>
                          <m:e>
                            <m:r>
                              <a:rPr lang="en-US" sz="2800" b="0" i="1" smtClean="0">
                                <a:latin typeface="Cambria Math" panose="02040503050406030204" pitchFamily="18" charset="0"/>
                              </a:rPr>
                              <m:t>𝑒</m:t>
                            </m:r>
                          </m:e>
                          <m:sup>
                            <m:r>
                              <a:rPr lang="en-US" sz="2800" b="0" i="1" smtClean="0">
                                <a:latin typeface="Cambria Math" panose="02040503050406030204" pitchFamily="18" charset="0"/>
                              </a:rPr>
                              <m:t>−</m:t>
                            </m:r>
                            <m:r>
                              <a:rPr lang="en-US" sz="2800" b="0" i="1" smtClean="0">
                                <a:latin typeface="Cambria Math" panose="02040503050406030204" pitchFamily="18" charset="0"/>
                                <a:ea typeface="Cambria Math" panose="02040503050406030204" pitchFamily="18" charset="0"/>
                              </a:rPr>
                              <m:t>𝜆</m:t>
                            </m:r>
                            <m:r>
                              <a:rPr lang="en-US" sz="2800" b="0" i="1" smtClean="0">
                                <a:latin typeface="Cambria Math" panose="02040503050406030204" pitchFamily="18" charset="0"/>
                                <a:ea typeface="Cambria Math" panose="02040503050406030204" pitchFamily="18" charset="0"/>
                              </a:rPr>
                              <m:t>𝑥</m:t>
                            </m:r>
                          </m:sup>
                        </m:sSup>
                      </m:num>
                      <m:den>
                        <m:d>
                          <m:dPr>
                            <m:ctrlPr>
                              <a:rPr lang="en-US" sz="2800" b="0" i="1" smtClean="0">
                                <a:latin typeface="Cambria Math" panose="02040503050406030204" pitchFamily="18" charset="0"/>
                              </a:rPr>
                            </m:ctrlPr>
                          </m:dPr>
                          <m:e>
                            <m:r>
                              <a:rPr lang="en-US" sz="2800" b="0" i="1" smtClean="0">
                                <a:latin typeface="Cambria Math" panose="02040503050406030204" pitchFamily="18" charset="0"/>
                              </a:rPr>
                              <m:t>𝑘</m:t>
                            </m:r>
                            <m:r>
                              <a:rPr lang="en-US" sz="2800" b="0" i="1" smtClean="0">
                                <a:latin typeface="Cambria Math" panose="02040503050406030204" pitchFamily="18" charset="0"/>
                              </a:rPr>
                              <m:t>−1</m:t>
                            </m:r>
                          </m:e>
                        </m:d>
                        <m:r>
                          <a:rPr lang="en-US" sz="2800" b="0" i="1" smtClean="0">
                            <a:latin typeface="Cambria Math" panose="02040503050406030204" pitchFamily="18" charset="0"/>
                          </a:rPr>
                          <m:t>!</m:t>
                        </m:r>
                      </m:den>
                    </m:f>
                  </m:oMath>
                </a14:m>
                <a:endParaRPr lang="en-US" sz="2800" dirty="0"/>
              </a:p>
            </p:txBody>
          </p:sp>
        </mc:Choice>
        <mc:Fallback xmlns="">
          <p:sp>
            <p:nvSpPr>
              <p:cNvPr id="3" name="Content Placeholder 2">
                <a:extLst>
                  <a:ext uri="{FF2B5EF4-FFF2-40B4-BE49-F238E27FC236}">
                    <a16:creationId xmlns:a16="http://schemas.microsoft.com/office/drawing/2014/main" id="{E5B3F4A2-01F3-44A0-903B-FA19BEDB086B}"/>
                  </a:ext>
                </a:extLst>
              </p:cNvPr>
              <p:cNvSpPr>
                <a:spLocks noGrp="1" noRot="1" noChangeAspect="1" noMove="1" noResize="1" noEditPoints="1" noAdjustHandles="1" noChangeArrowheads="1" noChangeShapeType="1" noTextEdit="1"/>
              </p:cNvSpPr>
              <p:nvPr>
                <p:ph idx="1"/>
              </p:nvPr>
            </p:nvSpPr>
            <p:spPr>
              <a:xfrm>
                <a:off x="1097280" y="1845734"/>
                <a:ext cx="6160770" cy="4023360"/>
              </a:xfrm>
              <a:blipFill>
                <a:blip r:embed="rId3"/>
                <a:stretch>
                  <a:fillRect l="-2374" t="-1667"/>
                </a:stretch>
              </a:blipFill>
            </p:spPr>
            <p:txBody>
              <a:bodyPr/>
              <a:lstStyle/>
              <a:p>
                <a:r>
                  <a:rPr lang="en-US">
                    <a:noFill/>
                  </a:rPr>
                  <a:t> </a:t>
                </a:r>
              </a:p>
            </p:txBody>
          </p:sp>
        </mc:Fallback>
      </mc:AlternateContent>
      <p:sp>
        <p:nvSpPr>
          <p:cNvPr id="4" name="Slide Number Placeholder 3">
            <a:extLst>
              <a:ext uri="{FF2B5EF4-FFF2-40B4-BE49-F238E27FC236}">
                <a16:creationId xmlns:a16="http://schemas.microsoft.com/office/drawing/2014/main" id="{C291FFDC-CAF5-43F0-9282-BE528128366D}"/>
              </a:ext>
            </a:extLst>
          </p:cNvPr>
          <p:cNvSpPr>
            <a:spLocks noGrp="1"/>
          </p:cNvSpPr>
          <p:nvPr>
            <p:ph type="sldNum" sz="quarter" idx="12"/>
          </p:nvPr>
        </p:nvSpPr>
        <p:spPr>
          <a:xfrm>
            <a:off x="9900458" y="6470936"/>
            <a:ext cx="1312025" cy="365125"/>
          </a:xfrm>
        </p:spPr>
        <p:txBody>
          <a:bodyPr/>
          <a:lstStyle/>
          <a:p>
            <a:fld id="{DC4CAFB8-3EF6-4FAF-BDFA-EA2F8D8834E4}" type="slidenum">
              <a:rPr lang="en-US" sz="1400" smtClean="0"/>
              <a:t>3</a:t>
            </a:fld>
            <a:endParaRPr lang="en-US" sz="1400"/>
          </a:p>
        </p:txBody>
      </p:sp>
      <p:pic>
        <p:nvPicPr>
          <p:cNvPr id="6" name="Picture 2" descr="Probability density plots of Erlang distributions">
            <a:extLst>
              <a:ext uri="{FF2B5EF4-FFF2-40B4-BE49-F238E27FC236}">
                <a16:creationId xmlns:a16="http://schemas.microsoft.com/office/drawing/2014/main" id="{5435F330-56B6-4991-B969-167132D60DB1}"/>
              </a:ext>
            </a:extLst>
          </p:cNvPr>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7186678" y="1992310"/>
            <a:ext cx="4844956" cy="3641057"/>
          </a:xfrm>
          <a:prstGeom prst="rect">
            <a:avLst/>
          </a:prstGeom>
          <a:noFill/>
          <a:extLst>
            <a:ext uri="{909E8E84-426E-40DD-AFC4-6F175D3DCCD1}">
              <a14:hiddenFill xmlns:a14="http://schemas.microsoft.com/office/drawing/2010/main">
                <a:solidFill>
                  <a:srgbClr val="FFFFFF"/>
                </a:solidFill>
              </a14:hiddenFill>
            </a:ext>
          </a:extLst>
        </p:spPr>
      </p:pic>
      <p:sp>
        <p:nvSpPr>
          <p:cNvPr id="7" name="TextBox 6">
            <a:extLst>
              <a:ext uri="{FF2B5EF4-FFF2-40B4-BE49-F238E27FC236}">
                <a16:creationId xmlns:a16="http://schemas.microsoft.com/office/drawing/2014/main" id="{D10FE762-11EA-4884-B2C7-24AEC5F529C2}"/>
              </a:ext>
            </a:extLst>
          </p:cNvPr>
          <p:cNvSpPr txBox="1"/>
          <p:nvPr/>
        </p:nvSpPr>
        <p:spPr>
          <a:xfrm>
            <a:off x="8429798" y="5633367"/>
            <a:ext cx="2941320" cy="369332"/>
          </a:xfrm>
          <a:prstGeom prst="rect">
            <a:avLst/>
          </a:prstGeom>
          <a:noFill/>
        </p:spPr>
        <p:txBody>
          <a:bodyPr wrap="square" rtlCol="0">
            <a:spAutoFit/>
          </a:bodyPr>
          <a:lstStyle/>
          <a:p>
            <a:r>
              <a:rPr lang="en-US" dirty="0"/>
              <a:t>Probability Density Function</a:t>
            </a:r>
          </a:p>
        </p:txBody>
      </p:sp>
      <p:sp>
        <p:nvSpPr>
          <p:cNvPr id="12" name="TextBox 11">
            <a:extLst>
              <a:ext uri="{FF2B5EF4-FFF2-40B4-BE49-F238E27FC236}">
                <a16:creationId xmlns:a16="http://schemas.microsoft.com/office/drawing/2014/main" id="{8622DEAE-3723-4DCA-9881-AA3DC57EA664}"/>
              </a:ext>
            </a:extLst>
          </p:cNvPr>
          <p:cNvSpPr txBox="1"/>
          <p:nvPr/>
        </p:nvSpPr>
        <p:spPr>
          <a:xfrm>
            <a:off x="189571" y="6447755"/>
            <a:ext cx="3579542" cy="369332"/>
          </a:xfrm>
          <a:prstGeom prst="rect">
            <a:avLst/>
          </a:prstGeom>
          <a:noFill/>
        </p:spPr>
        <p:txBody>
          <a:bodyPr wrap="square" rtlCol="0">
            <a:spAutoFit/>
          </a:bodyPr>
          <a:lstStyle/>
          <a:p>
            <a:r>
              <a:rPr lang="en-US" dirty="0">
                <a:solidFill>
                  <a:schemeClr val="bg1"/>
                </a:solidFill>
              </a:rPr>
              <a:t>Mohammad Mahdi Manafi</a:t>
            </a:r>
          </a:p>
        </p:txBody>
      </p:sp>
    </p:spTree>
    <p:extLst>
      <p:ext uri="{BB962C8B-B14F-4D97-AF65-F5344CB8AC3E}">
        <p14:creationId xmlns:p14="http://schemas.microsoft.com/office/powerpoint/2010/main" val="1915303864"/>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9DA4EDBA-6215-4967-9C0C-97A4A9879006}"/>
              </a:ext>
            </a:extLst>
          </p:cNvPr>
          <p:cNvSpPr>
            <a:spLocks noGrp="1"/>
          </p:cNvSpPr>
          <p:nvPr>
            <p:ph type="title"/>
          </p:nvPr>
        </p:nvSpPr>
        <p:spPr/>
        <p:txBody>
          <a:bodyPr/>
          <a:lstStyle/>
          <a:p>
            <a:r>
              <a:rPr lang="en-US" dirty="0"/>
              <a:t>Introduction</a:t>
            </a:r>
          </a:p>
        </p:txBody>
      </p:sp>
      <p:sp>
        <p:nvSpPr>
          <p:cNvPr id="3" name="Content Placeholder 2">
            <a:extLst>
              <a:ext uri="{FF2B5EF4-FFF2-40B4-BE49-F238E27FC236}">
                <a16:creationId xmlns:a16="http://schemas.microsoft.com/office/drawing/2014/main" id="{5ABEE031-B5C0-40A8-A26C-8AB4E44E2D7E}"/>
              </a:ext>
            </a:extLst>
          </p:cNvPr>
          <p:cNvSpPr>
            <a:spLocks noGrp="1"/>
          </p:cNvSpPr>
          <p:nvPr>
            <p:ph idx="1"/>
          </p:nvPr>
        </p:nvSpPr>
        <p:spPr>
          <a:xfrm>
            <a:off x="1097280" y="1845734"/>
            <a:ext cx="10058400" cy="4265134"/>
          </a:xfrm>
        </p:spPr>
        <p:txBody>
          <a:bodyPr>
            <a:normAutofit fontScale="92500" lnSpcReduction="10000"/>
          </a:bodyPr>
          <a:lstStyle/>
          <a:p>
            <a:pPr>
              <a:buFont typeface="Wingdings" panose="05000000000000000000" pitchFamily="2" charset="2"/>
              <a:buChar char="q"/>
            </a:pPr>
            <a:r>
              <a:rPr lang="en-US" dirty="0"/>
              <a:t>Problem statement</a:t>
            </a:r>
          </a:p>
          <a:p>
            <a:pPr lvl="1">
              <a:buFont typeface="Wingdings" panose="05000000000000000000" pitchFamily="2" charset="2"/>
              <a:buChar char="q"/>
            </a:pPr>
            <a:r>
              <a:rPr lang="en-US" dirty="0"/>
              <a:t>Reduce task drop probability </a:t>
            </a:r>
            <a:r>
              <a:rPr lang="en-US" dirty="0">
                <a:solidFill>
                  <a:schemeClr val="tx1"/>
                </a:solidFill>
              </a:rPr>
              <a:t>(</a:t>
            </a:r>
            <a:r>
              <a:rPr lang="en-US" i="0" dirty="0">
                <a:solidFill>
                  <a:schemeClr val="tx1"/>
                </a:solidFill>
                <a:effectLst/>
              </a:rPr>
              <a:t>complete tasks before their deadlines)</a:t>
            </a:r>
            <a:endParaRPr lang="en-US" dirty="0"/>
          </a:p>
          <a:p>
            <a:pPr lvl="1">
              <a:buFont typeface="Wingdings" panose="05000000000000000000" pitchFamily="2" charset="2"/>
              <a:buChar char="q"/>
            </a:pPr>
            <a:r>
              <a:rPr lang="en-US" i="0" dirty="0">
                <a:solidFill>
                  <a:schemeClr val="tx1"/>
                </a:solidFill>
                <a:effectLst/>
              </a:rPr>
              <a:t>To maximize social welfare</a:t>
            </a:r>
          </a:p>
          <a:p>
            <a:pPr lvl="2">
              <a:buFont typeface="Wingdings" panose="05000000000000000000" pitchFamily="2" charset="2"/>
              <a:buChar char="q"/>
            </a:pPr>
            <a:r>
              <a:rPr lang="en-US" b="0" i="0" dirty="0">
                <a:solidFill>
                  <a:schemeClr val="tx1"/>
                </a:solidFill>
                <a:effectLst/>
              </a:rPr>
              <a:t>Need to balance both user (QoS) and provider perspectives (costs)</a:t>
            </a:r>
            <a:endParaRPr lang="en-US" dirty="0">
              <a:solidFill>
                <a:schemeClr val="tx1"/>
              </a:solidFill>
            </a:endParaRPr>
          </a:p>
          <a:p>
            <a:pPr lvl="1">
              <a:buFont typeface="Wingdings" panose="05000000000000000000" pitchFamily="2" charset="2"/>
              <a:buChar char="q"/>
            </a:pPr>
            <a:r>
              <a:rPr lang="en-US" dirty="0"/>
              <a:t>Queuing theory analysis and optimization of edge-fog-cloud</a:t>
            </a:r>
          </a:p>
          <a:p>
            <a:pPr>
              <a:buFont typeface="Wingdings" panose="05000000000000000000" pitchFamily="2" charset="2"/>
              <a:buChar char="q"/>
            </a:pPr>
            <a:r>
              <a:rPr lang="en-US" dirty="0"/>
              <a:t>Motivations</a:t>
            </a:r>
          </a:p>
          <a:p>
            <a:pPr lvl="1">
              <a:buFont typeface="Wingdings" panose="05000000000000000000" pitchFamily="2" charset="2"/>
              <a:buChar char="q"/>
            </a:pPr>
            <a:r>
              <a:rPr lang="en-US" i="0" dirty="0">
                <a:solidFill>
                  <a:schemeClr val="tx1"/>
                </a:solidFill>
                <a:effectLst/>
              </a:rPr>
              <a:t>Limitations of Pure Edge/Fog/Cloud Computing</a:t>
            </a:r>
          </a:p>
          <a:p>
            <a:pPr lvl="2">
              <a:buFont typeface="Wingdings" panose="05000000000000000000" pitchFamily="2" charset="2"/>
              <a:buChar char="q"/>
            </a:pPr>
            <a:r>
              <a:rPr lang="en-US" i="0" dirty="0">
                <a:solidFill>
                  <a:schemeClr val="tx1"/>
                </a:solidFill>
                <a:effectLst/>
              </a:rPr>
              <a:t>Unlimited resources in cloud and low latencies in edge and fog</a:t>
            </a:r>
          </a:p>
          <a:p>
            <a:pPr lvl="1">
              <a:buFont typeface="Wingdings" panose="05000000000000000000" pitchFamily="2" charset="2"/>
              <a:buChar char="q"/>
            </a:pPr>
            <a:r>
              <a:rPr lang="en-US" b="0" i="0" dirty="0">
                <a:solidFill>
                  <a:schemeClr val="tx1"/>
                </a:solidFill>
                <a:effectLst/>
              </a:rPr>
              <a:t>Only cloud or edge solutions are not sufficient (</a:t>
            </a:r>
            <a:r>
              <a:rPr lang="en-US" b="0" dirty="0">
                <a:solidFill>
                  <a:schemeClr val="tx1"/>
                </a:solidFill>
              </a:rPr>
              <a:t>n</a:t>
            </a:r>
            <a:r>
              <a:rPr lang="en-US" i="0" dirty="0">
                <a:solidFill>
                  <a:schemeClr val="tx1"/>
                </a:solidFill>
                <a:effectLst/>
              </a:rPr>
              <a:t>eed for </a:t>
            </a:r>
            <a:r>
              <a:rPr lang="en-US" dirty="0">
                <a:solidFill>
                  <a:schemeClr val="tx1"/>
                </a:solidFill>
              </a:rPr>
              <a:t>i</a:t>
            </a:r>
            <a:r>
              <a:rPr lang="en-US" i="0" dirty="0">
                <a:solidFill>
                  <a:schemeClr val="tx1"/>
                </a:solidFill>
                <a:effectLst/>
              </a:rPr>
              <a:t>ntegrated)</a:t>
            </a:r>
          </a:p>
          <a:p>
            <a:pPr lvl="1">
              <a:buFont typeface="Wingdings" panose="05000000000000000000" pitchFamily="2" charset="2"/>
              <a:buChar char="q"/>
            </a:pPr>
            <a:r>
              <a:rPr lang="en-US" i="0" dirty="0">
                <a:solidFill>
                  <a:schemeClr val="tx1"/>
                </a:solidFill>
                <a:effectLst/>
              </a:rPr>
              <a:t>Lake of queuing theory analysis with reneging in previous works</a:t>
            </a:r>
          </a:p>
          <a:p>
            <a:pPr>
              <a:buFont typeface="Wingdings" panose="05000000000000000000" pitchFamily="2" charset="2"/>
              <a:buChar char="q"/>
            </a:pPr>
            <a:r>
              <a:rPr lang="en-US" dirty="0"/>
              <a:t>Solution approach</a:t>
            </a:r>
          </a:p>
          <a:p>
            <a:pPr lvl="1">
              <a:buFont typeface="Wingdings" panose="05000000000000000000" pitchFamily="2" charset="2"/>
              <a:buChar char="q"/>
            </a:pPr>
            <a:r>
              <a:rPr lang="en-US" dirty="0"/>
              <a:t>Markov queuing system model with reneging analysis</a:t>
            </a:r>
          </a:p>
          <a:p>
            <a:pPr lvl="1">
              <a:buFont typeface="Wingdings" panose="05000000000000000000" pitchFamily="2" charset="2"/>
              <a:buChar char="q"/>
            </a:pPr>
            <a:r>
              <a:rPr lang="en-US" sz="1800" i="0" dirty="0">
                <a:solidFill>
                  <a:srgbClr val="242021"/>
                </a:solidFill>
                <a:effectLst/>
                <a:cs typeface="Arial" panose="020B0604020202020204" pitchFamily="34" charset="0"/>
              </a:rPr>
              <a:t>computational resources allocation method is proposed </a:t>
            </a:r>
          </a:p>
          <a:p>
            <a:pPr lvl="2">
              <a:buFont typeface="Wingdings" panose="05000000000000000000" pitchFamily="2" charset="2"/>
              <a:buChar char="q"/>
            </a:pPr>
            <a:r>
              <a:rPr lang="en-US" dirty="0">
                <a:solidFill>
                  <a:srgbClr val="242021"/>
                </a:solidFill>
                <a:cs typeface="Arial" panose="020B0604020202020204" pitchFamily="34" charset="0"/>
              </a:rPr>
              <a:t>Maximizing specific social welfare (optimization target)</a:t>
            </a:r>
            <a:endParaRPr lang="en-US" dirty="0"/>
          </a:p>
          <a:p>
            <a:pPr lvl="1">
              <a:buFont typeface="Wingdings" panose="05000000000000000000" pitchFamily="2" charset="2"/>
              <a:buChar char="q"/>
            </a:pPr>
            <a:endParaRPr lang="en-US" dirty="0"/>
          </a:p>
        </p:txBody>
      </p:sp>
      <p:sp>
        <p:nvSpPr>
          <p:cNvPr id="4" name="Slide Number Placeholder 3">
            <a:extLst>
              <a:ext uri="{FF2B5EF4-FFF2-40B4-BE49-F238E27FC236}">
                <a16:creationId xmlns:a16="http://schemas.microsoft.com/office/drawing/2014/main" id="{6A00DA41-CE62-45C7-9058-5DAA5D19939A}"/>
              </a:ext>
            </a:extLst>
          </p:cNvPr>
          <p:cNvSpPr>
            <a:spLocks noGrp="1"/>
          </p:cNvSpPr>
          <p:nvPr>
            <p:ph type="sldNum" sz="quarter" idx="12"/>
          </p:nvPr>
        </p:nvSpPr>
        <p:spPr/>
        <p:txBody>
          <a:bodyPr/>
          <a:lstStyle/>
          <a:p>
            <a:fld id="{DC4CAFB8-3EF6-4FAF-BDFA-EA2F8D8834E4}" type="slidenum">
              <a:rPr lang="en-US" smtClean="0"/>
              <a:t>4</a:t>
            </a:fld>
            <a:endParaRPr lang="en-US"/>
          </a:p>
        </p:txBody>
      </p:sp>
      <p:sp>
        <p:nvSpPr>
          <p:cNvPr id="5" name="TextBox 4">
            <a:extLst>
              <a:ext uri="{FF2B5EF4-FFF2-40B4-BE49-F238E27FC236}">
                <a16:creationId xmlns:a16="http://schemas.microsoft.com/office/drawing/2014/main" id="{8BBE9E9C-8FBD-470F-B35A-516BA809049D}"/>
              </a:ext>
            </a:extLst>
          </p:cNvPr>
          <p:cNvSpPr txBox="1"/>
          <p:nvPr/>
        </p:nvSpPr>
        <p:spPr>
          <a:xfrm>
            <a:off x="189571" y="6447755"/>
            <a:ext cx="3579542" cy="369332"/>
          </a:xfrm>
          <a:prstGeom prst="rect">
            <a:avLst/>
          </a:prstGeom>
          <a:noFill/>
        </p:spPr>
        <p:txBody>
          <a:bodyPr wrap="square" rtlCol="0">
            <a:spAutoFit/>
          </a:bodyPr>
          <a:lstStyle/>
          <a:p>
            <a:r>
              <a:rPr lang="en-US" dirty="0">
                <a:solidFill>
                  <a:schemeClr val="bg1"/>
                </a:solidFill>
              </a:rPr>
              <a:t>Mohammad Mahdi Manafi</a:t>
            </a:r>
          </a:p>
        </p:txBody>
      </p:sp>
    </p:spTree>
    <p:extLst>
      <p:ext uri="{BB962C8B-B14F-4D97-AF65-F5344CB8AC3E}">
        <p14:creationId xmlns:p14="http://schemas.microsoft.com/office/powerpoint/2010/main" val="181145167"/>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C6D6575C-5970-4FB1-A4D9-CA638E0A8201}"/>
              </a:ext>
            </a:extLst>
          </p:cNvPr>
          <p:cNvSpPr>
            <a:spLocks noGrp="1"/>
          </p:cNvSpPr>
          <p:nvPr>
            <p:ph type="title"/>
          </p:nvPr>
        </p:nvSpPr>
        <p:spPr/>
        <p:txBody>
          <a:bodyPr/>
          <a:lstStyle/>
          <a:p>
            <a:r>
              <a:rPr lang="en-US" dirty="0"/>
              <a:t>Related works</a:t>
            </a:r>
          </a:p>
        </p:txBody>
      </p:sp>
      <p:graphicFrame>
        <p:nvGraphicFramePr>
          <p:cNvPr id="5" name="Table 5">
            <a:extLst>
              <a:ext uri="{FF2B5EF4-FFF2-40B4-BE49-F238E27FC236}">
                <a16:creationId xmlns:a16="http://schemas.microsoft.com/office/drawing/2014/main" id="{4EA959DC-0EA1-4DBB-8684-230DD5AFE219}"/>
              </a:ext>
            </a:extLst>
          </p:cNvPr>
          <p:cNvGraphicFramePr>
            <a:graphicFrameLocks noGrp="1"/>
          </p:cNvGraphicFramePr>
          <p:nvPr>
            <p:ph idx="1"/>
            <p:extLst>
              <p:ext uri="{D42A27DB-BD31-4B8C-83A1-F6EECF244321}">
                <p14:modId xmlns:p14="http://schemas.microsoft.com/office/powerpoint/2010/main" val="3488129056"/>
              </p:ext>
            </p:extLst>
          </p:nvPr>
        </p:nvGraphicFramePr>
        <p:xfrm>
          <a:off x="1066800" y="2562171"/>
          <a:ext cx="10058399" cy="2558470"/>
        </p:xfrm>
        <a:graphic>
          <a:graphicData uri="http://schemas.openxmlformats.org/drawingml/2006/table">
            <a:tbl>
              <a:tblPr firstRow="1" bandRow="1">
                <a:tableStyleId>{5C22544A-7EE6-4342-B048-85BDC9FD1C3A}</a:tableStyleId>
              </a:tblPr>
              <a:tblGrid>
                <a:gridCol w="1743448">
                  <a:extLst>
                    <a:ext uri="{9D8B030D-6E8A-4147-A177-3AD203B41FA5}">
                      <a16:colId xmlns:a16="http://schemas.microsoft.com/office/drawing/2014/main" val="3490113538"/>
                    </a:ext>
                  </a:extLst>
                </a:gridCol>
                <a:gridCol w="4399093">
                  <a:extLst>
                    <a:ext uri="{9D8B030D-6E8A-4147-A177-3AD203B41FA5}">
                      <a16:colId xmlns:a16="http://schemas.microsoft.com/office/drawing/2014/main" val="1919067676"/>
                    </a:ext>
                  </a:extLst>
                </a:gridCol>
                <a:gridCol w="3915858">
                  <a:extLst>
                    <a:ext uri="{9D8B030D-6E8A-4147-A177-3AD203B41FA5}">
                      <a16:colId xmlns:a16="http://schemas.microsoft.com/office/drawing/2014/main" val="3689227733"/>
                    </a:ext>
                  </a:extLst>
                </a:gridCol>
              </a:tblGrid>
              <a:tr h="396536">
                <a:tc>
                  <a:txBody>
                    <a:bodyPr/>
                    <a:lstStyle/>
                    <a:p>
                      <a:r>
                        <a:rPr lang="en-US" dirty="0"/>
                        <a:t>Reference</a:t>
                      </a:r>
                    </a:p>
                  </a:txBody>
                  <a:tcPr/>
                </a:tc>
                <a:tc>
                  <a:txBody>
                    <a:bodyPr/>
                    <a:lstStyle/>
                    <a:p>
                      <a:r>
                        <a:rPr lang="en-US" dirty="0"/>
                        <a:t>approach</a:t>
                      </a:r>
                    </a:p>
                  </a:txBody>
                  <a:tcPr/>
                </a:tc>
                <a:tc>
                  <a:txBody>
                    <a:bodyPr/>
                    <a:lstStyle/>
                    <a:p>
                      <a:r>
                        <a:rPr lang="en-US" dirty="0"/>
                        <a:t>objectives</a:t>
                      </a:r>
                    </a:p>
                  </a:txBody>
                  <a:tcPr/>
                </a:tc>
                <a:extLst>
                  <a:ext uri="{0D108BD9-81ED-4DB2-BD59-A6C34878D82A}">
                    <a16:rowId xmlns:a16="http://schemas.microsoft.com/office/drawing/2014/main" val="423529640"/>
                  </a:ext>
                </a:extLst>
              </a:tr>
              <a:tr h="396536">
                <a:tc>
                  <a:txBody>
                    <a:bodyPr/>
                    <a:lstStyle/>
                    <a:p>
                      <a:pPr algn="ctr"/>
                      <a:r>
                        <a:rPr lang="en-US" dirty="0"/>
                        <a:t>[14]</a:t>
                      </a:r>
                    </a:p>
                  </a:txBody>
                  <a:tcPr/>
                </a:tc>
                <a:tc>
                  <a:txBody>
                    <a:bodyPr/>
                    <a:lstStyle/>
                    <a:p>
                      <a:pPr algn="ctr"/>
                      <a:r>
                        <a:rPr lang="en-US" dirty="0"/>
                        <a:t>DRL</a:t>
                      </a:r>
                    </a:p>
                  </a:txBody>
                  <a:tcPr/>
                </a:tc>
                <a:tc>
                  <a:txBody>
                    <a:bodyPr/>
                    <a:lstStyle/>
                    <a:p>
                      <a:pPr algn="ctr"/>
                      <a:r>
                        <a:rPr lang="en-US" dirty="0"/>
                        <a:t>Minimize service time</a:t>
                      </a:r>
                    </a:p>
                  </a:txBody>
                  <a:tcPr/>
                </a:tc>
                <a:extLst>
                  <a:ext uri="{0D108BD9-81ED-4DB2-BD59-A6C34878D82A}">
                    <a16:rowId xmlns:a16="http://schemas.microsoft.com/office/drawing/2014/main" val="3674670553"/>
                  </a:ext>
                </a:extLst>
              </a:tr>
              <a:tr h="684431">
                <a:tc>
                  <a:txBody>
                    <a:bodyPr/>
                    <a:lstStyle/>
                    <a:p>
                      <a:pPr algn="ctr"/>
                      <a:r>
                        <a:rPr lang="en-US" dirty="0"/>
                        <a:t>[18]</a:t>
                      </a:r>
                    </a:p>
                  </a:txBody>
                  <a:tcPr/>
                </a:tc>
                <a:tc>
                  <a:txBody>
                    <a:bodyPr/>
                    <a:lstStyle/>
                    <a:p>
                      <a:pPr algn="ctr"/>
                      <a:r>
                        <a:rPr lang="en-US" dirty="0"/>
                        <a:t>Game theory</a:t>
                      </a:r>
                    </a:p>
                  </a:txBody>
                  <a:tcPr/>
                </a:tc>
                <a:tc>
                  <a:txBody>
                    <a:bodyPr/>
                    <a:lstStyle/>
                    <a:p>
                      <a:pPr algn="ctr"/>
                      <a:r>
                        <a:rPr lang="en-US" dirty="0"/>
                        <a:t>Resource allocation and offloading </a:t>
                      </a:r>
                    </a:p>
                  </a:txBody>
                  <a:tcPr/>
                </a:tc>
                <a:extLst>
                  <a:ext uri="{0D108BD9-81ED-4DB2-BD59-A6C34878D82A}">
                    <a16:rowId xmlns:a16="http://schemas.microsoft.com/office/drawing/2014/main" val="2051718037"/>
                  </a:ext>
                </a:extLst>
              </a:tr>
              <a:tr h="684431">
                <a:tc>
                  <a:txBody>
                    <a:bodyPr/>
                    <a:lstStyle/>
                    <a:p>
                      <a:pPr algn="ctr"/>
                      <a:r>
                        <a:rPr lang="en-US" dirty="0"/>
                        <a:t>[32]</a:t>
                      </a:r>
                    </a:p>
                  </a:txBody>
                  <a:tcPr/>
                </a:tc>
                <a:tc>
                  <a:txBody>
                    <a:bodyPr/>
                    <a:lstStyle/>
                    <a:p>
                      <a:pPr algn="ctr"/>
                      <a:r>
                        <a:rPr lang="en-US" dirty="0"/>
                        <a:t>M/G/infinite</a:t>
                      </a:r>
                    </a:p>
                  </a:txBody>
                  <a:tcPr/>
                </a:tc>
                <a:tc>
                  <a:txBody>
                    <a:bodyPr/>
                    <a:lstStyle/>
                    <a:p>
                      <a:pPr algn="ctr"/>
                      <a:r>
                        <a:rPr lang="en-US" dirty="0"/>
                        <a:t>Optimize number of processors</a:t>
                      </a:r>
                    </a:p>
                  </a:txBody>
                  <a:tcPr/>
                </a:tc>
                <a:extLst>
                  <a:ext uri="{0D108BD9-81ED-4DB2-BD59-A6C34878D82A}">
                    <a16:rowId xmlns:a16="http://schemas.microsoft.com/office/drawing/2014/main" val="594550678"/>
                  </a:ext>
                </a:extLst>
              </a:tr>
              <a:tr h="396536">
                <a:tc>
                  <a:txBody>
                    <a:bodyPr/>
                    <a:lstStyle/>
                    <a:p>
                      <a:pPr algn="ctr"/>
                      <a:r>
                        <a:rPr lang="en-US" dirty="0"/>
                        <a:t>[34]</a:t>
                      </a:r>
                    </a:p>
                  </a:txBody>
                  <a:tcPr/>
                </a:tc>
                <a:tc>
                  <a:txBody>
                    <a:bodyPr/>
                    <a:lstStyle/>
                    <a:p>
                      <a:pPr algn="ctr"/>
                      <a:r>
                        <a:rPr lang="en-US" dirty="0"/>
                        <a:t>Algorithm</a:t>
                      </a:r>
                    </a:p>
                  </a:txBody>
                  <a:tcP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lang="en-US" dirty="0"/>
                        <a:t>Energy and performance</a:t>
                      </a:r>
                    </a:p>
                  </a:txBody>
                  <a:tcPr/>
                </a:tc>
                <a:extLst>
                  <a:ext uri="{0D108BD9-81ED-4DB2-BD59-A6C34878D82A}">
                    <a16:rowId xmlns:a16="http://schemas.microsoft.com/office/drawing/2014/main" val="2314572934"/>
                  </a:ext>
                </a:extLst>
              </a:tr>
            </a:tbl>
          </a:graphicData>
        </a:graphic>
      </p:graphicFrame>
      <p:sp>
        <p:nvSpPr>
          <p:cNvPr id="4" name="Slide Number Placeholder 3">
            <a:extLst>
              <a:ext uri="{FF2B5EF4-FFF2-40B4-BE49-F238E27FC236}">
                <a16:creationId xmlns:a16="http://schemas.microsoft.com/office/drawing/2014/main" id="{CD963FFC-5F08-40FF-99E3-341181E9462B}"/>
              </a:ext>
            </a:extLst>
          </p:cNvPr>
          <p:cNvSpPr>
            <a:spLocks noGrp="1"/>
          </p:cNvSpPr>
          <p:nvPr>
            <p:ph type="sldNum" sz="quarter" idx="12"/>
          </p:nvPr>
        </p:nvSpPr>
        <p:spPr/>
        <p:txBody>
          <a:bodyPr/>
          <a:lstStyle/>
          <a:p>
            <a:fld id="{DC4CAFB8-3EF6-4FAF-BDFA-EA2F8D8834E4}" type="slidenum">
              <a:rPr lang="en-US" smtClean="0"/>
              <a:t>5</a:t>
            </a:fld>
            <a:endParaRPr lang="en-US"/>
          </a:p>
        </p:txBody>
      </p:sp>
      <p:sp>
        <p:nvSpPr>
          <p:cNvPr id="6" name="TextBox 5">
            <a:extLst>
              <a:ext uri="{FF2B5EF4-FFF2-40B4-BE49-F238E27FC236}">
                <a16:creationId xmlns:a16="http://schemas.microsoft.com/office/drawing/2014/main" id="{F86AAD6D-4E92-4851-A86F-A6924A7E6C43}"/>
              </a:ext>
            </a:extLst>
          </p:cNvPr>
          <p:cNvSpPr txBox="1"/>
          <p:nvPr/>
        </p:nvSpPr>
        <p:spPr>
          <a:xfrm>
            <a:off x="189571" y="6447755"/>
            <a:ext cx="3579542" cy="369332"/>
          </a:xfrm>
          <a:prstGeom prst="rect">
            <a:avLst/>
          </a:prstGeom>
          <a:noFill/>
        </p:spPr>
        <p:txBody>
          <a:bodyPr wrap="square" rtlCol="0">
            <a:spAutoFit/>
          </a:bodyPr>
          <a:lstStyle/>
          <a:p>
            <a:r>
              <a:rPr lang="en-US" dirty="0">
                <a:solidFill>
                  <a:schemeClr val="bg1"/>
                </a:solidFill>
              </a:rPr>
              <a:t>Mohammad Mahdi Manafi</a:t>
            </a:r>
          </a:p>
        </p:txBody>
      </p:sp>
    </p:spTree>
    <p:extLst>
      <p:ext uri="{BB962C8B-B14F-4D97-AF65-F5344CB8AC3E}">
        <p14:creationId xmlns:p14="http://schemas.microsoft.com/office/powerpoint/2010/main" val="1079940117"/>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C6D6575C-5970-4FB1-A4D9-CA638E0A8201}"/>
              </a:ext>
            </a:extLst>
          </p:cNvPr>
          <p:cNvSpPr>
            <a:spLocks noGrp="1"/>
          </p:cNvSpPr>
          <p:nvPr>
            <p:ph type="title"/>
          </p:nvPr>
        </p:nvSpPr>
        <p:spPr/>
        <p:txBody>
          <a:bodyPr/>
          <a:lstStyle/>
          <a:p>
            <a:r>
              <a:rPr lang="en-US" dirty="0"/>
              <a:t>Related works</a:t>
            </a:r>
          </a:p>
        </p:txBody>
      </p:sp>
      <p:graphicFrame>
        <p:nvGraphicFramePr>
          <p:cNvPr id="5" name="Table 5">
            <a:extLst>
              <a:ext uri="{FF2B5EF4-FFF2-40B4-BE49-F238E27FC236}">
                <a16:creationId xmlns:a16="http://schemas.microsoft.com/office/drawing/2014/main" id="{4EA959DC-0EA1-4DBB-8684-230DD5AFE219}"/>
              </a:ext>
            </a:extLst>
          </p:cNvPr>
          <p:cNvGraphicFramePr>
            <a:graphicFrameLocks noGrp="1"/>
          </p:cNvGraphicFramePr>
          <p:nvPr>
            <p:ph idx="1"/>
            <p:extLst>
              <p:ext uri="{D42A27DB-BD31-4B8C-83A1-F6EECF244321}">
                <p14:modId xmlns:p14="http://schemas.microsoft.com/office/powerpoint/2010/main" val="2761795789"/>
              </p:ext>
            </p:extLst>
          </p:nvPr>
        </p:nvGraphicFramePr>
        <p:xfrm>
          <a:off x="1097280" y="2540837"/>
          <a:ext cx="10058400" cy="2734953"/>
        </p:xfrm>
        <a:graphic>
          <a:graphicData uri="http://schemas.openxmlformats.org/drawingml/2006/table">
            <a:tbl>
              <a:tblPr firstRow="1" bandRow="1">
                <a:tableStyleId>{5C22544A-7EE6-4342-B048-85BDC9FD1C3A}</a:tableStyleId>
              </a:tblPr>
              <a:tblGrid>
                <a:gridCol w="3071534">
                  <a:extLst>
                    <a:ext uri="{9D8B030D-6E8A-4147-A177-3AD203B41FA5}">
                      <a16:colId xmlns:a16="http://schemas.microsoft.com/office/drawing/2014/main" val="3490113538"/>
                    </a:ext>
                  </a:extLst>
                </a:gridCol>
                <a:gridCol w="3141153">
                  <a:extLst>
                    <a:ext uri="{9D8B030D-6E8A-4147-A177-3AD203B41FA5}">
                      <a16:colId xmlns:a16="http://schemas.microsoft.com/office/drawing/2014/main" val="1919067676"/>
                    </a:ext>
                  </a:extLst>
                </a:gridCol>
                <a:gridCol w="3845713">
                  <a:extLst>
                    <a:ext uri="{9D8B030D-6E8A-4147-A177-3AD203B41FA5}">
                      <a16:colId xmlns:a16="http://schemas.microsoft.com/office/drawing/2014/main" val="3689227733"/>
                    </a:ext>
                  </a:extLst>
                </a:gridCol>
              </a:tblGrid>
              <a:tr h="484931">
                <a:tc>
                  <a:txBody>
                    <a:bodyPr/>
                    <a:lstStyle/>
                    <a:p>
                      <a:r>
                        <a:rPr lang="en-US" dirty="0"/>
                        <a:t>Reference</a:t>
                      </a:r>
                    </a:p>
                  </a:txBody>
                  <a:tcPr/>
                </a:tc>
                <a:tc>
                  <a:txBody>
                    <a:bodyPr/>
                    <a:lstStyle/>
                    <a:p>
                      <a:r>
                        <a:rPr lang="en-US" dirty="0"/>
                        <a:t>approach</a:t>
                      </a:r>
                    </a:p>
                  </a:txBody>
                  <a:tcPr/>
                </a:tc>
                <a:tc>
                  <a:txBody>
                    <a:bodyPr/>
                    <a:lstStyle/>
                    <a:p>
                      <a:r>
                        <a:rPr lang="en-US" dirty="0"/>
                        <a:t>objectives</a:t>
                      </a:r>
                    </a:p>
                  </a:txBody>
                  <a:tcPr/>
                </a:tc>
                <a:extLst>
                  <a:ext uri="{0D108BD9-81ED-4DB2-BD59-A6C34878D82A}">
                    <a16:rowId xmlns:a16="http://schemas.microsoft.com/office/drawing/2014/main" val="423529640"/>
                  </a:ext>
                </a:extLst>
              </a:tr>
              <a:tr h="484931">
                <a:tc>
                  <a:txBody>
                    <a:bodyPr/>
                    <a:lstStyle/>
                    <a:p>
                      <a:pPr algn="ctr"/>
                      <a:r>
                        <a:rPr lang="en-US" dirty="0"/>
                        <a:t>[35]</a:t>
                      </a:r>
                    </a:p>
                  </a:txBody>
                  <a:tcPr/>
                </a:tc>
                <a:tc>
                  <a:txBody>
                    <a:bodyPr/>
                    <a:lstStyle/>
                    <a:p>
                      <a:pPr algn="ctr"/>
                      <a:r>
                        <a:rPr lang="en-US" dirty="0"/>
                        <a:t>Algorithm </a:t>
                      </a:r>
                    </a:p>
                  </a:txBody>
                  <a:tcPr/>
                </a:tc>
                <a:tc>
                  <a:txBody>
                    <a:bodyPr/>
                    <a:lstStyle/>
                    <a:p>
                      <a:pPr algn="ctr"/>
                      <a:r>
                        <a:rPr lang="en-US" dirty="0"/>
                        <a:t>Delay and performance</a:t>
                      </a:r>
                    </a:p>
                  </a:txBody>
                  <a:tcPr/>
                </a:tc>
                <a:extLst>
                  <a:ext uri="{0D108BD9-81ED-4DB2-BD59-A6C34878D82A}">
                    <a16:rowId xmlns:a16="http://schemas.microsoft.com/office/drawing/2014/main" val="3674670553"/>
                  </a:ext>
                </a:extLst>
              </a:tr>
              <a:tr h="484931">
                <a:tc>
                  <a:txBody>
                    <a:bodyPr/>
                    <a:lstStyle/>
                    <a:p>
                      <a:pPr algn="ctr"/>
                      <a:r>
                        <a:rPr lang="en-US" dirty="0"/>
                        <a:t>[36]</a:t>
                      </a:r>
                    </a:p>
                  </a:txBody>
                  <a:tcPr/>
                </a:tc>
                <a:tc>
                  <a:txBody>
                    <a:bodyPr/>
                    <a:lstStyle/>
                    <a:p>
                      <a:pPr algn="ctr"/>
                      <a:r>
                        <a:rPr lang="en-US" dirty="0"/>
                        <a:t>Queuing Analysis</a:t>
                      </a:r>
                    </a:p>
                  </a:txBody>
                  <a:tcPr/>
                </a:tc>
                <a:tc>
                  <a:txBody>
                    <a:bodyPr/>
                    <a:lstStyle/>
                    <a:p>
                      <a:pPr algn="ctr"/>
                      <a:r>
                        <a:rPr lang="en-US" dirty="0"/>
                        <a:t>Availability and performance</a:t>
                      </a:r>
                    </a:p>
                  </a:txBody>
                  <a:tcPr/>
                </a:tc>
                <a:extLst>
                  <a:ext uri="{0D108BD9-81ED-4DB2-BD59-A6C34878D82A}">
                    <a16:rowId xmlns:a16="http://schemas.microsoft.com/office/drawing/2014/main" val="2051718037"/>
                  </a:ext>
                </a:extLst>
              </a:tr>
              <a:tr h="484931">
                <a:tc>
                  <a:txBody>
                    <a:bodyPr/>
                    <a:lstStyle/>
                    <a:p>
                      <a:pPr algn="ctr"/>
                      <a:r>
                        <a:rPr lang="en-US" dirty="0"/>
                        <a:t>[39]</a:t>
                      </a:r>
                    </a:p>
                  </a:txBody>
                  <a:tcPr/>
                </a:tc>
                <a:tc>
                  <a:txBody>
                    <a:bodyPr/>
                    <a:lstStyle/>
                    <a:p>
                      <a:pPr algn="ctr"/>
                      <a:r>
                        <a:rPr lang="en-US" dirty="0"/>
                        <a:t>M/M/c/K</a:t>
                      </a:r>
                    </a:p>
                  </a:txBody>
                  <a:tcPr/>
                </a:tc>
                <a:tc>
                  <a:txBody>
                    <a:bodyPr/>
                    <a:lstStyle/>
                    <a:p>
                      <a:pPr algn="ctr"/>
                      <a:r>
                        <a:rPr lang="en-US" dirty="0"/>
                        <a:t>AVG of service time, performance, sharing resources</a:t>
                      </a:r>
                    </a:p>
                  </a:txBody>
                  <a:tcPr/>
                </a:tc>
                <a:extLst>
                  <a:ext uri="{0D108BD9-81ED-4DB2-BD59-A6C34878D82A}">
                    <a16:rowId xmlns:a16="http://schemas.microsoft.com/office/drawing/2014/main" val="594550678"/>
                  </a:ext>
                </a:extLst>
              </a:tr>
              <a:tr h="484931">
                <a:tc>
                  <a:txBody>
                    <a:bodyPr/>
                    <a:lstStyle/>
                    <a:p>
                      <a:pPr algn="ctr"/>
                      <a:r>
                        <a:rPr lang="en-US" dirty="0"/>
                        <a:t>[30]</a:t>
                      </a:r>
                    </a:p>
                  </a:txBody>
                  <a:tcPr/>
                </a:tc>
                <a:tc>
                  <a:txBody>
                    <a:bodyPr/>
                    <a:lstStyle/>
                    <a:p>
                      <a:pPr algn="ctr"/>
                      <a:r>
                        <a:rPr lang="en-US" dirty="0"/>
                        <a:t>Fuzzy logic</a:t>
                      </a:r>
                    </a:p>
                  </a:txBody>
                  <a:tcPr/>
                </a:tc>
                <a:tc>
                  <a:txBody>
                    <a:bodyPr/>
                    <a:lstStyle/>
                    <a:p>
                      <a:pPr algn="ctr"/>
                      <a:r>
                        <a:rPr lang="en-US" dirty="0"/>
                        <a:t>Number of processors and maintaining costs</a:t>
                      </a:r>
                    </a:p>
                  </a:txBody>
                  <a:tcPr/>
                </a:tc>
                <a:extLst>
                  <a:ext uri="{0D108BD9-81ED-4DB2-BD59-A6C34878D82A}">
                    <a16:rowId xmlns:a16="http://schemas.microsoft.com/office/drawing/2014/main" val="2314572934"/>
                  </a:ext>
                </a:extLst>
              </a:tr>
            </a:tbl>
          </a:graphicData>
        </a:graphic>
      </p:graphicFrame>
      <p:sp>
        <p:nvSpPr>
          <p:cNvPr id="4" name="Slide Number Placeholder 3">
            <a:extLst>
              <a:ext uri="{FF2B5EF4-FFF2-40B4-BE49-F238E27FC236}">
                <a16:creationId xmlns:a16="http://schemas.microsoft.com/office/drawing/2014/main" id="{CD963FFC-5F08-40FF-99E3-341181E9462B}"/>
              </a:ext>
            </a:extLst>
          </p:cNvPr>
          <p:cNvSpPr>
            <a:spLocks noGrp="1"/>
          </p:cNvSpPr>
          <p:nvPr>
            <p:ph type="sldNum" sz="quarter" idx="12"/>
          </p:nvPr>
        </p:nvSpPr>
        <p:spPr/>
        <p:txBody>
          <a:bodyPr/>
          <a:lstStyle/>
          <a:p>
            <a:fld id="{DC4CAFB8-3EF6-4FAF-BDFA-EA2F8D8834E4}" type="slidenum">
              <a:rPr lang="en-US" smtClean="0"/>
              <a:t>6</a:t>
            </a:fld>
            <a:endParaRPr lang="en-US"/>
          </a:p>
        </p:txBody>
      </p:sp>
      <p:sp>
        <p:nvSpPr>
          <p:cNvPr id="6" name="TextBox 5">
            <a:extLst>
              <a:ext uri="{FF2B5EF4-FFF2-40B4-BE49-F238E27FC236}">
                <a16:creationId xmlns:a16="http://schemas.microsoft.com/office/drawing/2014/main" id="{09A412F9-E199-478C-991A-6104AB3B3C80}"/>
              </a:ext>
            </a:extLst>
          </p:cNvPr>
          <p:cNvSpPr txBox="1"/>
          <p:nvPr/>
        </p:nvSpPr>
        <p:spPr>
          <a:xfrm>
            <a:off x="189571" y="6447755"/>
            <a:ext cx="3579542" cy="369332"/>
          </a:xfrm>
          <a:prstGeom prst="rect">
            <a:avLst/>
          </a:prstGeom>
          <a:noFill/>
        </p:spPr>
        <p:txBody>
          <a:bodyPr wrap="square" rtlCol="0">
            <a:spAutoFit/>
          </a:bodyPr>
          <a:lstStyle/>
          <a:p>
            <a:r>
              <a:rPr lang="en-US" dirty="0">
                <a:solidFill>
                  <a:schemeClr val="bg1"/>
                </a:solidFill>
              </a:rPr>
              <a:t>Mohammad Mahdi Manafi</a:t>
            </a:r>
          </a:p>
        </p:txBody>
      </p:sp>
    </p:spTree>
    <p:extLst>
      <p:ext uri="{BB962C8B-B14F-4D97-AF65-F5344CB8AC3E}">
        <p14:creationId xmlns:p14="http://schemas.microsoft.com/office/powerpoint/2010/main" val="742485012"/>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Title 4">
            <a:extLst>
              <a:ext uri="{FF2B5EF4-FFF2-40B4-BE49-F238E27FC236}">
                <a16:creationId xmlns:a16="http://schemas.microsoft.com/office/drawing/2014/main" id="{382873DB-1742-431C-B2B7-D777A53637EF}"/>
              </a:ext>
            </a:extLst>
          </p:cNvPr>
          <p:cNvSpPr>
            <a:spLocks noGrp="1"/>
          </p:cNvSpPr>
          <p:nvPr>
            <p:ph type="title"/>
          </p:nvPr>
        </p:nvSpPr>
        <p:spPr/>
        <p:txBody>
          <a:bodyPr/>
          <a:lstStyle/>
          <a:p>
            <a:r>
              <a:rPr lang="en-US" dirty="0"/>
              <a:t>System model</a:t>
            </a:r>
          </a:p>
        </p:txBody>
      </p:sp>
      <p:sp>
        <p:nvSpPr>
          <p:cNvPr id="6" name="Text Placeholder 5">
            <a:extLst>
              <a:ext uri="{FF2B5EF4-FFF2-40B4-BE49-F238E27FC236}">
                <a16:creationId xmlns:a16="http://schemas.microsoft.com/office/drawing/2014/main" id="{733AFBDA-21EC-4D25-AB7A-0FC76D2ACD9D}"/>
              </a:ext>
            </a:extLst>
          </p:cNvPr>
          <p:cNvSpPr>
            <a:spLocks noGrp="1"/>
          </p:cNvSpPr>
          <p:nvPr>
            <p:ph type="body" idx="1"/>
          </p:nvPr>
        </p:nvSpPr>
        <p:spPr/>
        <p:txBody>
          <a:bodyPr/>
          <a:lstStyle/>
          <a:p>
            <a:endParaRPr lang="en-US"/>
          </a:p>
        </p:txBody>
      </p:sp>
    </p:spTree>
    <p:extLst>
      <p:ext uri="{BB962C8B-B14F-4D97-AF65-F5344CB8AC3E}">
        <p14:creationId xmlns:p14="http://schemas.microsoft.com/office/powerpoint/2010/main" val="1898489173"/>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877D41A-B671-4923-8796-A1E5A2F7E9B3}"/>
              </a:ext>
            </a:extLst>
          </p:cNvPr>
          <p:cNvSpPr>
            <a:spLocks noGrp="1"/>
          </p:cNvSpPr>
          <p:nvPr>
            <p:ph type="title"/>
          </p:nvPr>
        </p:nvSpPr>
        <p:spPr/>
        <p:txBody>
          <a:bodyPr/>
          <a:lstStyle/>
          <a:p>
            <a:r>
              <a:rPr lang="en-US" dirty="0"/>
              <a:t>System model</a:t>
            </a:r>
          </a:p>
        </p:txBody>
      </p:sp>
      <p:sp>
        <p:nvSpPr>
          <p:cNvPr id="5" name="Content Placeholder 4">
            <a:extLst>
              <a:ext uri="{FF2B5EF4-FFF2-40B4-BE49-F238E27FC236}">
                <a16:creationId xmlns:a16="http://schemas.microsoft.com/office/drawing/2014/main" id="{3B059DBB-495F-450F-97AE-54AF601BC531}"/>
              </a:ext>
            </a:extLst>
          </p:cNvPr>
          <p:cNvSpPr>
            <a:spLocks noGrp="1"/>
          </p:cNvSpPr>
          <p:nvPr>
            <p:ph sz="half" idx="1"/>
          </p:nvPr>
        </p:nvSpPr>
        <p:spPr/>
        <p:txBody>
          <a:bodyPr>
            <a:normAutofit/>
          </a:bodyPr>
          <a:lstStyle/>
          <a:p>
            <a:pPr>
              <a:buFont typeface="Wingdings" panose="05000000000000000000" pitchFamily="2" charset="2"/>
              <a:buChar char="q"/>
            </a:pPr>
            <a:r>
              <a:rPr lang="en-US" dirty="0"/>
              <a:t>System nodes</a:t>
            </a:r>
          </a:p>
          <a:p>
            <a:pPr lvl="1">
              <a:buFont typeface="Wingdings" panose="05000000000000000000" pitchFamily="2" charset="2"/>
              <a:buChar char="q"/>
            </a:pPr>
            <a:r>
              <a:rPr lang="en-US" dirty="0"/>
              <a:t>Cloud, FCN, BS, ECN, mobile users (MU)</a:t>
            </a:r>
          </a:p>
          <a:p>
            <a:pPr>
              <a:buFont typeface="Wingdings" panose="05000000000000000000" pitchFamily="2" charset="2"/>
              <a:buChar char="q"/>
            </a:pPr>
            <a:r>
              <a:rPr lang="en-US" dirty="0"/>
              <a:t>Edge computing (ECN), Fog computing (FCN)</a:t>
            </a:r>
          </a:p>
          <a:p>
            <a:pPr lvl="1">
              <a:buFont typeface="Wingdings" panose="05000000000000000000" pitchFamily="2" charset="2"/>
              <a:buChar char="q"/>
            </a:pPr>
            <a:r>
              <a:rPr lang="en-US" dirty="0"/>
              <a:t>Markov queuing system with finite capacity</a:t>
            </a:r>
          </a:p>
          <a:p>
            <a:pPr>
              <a:buFont typeface="Wingdings" panose="05000000000000000000" pitchFamily="2" charset="2"/>
              <a:buChar char="q"/>
            </a:pPr>
            <a:r>
              <a:rPr lang="en-US" dirty="0"/>
              <a:t>Cloud does not reject any tasks (reneging)</a:t>
            </a:r>
          </a:p>
          <a:p>
            <a:pPr lvl="1">
              <a:buFont typeface="Wingdings" panose="05000000000000000000" pitchFamily="2" charset="2"/>
              <a:buChar char="q"/>
            </a:pPr>
            <a:r>
              <a:rPr lang="en-US" dirty="0"/>
              <a:t>Reneging due expiration of task deadline</a:t>
            </a:r>
          </a:p>
          <a:p>
            <a:pPr>
              <a:buFont typeface="Wingdings" panose="05000000000000000000" pitchFamily="2" charset="2"/>
              <a:buChar char="q"/>
            </a:pPr>
            <a:r>
              <a:rPr lang="en-US" dirty="0"/>
              <a:t>Heterogenous Resources</a:t>
            </a:r>
          </a:p>
          <a:p>
            <a:pPr>
              <a:buFont typeface="Wingdings" panose="05000000000000000000" pitchFamily="2" charset="2"/>
              <a:buChar char="q"/>
            </a:pPr>
            <a:r>
              <a:rPr lang="en-US" dirty="0"/>
              <a:t>BS (5G)</a:t>
            </a:r>
          </a:p>
          <a:p>
            <a:pPr lvl="1">
              <a:buFont typeface="Wingdings" panose="05000000000000000000" pitchFamily="2" charset="2"/>
              <a:buChar char="q"/>
            </a:pPr>
            <a:r>
              <a:rPr lang="en-US" dirty="0"/>
              <a:t>Reliable , Low-latency, high speed</a:t>
            </a:r>
          </a:p>
        </p:txBody>
      </p:sp>
      <mc:AlternateContent xmlns:mc="http://schemas.openxmlformats.org/markup-compatibility/2006" xmlns:a14="http://schemas.microsoft.com/office/drawing/2010/main">
        <mc:Choice Requires="a14">
          <p:sp>
            <p:nvSpPr>
              <p:cNvPr id="6" name="Content Placeholder 5">
                <a:extLst>
                  <a:ext uri="{FF2B5EF4-FFF2-40B4-BE49-F238E27FC236}">
                    <a16:creationId xmlns:a16="http://schemas.microsoft.com/office/drawing/2014/main" id="{EBFD7EEC-C25B-4A6D-AC06-2FF77DAF6D75}"/>
                  </a:ext>
                </a:extLst>
              </p:cNvPr>
              <p:cNvSpPr>
                <a:spLocks noGrp="1"/>
              </p:cNvSpPr>
              <p:nvPr>
                <p:ph sz="half" idx="2"/>
              </p:nvPr>
            </p:nvSpPr>
            <p:spPr>
              <a:xfrm>
                <a:off x="6217920" y="1845735"/>
                <a:ext cx="4937760" cy="4398948"/>
              </a:xfrm>
            </p:spPr>
            <p:txBody>
              <a:bodyPr>
                <a:normAutofit/>
              </a:bodyPr>
              <a:lstStyle/>
              <a:p>
                <a:pPr>
                  <a:buFont typeface="Wingdings" panose="05000000000000000000" pitchFamily="2" charset="2"/>
                  <a:buChar char="q"/>
                </a:pPr>
                <a:r>
                  <a:rPr lang="en-US" dirty="0"/>
                  <a:t>MU is not in first BS</a:t>
                </a:r>
              </a:p>
              <a:p>
                <a:pPr lvl="1">
                  <a:buFont typeface="Wingdings" panose="05000000000000000000" pitchFamily="2" charset="2"/>
                  <a:buChar char="q"/>
                </a:pPr>
                <a:r>
                  <a:rPr lang="en-US" dirty="0"/>
                  <a:t>MU moves to next BS (relay role)</a:t>
                </a:r>
              </a:p>
              <a:p>
                <a:pPr lvl="1">
                  <a:buFont typeface="Wingdings" panose="05000000000000000000" pitchFamily="2" charset="2"/>
                  <a:buChar char="q"/>
                </a:pPr>
                <a:r>
                  <a:rPr lang="en-US" dirty="0"/>
                  <a:t>Handover procedure occur</a:t>
                </a:r>
              </a:p>
              <a:p>
                <a:pPr lvl="1">
                  <a:buFont typeface="Wingdings" panose="05000000000000000000" pitchFamily="2" charset="2"/>
                  <a:buChar char="q"/>
                </a:pPr>
                <a:r>
                  <a:rPr lang="en-US" dirty="0"/>
                  <a:t>But task being process in first BS</a:t>
                </a:r>
              </a:p>
              <a:p>
                <a:pPr>
                  <a:buFont typeface="Wingdings" panose="05000000000000000000" pitchFamily="2" charset="2"/>
                  <a:buChar char="q"/>
                </a:pPr>
                <a:r>
                  <a:rPr lang="en-US" dirty="0"/>
                  <a:t>Tasks arrival Procedure (at ECN)</a:t>
                </a:r>
              </a:p>
              <a:p>
                <a:pPr lvl="1">
                  <a:buFont typeface="Wingdings" panose="05000000000000000000" pitchFamily="2" charset="2"/>
                  <a:buChar char="q"/>
                </a:pPr>
                <a:r>
                  <a:rPr lang="en-US" dirty="0"/>
                  <a:t>Independent and Identically Distributed</a:t>
                </a:r>
              </a:p>
              <a:p>
                <a:pPr lvl="1">
                  <a:buFont typeface="Wingdings" panose="05000000000000000000" pitchFamily="2" charset="2"/>
                  <a:buChar char="q"/>
                </a:pPr>
                <a:r>
                  <a:rPr lang="en-US" dirty="0"/>
                  <a:t>Poisson Process with mean arrival rate </a:t>
                </a:r>
                <a14:m>
                  <m:oMath xmlns:m="http://schemas.openxmlformats.org/officeDocument/2006/math">
                    <m:r>
                      <m:rPr>
                        <m:sty m:val="p"/>
                      </m:rPr>
                      <a:rPr lang="el-GR" i="1" smtClean="0">
                        <a:latin typeface="Cambria Math" panose="02040503050406030204" pitchFamily="18" charset="0"/>
                        <a:ea typeface="Cambria Math" panose="02040503050406030204" pitchFamily="18" charset="0"/>
                      </a:rPr>
                      <m:t>Λ</m:t>
                    </m:r>
                  </m:oMath>
                </a14:m>
                <a:endParaRPr lang="en-US" dirty="0"/>
              </a:p>
              <a:p>
                <a:pPr>
                  <a:buFont typeface="Wingdings" panose="05000000000000000000" pitchFamily="2" charset="2"/>
                  <a:buChar char="q"/>
                </a:pPr>
                <a:r>
                  <a:rPr lang="en-US" dirty="0"/>
                  <a:t>Task acceptance conditions</a:t>
                </a:r>
              </a:p>
              <a:p>
                <a:pPr lvl="1">
                  <a:buFont typeface="Wingdings" panose="05000000000000000000" pitchFamily="2" charset="2"/>
                  <a:buChar char="q"/>
                </a:pPr>
                <a:r>
                  <a:rPr lang="en-US" sz="1800" b="0" i="0" dirty="0">
                    <a:solidFill>
                      <a:srgbClr val="242021"/>
                    </a:solidFill>
                    <a:effectLst/>
                  </a:rPr>
                  <a:t>ECN With high probability can complete before deadline, </a:t>
                </a:r>
                <a:r>
                  <a:rPr lang="en-US" dirty="0"/>
                  <a:t>O.W redirects to FCN</a:t>
                </a:r>
              </a:p>
              <a:p>
                <a:pPr lvl="1">
                  <a:buFont typeface="Wingdings" panose="05000000000000000000" pitchFamily="2" charset="2"/>
                  <a:buChar char="q"/>
                </a:pPr>
                <a:r>
                  <a:rPr lang="en-US" dirty="0">
                    <a:solidFill>
                      <a:srgbClr val="242021"/>
                    </a:solidFill>
                  </a:rPr>
                  <a:t>F</a:t>
                </a:r>
                <a:r>
                  <a:rPr lang="en-US" sz="1800" b="0" i="0" dirty="0">
                    <a:solidFill>
                      <a:srgbClr val="242021"/>
                    </a:solidFill>
                    <a:effectLst/>
                  </a:rPr>
                  <a:t>CN With high probability can complete before deadline, </a:t>
                </a:r>
                <a:r>
                  <a:rPr lang="en-US" dirty="0"/>
                  <a:t>O.W redirects to cloud</a:t>
                </a:r>
              </a:p>
              <a:p>
                <a:pPr lvl="1">
                  <a:buFont typeface="Wingdings" panose="05000000000000000000" pitchFamily="2" charset="2"/>
                  <a:buChar char="q"/>
                </a:pPr>
                <a:r>
                  <a:rPr lang="en-US" dirty="0"/>
                  <a:t>Buffer has capacity</a:t>
                </a:r>
              </a:p>
            </p:txBody>
          </p:sp>
        </mc:Choice>
        <mc:Fallback xmlns="">
          <p:sp>
            <p:nvSpPr>
              <p:cNvPr id="6" name="Content Placeholder 5">
                <a:extLst>
                  <a:ext uri="{FF2B5EF4-FFF2-40B4-BE49-F238E27FC236}">
                    <a16:creationId xmlns:a16="http://schemas.microsoft.com/office/drawing/2014/main" id="{EBFD7EEC-C25B-4A6D-AC06-2FF77DAF6D75}"/>
                  </a:ext>
                </a:extLst>
              </p:cNvPr>
              <p:cNvSpPr>
                <a:spLocks noGrp="1" noRot="1" noChangeAspect="1" noMove="1" noResize="1" noEditPoints="1" noAdjustHandles="1" noChangeArrowheads="1" noChangeShapeType="1" noTextEdit="1"/>
              </p:cNvSpPr>
              <p:nvPr>
                <p:ph sz="half" idx="2"/>
              </p:nvPr>
            </p:nvSpPr>
            <p:spPr>
              <a:xfrm>
                <a:off x="6217920" y="1845735"/>
                <a:ext cx="4937760" cy="4398948"/>
              </a:xfrm>
              <a:blipFill>
                <a:blip r:embed="rId2"/>
                <a:stretch>
                  <a:fillRect l="-2963" t="-1526" r="-247" b="-555"/>
                </a:stretch>
              </a:blipFill>
            </p:spPr>
            <p:txBody>
              <a:bodyPr/>
              <a:lstStyle/>
              <a:p>
                <a:r>
                  <a:rPr lang="en-US">
                    <a:noFill/>
                  </a:rPr>
                  <a:t> </a:t>
                </a:r>
              </a:p>
            </p:txBody>
          </p:sp>
        </mc:Fallback>
      </mc:AlternateContent>
      <p:sp>
        <p:nvSpPr>
          <p:cNvPr id="4" name="Slide Number Placeholder 3">
            <a:extLst>
              <a:ext uri="{FF2B5EF4-FFF2-40B4-BE49-F238E27FC236}">
                <a16:creationId xmlns:a16="http://schemas.microsoft.com/office/drawing/2014/main" id="{D560D277-86F1-438B-8723-A62573D04C89}"/>
              </a:ext>
            </a:extLst>
          </p:cNvPr>
          <p:cNvSpPr>
            <a:spLocks noGrp="1"/>
          </p:cNvSpPr>
          <p:nvPr>
            <p:ph type="sldNum" sz="quarter" idx="12"/>
          </p:nvPr>
        </p:nvSpPr>
        <p:spPr/>
        <p:txBody>
          <a:bodyPr/>
          <a:lstStyle/>
          <a:p>
            <a:fld id="{DC4CAFB8-3EF6-4FAF-BDFA-EA2F8D8834E4}" type="slidenum">
              <a:rPr lang="en-US" smtClean="0"/>
              <a:t>8</a:t>
            </a:fld>
            <a:endParaRPr lang="en-US"/>
          </a:p>
        </p:txBody>
      </p:sp>
      <p:sp>
        <p:nvSpPr>
          <p:cNvPr id="7" name="TextBox 6">
            <a:extLst>
              <a:ext uri="{FF2B5EF4-FFF2-40B4-BE49-F238E27FC236}">
                <a16:creationId xmlns:a16="http://schemas.microsoft.com/office/drawing/2014/main" id="{9DD7AB8A-14C0-415A-95A7-67F14C9098D3}"/>
              </a:ext>
            </a:extLst>
          </p:cNvPr>
          <p:cNvSpPr txBox="1"/>
          <p:nvPr/>
        </p:nvSpPr>
        <p:spPr>
          <a:xfrm>
            <a:off x="189571" y="6447755"/>
            <a:ext cx="3579542" cy="369332"/>
          </a:xfrm>
          <a:prstGeom prst="rect">
            <a:avLst/>
          </a:prstGeom>
          <a:noFill/>
        </p:spPr>
        <p:txBody>
          <a:bodyPr wrap="square" rtlCol="0">
            <a:spAutoFit/>
          </a:bodyPr>
          <a:lstStyle/>
          <a:p>
            <a:r>
              <a:rPr lang="en-US" dirty="0">
                <a:solidFill>
                  <a:schemeClr val="bg1"/>
                </a:solidFill>
              </a:rPr>
              <a:t>Mohammad Mahdi Manafi</a:t>
            </a:r>
          </a:p>
        </p:txBody>
      </p:sp>
    </p:spTree>
    <p:extLst>
      <p:ext uri="{BB962C8B-B14F-4D97-AF65-F5344CB8AC3E}">
        <p14:creationId xmlns:p14="http://schemas.microsoft.com/office/powerpoint/2010/main" val="812939345"/>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Slide Number Placeholder 4">
            <a:extLst>
              <a:ext uri="{FF2B5EF4-FFF2-40B4-BE49-F238E27FC236}">
                <a16:creationId xmlns:a16="http://schemas.microsoft.com/office/drawing/2014/main" id="{9777E7CE-9C09-49C6-A1E7-2C89FFC30811}"/>
              </a:ext>
            </a:extLst>
          </p:cNvPr>
          <p:cNvSpPr>
            <a:spLocks noGrp="1"/>
          </p:cNvSpPr>
          <p:nvPr>
            <p:ph type="sldNum" sz="quarter" idx="12"/>
          </p:nvPr>
        </p:nvSpPr>
        <p:spPr/>
        <p:txBody>
          <a:bodyPr/>
          <a:lstStyle/>
          <a:p>
            <a:fld id="{DC4CAFB8-3EF6-4FAF-BDFA-EA2F8D8834E4}" type="slidenum">
              <a:rPr lang="en-US" smtClean="0"/>
              <a:t>9</a:t>
            </a:fld>
            <a:endParaRPr lang="en-US"/>
          </a:p>
        </p:txBody>
      </p:sp>
      <p:pic>
        <p:nvPicPr>
          <p:cNvPr id="7" name="Picture 6">
            <a:extLst>
              <a:ext uri="{FF2B5EF4-FFF2-40B4-BE49-F238E27FC236}">
                <a16:creationId xmlns:a16="http://schemas.microsoft.com/office/drawing/2014/main" id="{CD86881B-BDE2-4840-B2F1-56FAB545D79D}"/>
              </a:ext>
            </a:extLst>
          </p:cNvPr>
          <p:cNvPicPr>
            <a:picLocks noChangeAspect="1"/>
          </p:cNvPicPr>
          <p:nvPr/>
        </p:nvPicPr>
        <p:blipFill>
          <a:blip r:embed="rId2"/>
          <a:stretch>
            <a:fillRect/>
          </a:stretch>
        </p:blipFill>
        <p:spPr>
          <a:xfrm>
            <a:off x="230200" y="1330874"/>
            <a:ext cx="6187819" cy="4196252"/>
          </a:xfrm>
          <a:prstGeom prst="rect">
            <a:avLst/>
          </a:prstGeom>
        </p:spPr>
      </p:pic>
      <p:sp>
        <p:nvSpPr>
          <p:cNvPr id="8" name="Rectangle 7">
            <a:extLst>
              <a:ext uri="{FF2B5EF4-FFF2-40B4-BE49-F238E27FC236}">
                <a16:creationId xmlns:a16="http://schemas.microsoft.com/office/drawing/2014/main" id="{FFC61E11-E75E-4B65-AE10-EFDE41814086}"/>
              </a:ext>
            </a:extLst>
          </p:cNvPr>
          <p:cNvSpPr/>
          <p:nvPr/>
        </p:nvSpPr>
        <p:spPr>
          <a:xfrm>
            <a:off x="7359464" y="4627756"/>
            <a:ext cx="1326995" cy="691376"/>
          </a:xfrm>
          <a:prstGeom prst="rect">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dirty="0"/>
              <a:t>Tasks</a:t>
            </a:r>
          </a:p>
        </p:txBody>
      </p:sp>
      <p:sp>
        <p:nvSpPr>
          <p:cNvPr id="9" name="Oval 8">
            <a:extLst>
              <a:ext uri="{FF2B5EF4-FFF2-40B4-BE49-F238E27FC236}">
                <a16:creationId xmlns:a16="http://schemas.microsoft.com/office/drawing/2014/main" id="{E92AAB0A-FB5B-4C13-B8B8-6E43806D31C0}"/>
              </a:ext>
            </a:extLst>
          </p:cNvPr>
          <p:cNvSpPr/>
          <p:nvPr/>
        </p:nvSpPr>
        <p:spPr>
          <a:xfrm>
            <a:off x="7605129" y="3429000"/>
            <a:ext cx="869795" cy="691376"/>
          </a:xfrm>
          <a:prstGeom prst="ellipse">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dirty="0"/>
              <a:t>ECN</a:t>
            </a:r>
          </a:p>
        </p:txBody>
      </p:sp>
      <p:sp>
        <p:nvSpPr>
          <p:cNvPr id="10" name="Oval 9">
            <a:extLst>
              <a:ext uri="{FF2B5EF4-FFF2-40B4-BE49-F238E27FC236}">
                <a16:creationId xmlns:a16="http://schemas.microsoft.com/office/drawing/2014/main" id="{FB9B6D4E-18C2-48DC-BC28-1C731910ECBF}"/>
              </a:ext>
            </a:extLst>
          </p:cNvPr>
          <p:cNvSpPr/>
          <p:nvPr/>
        </p:nvSpPr>
        <p:spPr>
          <a:xfrm>
            <a:off x="9338650" y="3429000"/>
            <a:ext cx="869795" cy="691376"/>
          </a:xfrm>
          <a:prstGeom prst="ellipse">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dirty="0"/>
              <a:t>ECN</a:t>
            </a:r>
          </a:p>
        </p:txBody>
      </p:sp>
      <p:sp>
        <p:nvSpPr>
          <p:cNvPr id="11" name="Oval 10">
            <a:extLst>
              <a:ext uri="{FF2B5EF4-FFF2-40B4-BE49-F238E27FC236}">
                <a16:creationId xmlns:a16="http://schemas.microsoft.com/office/drawing/2014/main" id="{CCB895FC-CC6B-432F-85A2-BD216C62769B}"/>
              </a:ext>
            </a:extLst>
          </p:cNvPr>
          <p:cNvSpPr/>
          <p:nvPr/>
        </p:nvSpPr>
        <p:spPr>
          <a:xfrm>
            <a:off x="8397389" y="2230244"/>
            <a:ext cx="869795" cy="691376"/>
          </a:xfrm>
          <a:prstGeom prst="ellipse">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dirty="0"/>
              <a:t>FCN</a:t>
            </a:r>
          </a:p>
        </p:txBody>
      </p:sp>
      <p:sp>
        <p:nvSpPr>
          <p:cNvPr id="12" name="Oval 11">
            <a:extLst>
              <a:ext uri="{FF2B5EF4-FFF2-40B4-BE49-F238E27FC236}">
                <a16:creationId xmlns:a16="http://schemas.microsoft.com/office/drawing/2014/main" id="{21296C25-B9DB-430E-B68F-BAE895F7913E}"/>
              </a:ext>
            </a:extLst>
          </p:cNvPr>
          <p:cNvSpPr/>
          <p:nvPr/>
        </p:nvSpPr>
        <p:spPr>
          <a:xfrm>
            <a:off x="8306661" y="1031488"/>
            <a:ext cx="1051253" cy="691376"/>
          </a:xfrm>
          <a:prstGeom prst="ellipse">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dirty="0"/>
              <a:t>cloud</a:t>
            </a:r>
          </a:p>
        </p:txBody>
      </p:sp>
      <p:cxnSp>
        <p:nvCxnSpPr>
          <p:cNvPr id="14" name="Straight Arrow Connector 13">
            <a:extLst>
              <a:ext uri="{FF2B5EF4-FFF2-40B4-BE49-F238E27FC236}">
                <a16:creationId xmlns:a16="http://schemas.microsoft.com/office/drawing/2014/main" id="{8DA0A5CA-4596-4BD8-A4F4-965920821208}"/>
              </a:ext>
            </a:extLst>
          </p:cNvPr>
          <p:cNvCxnSpPr>
            <a:stCxn id="9" idx="0"/>
            <a:endCxn id="11" idx="3"/>
          </p:cNvCxnSpPr>
          <p:nvPr/>
        </p:nvCxnSpPr>
        <p:spPr>
          <a:xfrm flipV="1">
            <a:off x="8040027" y="2820370"/>
            <a:ext cx="484741" cy="608630"/>
          </a:xfrm>
          <a:prstGeom prst="straightConnector1">
            <a:avLst/>
          </a:prstGeom>
          <a:ln>
            <a:tailEnd type="triangle"/>
          </a:ln>
        </p:spPr>
        <p:style>
          <a:lnRef idx="2">
            <a:schemeClr val="accent1"/>
          </a:lnRef>
          <a:fillRef idx="0">
            <a:schemeClr val="accent1"/>
          </a:fillRef>
          <a:effectRef idx="1">
            <a:schemeClr val="accent1"/>
          </a:effectRef>
          <a:fontRef idx="minor">
            <a:schemeClr val="tx1"/>
          </a:fontRef>
        </p:style>
      </p:cxnSp>
      <p:cxnSp>
        <p:nvCxnSpPr>
          <p:cNvPr id="16" name="Straight Arrow Connector 15">
            <a:extLst>
              <a:ext uri="{FF2B5EF4-FFF2-40B4-BE49-F238E27FC236}">
                <a16:creationId xmlns:a16="http://schemas.microsoft.com/office/drawing/2014/main" id="{E3A6D430-50BC-4F9F-AFF5-B266F3113D6F}"/>
              </a:ext>
            </a:extLst>
          </p:cNvPr>
          <p:cNvCxnSpPr>
            <a:stCxn id="10" idx="0"/>
            <a:endCxn id="11" idx="5"/>
          </p:cNvCxnSpPr>
          <p:nvPr/>
        </p:nvCxnSpPr>
        <p:spPr>
          <a:xfrm flipH="1" flipV="1">
            <a:off x="9139805" y="2820370"/>
            <a:ext cx="633743" cy="608630"/>
          </a:xfrm>
          <a:prstGeom prst="straightConnector1">
            <a:avLst/>
          </a:prstGeom>
          <a:ln>
            <a:tailEnd type="triangle"/>
          </a:ln>
        </p:spPr>
        <p:style>
          <a:lnRef idx="2">
            <a:schemeClr val="accent1"/>
          </a:lnRef>
          <a:fillRef idx="0">
            <a:schemeClr val="accent1"/>
          </a:fillRef>
          <a:effectRef idx="1">
            <a:schemeClr val="accent1"/>
          </a:effectRef>
          <a:fontRef idx="minor">
            <a:schemeClr val="tx1"/>
          </a:fontRef>
        </p:style>
      </p:cxnSp>
      <p:cxnSp>
        <p:nvCxnSpPr>
          <p:cNvPr id="18" name="Straight Arrow Connector 17">
            <a:extLst>
              <a:ext uri="{FF2B5EF4-FFF2-40B4-BE49-F238E27FC236}">
                <a16:creationId xmlns:a16="http://schemas.microsoft.com/office/drawing/2014/main" id="{621E40D3-85B9-41DF-9C72-6E73E450D25A}"/>
              </a:ext>
            </a:extLst>
          </p:cNvPr>
          <p:cNvCxnSpPr>
            <a:stCxn id="11" idx="0"/>
            <a:endCxn id="12" idx="4"/>
          </p:cNvCxnSpPr>
          <p:nvPr/>
        </p:nvCxnSpPr>
        <p:spPr>
          <a:xfrm flipV="1">
            <a:off x="8832287" y="1722864"/>
            <a:ext cx="1" cy="507380"/>
          </a:xfrm>
          <a:prstGeom prst="straightConnector1">
            <a:avLst/>
          </a:prstGeom>
          <a:ln>
            <a:tailEnd type="triangle"/>
          </a:ln>
        </p:spPr>
        <p:style>
          <a:lnRef idx="2">
            <a:schemeClr val="accent1"/>
          </a:lnRef>
          <a:fillRef idx="0">
            <a:schemeClr val="accent1"/>
          </a:fillRef>
          <a:effectRef idx="1">
            <a:schemeClr val="accent1"/>
          </a:effectRef>
          <a:fontRef idx="minor">
            <a:schemeClr val="tx1"/>
          </a:fontRef>
        </p:style>
      </p:cxnSp>
      <p:sp>
        <p:nvSpPr>
          <p:cNvPr id="22" name="Rectangle 21">
            <a:extLst>
              <a:ext uri="{FF2B5EF4-FFF2-40B4-BE49-F238E27FC236}">
                <a16:creationId xmlns:a16="http://schemas.microsoft.com/office/drawing/2014/main" id="{A0D6A973-5D98-4A84-95ED-837B920C649E}"/>
              </a:ext>
            </a:extLst>
          </p:cNvPr>
          <p:cNvSpPr/>
          <p:nvPr/>
        </p:nvSpPr>
        <p:spPr>
          <a:xfrm>
            <a:off x="9104292" y="4627756"/>
            <a:ext cx="1326995" cy="691376"/>
          </a:xfrm>
          <a:prstGeom prst="rect">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dirty="0"/>
              <a:t>Tasks</a:t>
            </a:r>
          </a:p>
        </p:txBody>
      </p:sp>
      <p:cxnSp>
        <p:nvCxnSpPr>
          <p:cNvPr id="24" name="Straight Arrow Connector 23">
            <a:extLst>
              <a:ext uri="{FF2B5EF4-FFF2-40B4-BE49-F238E27FC236}">
                <a16:creationId xmlns:a16="http://schemas.microsoft.com/office/drawing/2014/main" id="{A9C164D9-0576-4D63-884E-9C9B745E3F98}"/>
              </a:ext>
            </a:extLst>
          </p:cNvPr>
          <p:cNvCxnSpPr>
            <a:stCxn id="8" idx="0"/>
            <a:endCxn id="9" idx="4"/>
          </p:cNvCxnSpPr>
          <p:nvPr/>
        </p:nvCxnSpPr>
        <p:spPr>
          <a:xfrm flipV="1">
            <a:off x="8022962" y="4120376"/>
            <a:ext cx="17065" cy="507380"/>
          </a:xfrm>
          <a:prstGeom prst="straightConnector1">
            <a:avLst/>
          </a:prstGeom>
          <a:ln>
            <a:tailEnd type="triangle"/>
          </a:ln>
        </p:spPr>
        <p:style>
          <a:lnRef idx="2">
            <a:schemeClr val="accent1"/>
          </a:lnRef>
          <a:fillRef idx="0">
            <a:schemeClr val="accent1"/>
          </a:fillRef>
          <a:effectRef idx="1">
            <a:schemeClr val="accent1"/>
          </a:effectRef>
          <a:fontRef idx="minor">
            <a:schemeClr val="tx1"/>
          </a:fontRef>
        </p:style>
      </p:cxnSp>
      <p:cxnSp>
        <p:nvCxnSpPr>
          <p:cNvPr id="26" name="Straight Arrow Connector 25">
            <a:extLst>
              <a:ext uri="{FF2B5EF4-FFF2-40B4-BE49-F238E27FC236}">
                <a16:creationId xmlns:a16="http://schemas.microsoft.com/office/drawing/2014/main" id="{1C8F7622-5476-4183-9714-47832FDDDABA}"/>
              </a:ext>
            </a:extLst>
          </p:cNvPr>
          <p:cNvCxnSpPr>
            <a:stCxn id="22" idx="0"/>
            <a:endCxn id="10" idx="4"/>
          </p:cNvCxnSpPr>
          <p:nvPr/>
        </p:nvCxnSpPr>
        <p:spPr>
          <a:xfrm flipV="1">
            <a:off x="9767790" y="4120376"/>
            <a:ext cx="5758" cy="507380"/>
          </a:xfrm>
          <a:prstGeom prst="straightConnector1">
            <a:avLst/>
          </a:prstGeom>
          <a:ln>
            <a:tailEnd type="triangle"/>
          </a:ln>
        </p:spPr>
        <p:style>
          <a:lnRef idx="2">
            <a:schemeClr val="accent1"/>
          </a:lnRef>
          <a:fillRef idx="0">
            <a:schemeClr val="accent1"/>
          </a:fillRef>
          <a:effectRef idx="1">
            <a:schemeClr val="accent1"/>
          </a:effectRef>
          <a:fontRef idx="minor">
            <a:schemeClr val="tx1"/>
          </a:fontRef>
        </p:style>
      </p:cxnSp>
      <p:sp>
        <p:nvSpPr>
          <p:cNvPr id="29" name="TextBox 28">
            <a:extLst>
              <a:ext uri="{FF2B5EF4-FFF2-40B4-BE49-F238E27FC236}">
                <a16:creationId xmlns:a16="http://schemas.microsoft.com/office/drawing/2014/main" id="{7E534B31-6C55-4E58-B8F8-1899A46029A0}"/>
              </a:ext>
            </a:extLst>
          </p:cNvPr>
          <p:cNvSpPr txBox="1"/>
          <p:nvPr/>
        </p:nvSpPr>
        <p:spPr>
          <a:xfrm flipH="1">
            <a:off x="8335380" y="5335460"/>
            <a:ext cx="2150550" cy="369332"/>
          </a:xfrm>
          <a:prstGeom prst="rect">
            <a:avLst/>
          </a:prstGeom>
          <a:noFill/>
        </p:spPr>
        <p:txBody>
          <a:bodyPr wrap="square" rtlCol="0">
            <a:spAutoFit/>
          </a:bodyPr>
          <a:lstStyle/>
          <a:p>
            <a:r>
              <a:rPr lang="en-US" dirty="0"/>
              <a:t>Data Flow</a:t>
            </a:r>
          </a:p>
        </p:txBody>
      </p:sp>
      <p:sp>
        <p:nvSpPr>
          <p:cNvPr id="17" name="TextBox 16">
            <a:extLst>
              <a:ext uri="{FF2B5EF4-FFF2-40B4-BE49-F238E27FC236}">
                <a16:creationId xmlns:a16="http://schemas.microsoft.com/office/drawing/2014/main" id="{C516A22B-3D09-4B56-9E45-73B343D84D9F}"/>
              </a:ext>
            </a:extLst>
          </p:cNvPr>
          <p:cNvSpPr txBox="1"/>
          <p:nvPr/>
        </p:nvSpPr>
        <p:spPr>
          <a:xfrm>
            <a:off x="189571" y="6447755"/>
            <a:ext cx="3579542" cy="369332"/>
          </a:xfrm>
          <a:prstGeom prst="rect">
            <a:avLst/>
          </a:prstGeom>
          <a:noFill/>
        </p:spPr>
        <p:txBody>
          <a:bodyPr wrap="square" rtlCol="0">
            <a:spAutoFit/>
          </a:bodyPr>
          <a:lstStyle/>
          <a:p>
            <a:r>
              <a:rPr lang="en-US" dirty="0">
                <a:solidFill>
                  <a:schemeClr val="bg1"/>
                </a:solidFill>
              </a:rPr>
              <a:t>Mohammad Mahdi Manafi</a:t>
            </a:r>
          </a:p>
        </p:txBody>
      </p:sp>
    </p:spTree>
    <p:extLst>
      <p:ext uri="{BB962C8B-B14F-4D97-AF65-F5344CB8AC3E}">
        <p14:creationId xmlns:p14="http://schemas.microsoft.com/office/powerpoint/2010/main" val="1543475261"/>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 name="Title 5">
            <a:extLst>
              <a:ext uri="{FF2B5EF4-FFF2-40B4-BE49-F238E27FC236}">
                <a16:creationId xmlns:a16="http://schemas.microsoft.com/office/drawing/2014/main" id="{2EADB805-2A18-4EFA-A401-510EDC583C9F}"/>
              </a:ext>
            </a:extLst>
          </p:cNvPr>
          <p:cNvSpPr>
            <a:spLocks noGrp="1"/>
          </p:cNvSpPr>
          <p:nvPr>
            <p:ph type="title"/>
          </p:nvPr>
        </p:nvSpPr>
        <p:spPr/>
        <p:txBody>
          <a:bodyPr/>
          <a:lstStyle/>
          <a:p>
            <a:r>
              <a:rPr lang="en-US" dirty="0"/>
              <a:t>System model</a:t>
            </a:r>
          </a:p>
        </p:txBody>
      </p:sp>
      <mc:AlternateContent xmlns:mc="http://schemas.openxmlformats.org/markup-compatibility/2006" xmlns:a14="http://schemas.microsoft.com/office/drawing/2010/main">
        <mc:Choice Requires="a14">
          <p:sp>
            <p:nvSpPr>
              <p:cNvPr id="7" name="Content Placeholder 6">
                <a:extLst>
                  <a:ext uri="{FF2B5EF4-FFF2-40B4-BE49-F238E27FC236}">
                    <a16:creationId xmlns:a16="http://schemas.microsoft.com/office/drawing/2014/main" id="{32A83B19-2F9D-49F6-8E95-2BC3437E1BBD}"/>
                  </a:ext>
                </a:extLst>
              </p:cNvPr>
              <p:cNvSpPr>
                <a:spLocks noGrp="1"/>
              </p:cNvSpPr>
              <p:nvPr>
                <p:ph idx="1"/>
              </p:nvPr>
            </p:nvSpPr>
            <p:spPr>
              <a:xfrm>
                <a:off x="1097280" y="1845733"/>
                <a:ext cx="4998720" cy="4454705"/>
              </a:xfrm>
            </p:spPr>
            <p:txBody>
              <a:bodyPr>
                <a:normAutofit fontScale="92500" lnSpcReduction="10000"/>
              </a:bodyPr>
              <a:lstStyle/>
              <a:p>
                <a:pPr>
                  <a:buFont typeface="Wingdings" panose="05000000000000000000" pitchFamily="2" charset="2"/>
                  <a:buChar char="q"/>
                </a:pPr>
                <a:r>
                  <a:rPr lang="en-US" dirty="0"/>
                  <a:t>Task computation time</a:t>
                </a:r>
              </a:p>
              <a:p>
                <a:pPr lvl="1">
                  <a:buFont typeface="Wingdings" panose="05000000000000000000" pitchFamily="2" charset="2"/>
                  <a:buChar char="q"/>
                </a:pPr>
                <a:r>
                  <a:rPr lang="en-US" dirty="0"/>
                  <a:t>Exponentially Distributed (in all levels)</a:t>
                </a:r>
              </a:p>
              <a:p>
                <a:pPr lvl="1">
                  <a:buFont typeface="Wingdings" panose="05000000000000000000" pitchFamily="2" charset="2"/>
                  <a:buChar char="q"/>
                </a:pPr>
                <a:r>
                  <a:rPr lang="en-US" dirty="0"/>
                  <a:t>Different mean value (depends on sites)</a:t>
                </a:r>
              </a:p>
              <a:p>
                <a:pPr>
                  <a:buFont typeface="Wingdings" panose="05000000000000000000" pitchFamily="2" charset="2"/>
                  <a:buChar char="q"/>
                </a:pPr>
                <a:r>
                  <a:rPr lang="en-US" dirty="0"/>
                  <a:t>Impact of different communication delay</a:t>
                </a:r>
              </a:p>
              <a:p>
                <a:pPr lvl="1">
                  <a:buFont typeface="Wingdings" panose="05000000000000000000" pitchFamily="2" charset="2"/>
                  <a:buChar char="q"/>
                </a:pPr>
                <a:r>
                  <a:rPr lang="en-US" dirty="0"/>
                  <a:t>Tasks deadline </a:t>
                </a:r>
              </a:p>
              <a:p>
                <a:pPr lvl="2">
                  <a:buFont typeface="Wingdings" panose="05000000000000000000" pitchFamily="2" charset="2"/>
                  <a:buChar char="q"/>
                </a:pPr>
                <a:r>
                  <a:rPr lang="en-US" sz="1600" dirty="0"/>
                  <a:t>Exponentially distributed</a:t>
                </a:r>
              </a:p>
              <a:p>
                <a:pPr lvl="2">
                  <a:buFont typeface="Wingdings" panose="05000000000000000000" pitchFamily="2" charset="2"/>
                  <a:buChar char="q"/>
                </a:pPr>
                <a:r>
                  <a:rPr lang="en-US" sz="1600" dirty="0"/>
                  <a:t>Mean value depends on sites (EC, FC, cloud)</a:t>
                </a:r>
              </a:p>
              <a:p>
                <a:pPr>
                  <a:buFont typeface="Wingdings" panose="05000000000000000000" pitchFamily="2" charset="2"/>
                  <a:buChar char="q"/>
                </a:pPr>
                <a:r>
                  <a:rPr lang="en-US" dirty="0"/>
                  <a:t>ECN (queuing model)</a:t>
                </a:r>
              </a:p>
              <a:p>
                <a:pPr lvl="1">
                  <a:buFont typeface="Wingdings" panose="05000000000000000000" pitchFamily="2" charset="2"/>
                  <a:buChar char="q"/>
                </a:pPr>
                <a:r>
                  <a:rPr lang="en-US" dirty="0"/>
                  <a:t>M/M/K/H/</a:t>
                </a:r>
                <a14:m>
                  <m:oMath xmlns:m="http://schemas.openxmlformats.org/officeDocument/2006/math">
                    <m:r>
                      <a:rPr lang="en-US" i="1" smtClean="0">
                        <a:latin typeface="Cambria Math" panose="02040503050406030204" pitchFamily="18" charset="0"/>
                        <a:ea typeface="Cambria Math" panose="02040503050406030204" pitchFamily="18" charset="0"/>
                      </a:rPr>
                      <m:t>∞</m:t>
                    </m:r>
                  </m:oMath>
                </a14:m>
                <a:r>
                  <a:rPr lang="en-US" dirty="0"/>
                  <a:t>/FCFS</a:t>
                </a:r>
              </a:p>
              <a:p>
                <a:pPr>
                  <a:buFont typeface="Wingdings" panose="05000000000000000000" pitchFamily="2" charset="2"/>
                  <a:buChar char="q"/>
                </a:pPr>
                <a:r>
                  <a:rPr lang="en-US" dirty="0"/>
                  <a:t>FCN (queuing model)</a:t>
                </a:r>
              </a:p>
              <a:p>
                <a:pPr lvl="1">
                  <a:buFont typeface="Wingdings" panose="05000000000000000000" pitchFamily="2" charset="2"/>
                  <a:buChar char="q"/>
                </a:pPr>
                <a:r>
                  <a:rPr lang="en-US" dirty="0"/>
                  <a:t>M/M/F/A</a:t>
                </a:r>
                <a:r>
                  <a:rPr lang="en-US" dirty="0">
                    <a:ea typeface="Cambria Math" panose="02040503050406030204" pitchFamily="18" charset="0"/>
                  </a:rPr>
                  <a:t>/</a:t>
                </a:r>
                <a14:m>
                  <m:oMath xmlns:m="http://schemas.openxmlformats.org/officeDocument/2006/math">
                    <m:r>
                      <a:rPr lang="en-US" i="1" smtClean="0">
                        <a:latin typeface="Cambria Math" panose="02040503050406030204" pitchFamily="18" charset="0"/>
                        <a:ea typeface="Cambria Math" panose="02040503050406030204" pitchFamily="18" charset="0"/>
                      </a:rPr>
                      <m:t>∞</m:t>
                    </m:r>
                  </m:oMath>
                </a14:m>
                <a:r>
                  <a:rPr lang="en-US" dirty="0"/>
                  <a:t>/</a:t>
                </a:r>
              </a:p>
              <a:p>
                <a:pPr>
                  <a:buFont typeface="Wingdings" panose="05000000000000000000" pitchFamily="2" charset="2"/>
                  <a:buChar char="q"/>
                </a:pPr>
                <a:r>
                  <a:rPr lang="en-US" dirty="0"/>
                  <a:t>Cloud (queuing model)</a:t>
                </a:r>
              </a:p>
              <a:p>
                <a:pPr lvl="1">
                  <a:buFont typeface="Wingdings" panose="05000000000000000000" pitchFamily="2" charset="2"/>
                  <a:buChar char="q"/>
                </a:pPr>
                <a:r>
                  <a:rPr lang="en-US" dirty="0"/>
                  <a:t>M/M/S</a:t>
                </a:r>
              </a:p>
            </p:txBody>
          </p:sp>
        </mc:Choice>
        <mc:Fallback xmlns="">
          <p:sp>
            <p:nvSpPr>
              <p:cNvPr id="7" name="Content Placeholder 6">
                <a:extLst>
                  <a:ext uri="{FF2B5EF4-FFF2-40B4-BE49-F238E27FC236}">
                    <a16:creationId xmlns:a16="http://schemas.microsoft.com/office/drawing/2014/main" id="{32A83B19-2F9D-49F6-8E95-2BC3437E1BBD}"/>
                  </a:ext>
                </a:extLst>
              </p:cNvPr>
              <p:cNvSpPr>
                <a:spLocks noGrp="1" noRot="1" noChangeAspect="1" noMove="1" noResize="1" noEditPoints="1" noAdjustHandles="1" noChangeArrowheads="1" noChangeShapeType="1" noTextEdit="1"/>
              </p:cNvSpPr>
              <p:nvPr>
                <p:ph idx="1"/>
              </p:nvPr>
            </p:nvSpPr>
            <p:spPr>
              <a:xfrm>
                <a:off x="1097280" y="1845733"/>
                <a:ext cx="4998720" cy="4454705"/>
              </a:xfrm>
              <a:blipFill>
                <a:blip r:embed="rId3"/>
                <a:stretch>
                  <a:fillRect l="-2683" t="-1778"/>
                </a:stretch>
              </a:blipFill>
            </p:spPr>
            <p:txBody>
              <a:bodyPr/>
              <a:lstStyle/>
              <a:p>
                <a:r>
                  <a:rPr lang="en-US">
                    <a:noFill/>
                  </a:rPr>
                  <a:t> </a:t>
                </a:r>
              </a:p>
            </p:txBody>
          </p:sp>
        </mc:Fallback>
      </mc:AlternateContent>
      <p:sp>
        <p:nvSpPr>
          <p:cNvPr id="5" name="Slide Number Placeholder 4">
            <a:extLst>
              <a:ext uri="{FF2B5EF4-FFF2-40B4-BE49-F238E27FC236}">
                <a16:creationId xmlns:a16="http://schemas.microsoft.com/office/drawing/2014/main" id="{1D850E72-44F9-4EB0-8EA4-060A4B5C686A}"/>
              </a:ext>
            </a:extLst>
          </p:cNvPr>
          <p:cNvSpPr>
            <a:spLocks noGrp="1"/>
          </p:cNvSpPr>
          <p:nvPr>
            <p:ph type="sldNum" sz="quarter" idx="12"/>
          </p:nvPr>
        </p:nvSpPr>
        <p:spPr/>
        <p:txBody>
          <a:bodyPr/>
          <a:lstStyle/>
          <a:p>
            <a:fld id="{DC4CAFB8-3EF6-4FAF-BDFA-EA2F8D8834E4}" type="slidenum">
              <a:rPr lang="en-US" smtClean="0"/>
              <a:t>10</a:t>
            </a:fld>
            <a:endParaRPr lang="en-US"/>
          </a:p>
        </p:txBody>
      </p:sp>
      <p:pic>
        <p:nvPicPr>
          <p:cNvPr id="4098" name="Picture 2" descr="1, Single server model Queueing models have some characteristics:  The...  | Download Scientific Diagram">
            <a:extLst>
              <a:ext uri="{FF2B5EF4-FFF2-40B4-BE49-F238E27FC236}">
                <a16:creationId xmlns:a16="http://schemas.microsoft.com/office/drawing/2014/main" id="{4E2A1A82-E2C6-408C-B8FB-1876BEC46F8A}"/>
              </a:ext>
            </a:extLst>
          </p:cNvPr>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6096000" y="2031548"/>
            <a:ext cx="4998720" cy="1530472"/>
          </a:xfrm>
          <a:prstGeom prst="rect">
            <a:avLst/>
          </a:prstGeom>
          <a:noFill/>
          <a:extLst>
            <a:ext uri="{909E8E84-426E-40DD-AFC4-6F175D3DCCD1}">
              <a14:hiddenFill xmlns:a14="http://schemas.microsoft.com/office/drawing/2010/main">
                <a:solidFill>
                  <a:srgbClr val="FFFFFF"/>
                </a:solidFill>
              </a14:hiddenFill>
            </a:ext>
          </a:extLst>
        </p:spPr>
      </p:pic>
      <p:sp>
        <p:nvSpPr>
          <p:cNvPr id="8" name="Rectangle 7">
            <a:extLst>
              <a:ext uri="{FF2B5EF4-FFF2-40B4-BE49-F238E27FC236}">
                <a16:creationId xmlns:a16="http://schemas.microsoft.com/office/drawing/2014/main" id="{1A486865-DE0F-4BCA-8AD8-6CAEC956CD53}"/>
              </a:ext>
            </a:extLst>
          </p:cNvPr>
          <p:cNvSpPr/>
          <p:nvPr/>
        </p:nvSpPr>
        <p:spPr>
          <a:xfrm>
            <a:off x="6338350" y="4505169"/>
            <a:ext cx="2839100" cy="465461"/>
          </a:xfrm>
          <a:prstGeom prst="rect">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dirty="0"/>
              <a:t>Queue</a:t>
            </a:r>
          </a:p>
        </p:txBody>
      </p:sp>
      <p:sp>
        <p:nvSpPr>
          <p:cNvPr id="9" name="Oval 8">
            <a:extLst>
              <a:ext uri="{FF2B5EF4-FFF2-40B4-BE49-F238E27FC236}">
                <a16:creationId xmlns:a16="http://schemas.microsoft.com/office/drawing/2014/main" id="{DAA554EE-A016-4343-97F0-71D1D9ACD1E0}"/>
              </a:ext>
            </a:extLst>
          </p:cNvPr>
          <p:cNvSpPr/>
          <p:nvPr/>
        </p:nvSpPr>
        <p:spPr>
          <a:xfrm>
            <a:off x="10121587" y="3909191"/>
            <a:ext cx="535258" cy="365125"/>
          </a:xfrm>
          <a:prstGeom prst="ellipse">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dirty="0"/>
              <a:t>1</a:t>
            </a:r>
          </a:p>
        </p:txBody>
      </p:sp>
      <p:sp>
        <p:nvSpPr>
          <p:cNvPr id="11" name="Oval 10">
            <a:extLst>
              <a:ext uri="{FF2B5EF4-FFF2-40B4-BE49-F238E27FC236}">
                <a16:creationId xmlns:a16="http://schemas.microsoft.com/office/drawing/2014/main" id="{51F71E80-64F9-4CFD-94B3-FDD77135CE48}"/>
              </a:ext>
            </a:extLst>
          </p:cNvPr>
          <p:cNvSpPr/>
          <p:nvPr/>
        </p:nvSpPr>
        <p:spPr>
          <a:xfrm>
            <a:off x="10121587" y="4555336"/>
            <a:ext cx="535258" cy="365125"/>
          </a:xfrm>
          <a:prstGeom prst="ellipse">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dirty="0"/>
              <a:t>2</a:t>
            </a:r>
          </a:p>
        </p:txBody>
      </p:sp>
      <p:sp>
        <p:nvSpPr>
          <p:cNvPr id="12" name="Oval 11">
            <a:extLst>
              <a:ext uri="{FF2B5EF4-FFF2-40B4-BE49-F238E27FC236}">
                <a16:creationId xmlns:a16="http://schemas.microsoft.com/office/drawing/2014/main" id="{24D15919-EB07-49A2-AF3C-8D4D5DE3A391}"/>
              </a:ext>
            </a:extLst>
          </p:cNvPr>
          <p:cNvSpPr/>
          <p:nvPr/>
        </p:nvSpPr>
        <p:spPr>
          <a:xfrm>
            <a:off x="10121587" y="5277965"/>
            <a:ext cx="535258" cy="365125"/>
          </a:xfrm>
          <a:prstGeom prst="ellipse">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dirty="0"/>
              <a:t>K</a:t>
            </a:r>
          </a:p>
        </p:txBody>
      </p:sp>
      <p:cxnSp>
        <p:nvCxnSpPr>
          <p:cNvPr id="13" name="Straight Arrow Connector 12">
            <a:extLst>
              <a:ext uri="{FF2B5EF4-FFF2-40B4-BE49-F238E27FC236}">
                <a16:creationId xmlns:a16="http://schemas.microsoft.com/office/drawing/2014/main" id="{758061A8-CF03-480B-A9EF-BDDC7AB4D2E5}"/>
              </a:ext>
            </a:extLst>
          </p:cNvPr>
          <p:cNvCxnSpPr>
            <a:stCxn id="8" idx="3"/>
            <a:endCxn id="9" idx="2"/>
          </p:cNvCxnSpPr>
          <p:nvPr/>
        </p:nvCxnSpPr>
        <p:spPr>
          <a:xfrm flipV="1">
            <a:off x="9177450" y="4091754"/>
            <a:ext cx="944137" cy="646146"/>
          </a:xfrm>
          <a:prstGeom prst="straightConnector1">
            <a:avLst/>
          </a:prstGeom>
          <a:ln>
            <a:tailEnd type="triangle"/>
          </a:ln>
        </p:spPr>
        <p:style>
          <a:lnRef idx="2">
            <a:schemeClr val="accent1"/>
          </a:lnRef>
          <a:fillRef idx="0">
            <a:schemeClr val="accent1"/>
          </a:fillRef>
          <a:effectRef idx="1">
            <a:schemeClr val="accent1"/>
          </a:effectRef>
          <a:fontRef idx="minor">
            <a:schemeClr val="tx1"/>
          </a:fontRef>
        </p:style>
      </p:cxnSp>
      <p:cxnSp>
        <p:nvCxnSpPr>
          <p:cNvPr id="15" name="Straight Arrow Connector 14">
            <a:extLst>
              <a:ext uri="{FF2B5EF4-FFF2-40B4-BE49-F238E27FC236}">
                <a16:creationId xmlns:a16="http://schemas.microsoft.com/office/drawing/2014/main" id="{9E90D4D1-B4FE-40D1-88B2-6D33038FAD4E}"/>
              </a:ext>
            </a:extLst>
          </p:cNvPr>
          <p:cNvCxnSpPr>
            <a:stCxn id="8" idx="3"/>
            <a:endCxn id="11" idx="2"/>
          </p:cNvCxnSpPr>
          <p:nvPr/>
        </p:nvCxnSpPr>
        <p:spPr>
          <a:xfrm flipV="1">
            <a:off x="9177450" y="4737899"/>
            <a:ext cx="944137" cy="1"/>
          </a:xfrm>
          <a:prstGeom prst="straightConnector1">
            <a:avLst/>
          </a:prstGeom>
          <a:ln>
            <a:tailEnd type="triangle"/>
          </a:ln>
        </p:spPr>
        <p:style>
          <a:lnRef idx="2">
            <a:schemeClr val="accent1"/>
          </a:lnRef>
          <a:fillRef idx="0">
            <a:schemeClr val="accent1"/>
          </a:fillRef>
          <a:effectRef idx="1">
            <a:schemeClr val="accent1"/>
          </a:effectRef>
          <a:fontRef idx="minor">
            <a:schemeClr val="tx1"/>
          </a:fontRef>
        </p:style>
      </p:cxnSp>
      <p:cxnSp>
        <p:nvCxnSpPr>
          <p:cNvPr id="17" name="Straight Arrow Connector 16">
            <a:extLst>
              <a:ext uri="{FF2B5EF4-FFF2-40B4-BE49-F238E27FC236}">
                <a16:creationId xmlns:a16="http://schemas.microsoft.com/office/drawing/2014/main" id="{6F566709-493F-497F-9C12-AB72EA4AF59C}"/>
              </a:ext>
            </a:extLst>
          </p:cNvPr>
          <p:cNvCxnSpPr>
            <a:stCxn id="8" idx="3"/>
            <a:endCxn id="12" idx="2"/>
          </p:cNvCxnSpPr>
          <p:nvPr/>
        </p:nvCxnSpPr>
        <p:spPr>
          <a:xfrm>
            <a:off x="9177450" y="4737900"/>
            <a:ext cx="944137" cy="722628"/>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cxnSp>
        <p:nvCxnSpPr>
          <p:cNvPr id="19" name="Straight Connector 18">
            <a:extLst>
              <a:ext uri="{FF2B5EF4-FFF2-40B4-BE49-F238E27FC236}">
                <a16:creationId xmlns:a16="http://schemas.microsoft.com/office/drawing/2014/main" id="{86B9F086-608E-486C-8D8C-7C8E1AA67578}"/>
              </a:ext>
            </a:extLst>
          </p:cNvPr>
          <p:cNvCxnSpPr/>
          <p:nvPr/>
        </p:nvCxnSpPr>
        <p:spPr>
          <a:xfrm>
            <a:off x="6338350" y="4414827"/>
            <a:ext cx="2839100" cy="0"/>
          </a:xfrm>
          <a:prstGeom prst="line">
            <a:avLst/>
          </a:prstGeom>
        </p:spPr>
        <p:style>
          <a:lnRef idx="1">
            <a:schemeClr val="accent1"/>
          </a:lnRef>
          <a:fillRef idx="0">
            <a:schemeClr val="accent1"/>
          </a:fillRef>
          <a:effectRef idx="0">
            <a:schemeClr val="accent1"/>
          </a:effectRef>
          <a:fontRef idx="minor">
            <a:schemeClr val="tx1"/>
          </a:fontRef>
        </p:style>
      </p:cxnSp>
      <p:sp>
        <p:nvSpPr>
          <p:cNvPr id="20" name="TextBox 19">
            <a:extLst>
              <a:ext uri="{FF2B5EF4-FFF2-40B4-BE49-F238E27FC236}">
                <a16:creationId xmlns:a16="http://schemas.microsoft.com/office/drawing/2014/main" id="{ACC28696-E7C9-4BA2-B671-863A1522FC3E}"/>
              </a:ext>
            </a:extLst>
          </p:cNvPr>
          <p:cNvSpPr txBox="1"/>
          <p:nvPr/>
        </p:nvSpPr>
        <p:spPr>
          <a:xfrm flipH="1">
            <a:off x="7564055" y="4086240"/>
            <a:ext cx="363159" cy="369332"/>
          </a:xfrm>
          <a:prstGeom prst="rect">
            <a:avLst/>
          </a:prstGeom>
          <a:noFill/>
        </p:spPr>
        <p:txBody>
          <a:bodyPr wrap="square" rtlCol="0">
            <a:spAutoFit/>
          </a:bodyPr>
          <a:lstStyle/>
          <a:p>
            <a:r>
              <a:rPr lang="en-US" dirty="0"/>
              <a:t>H</a:t>
            </a:r>
          </a:p>
        </p:txBody>
      </p:sp>
      <p:sp>
        <p:nvSpPr>
          <p:cNvPr id="16" name="TextBox 15">
            <a:extLst>
              <a:ext uri="{FF2B5EF4-FFF2-40B4-BE49-F238E27FC236}">
                <a16:creationId xmlns:a16="http://schemas.microsoft.com/office/drawing/2014/main" id="{ED1D1CEC-61DE-41B8-BDA1-0303CC0BDF18}"/>
              </a:ext>
            </a:extLst>
          </p:cNvPr>
          <p:cNvSpPr txBox="1"/>
          <p:nvPr/>
        </p:nvSpPr>
        <p:spPr>
          <a:xfrm>
            <a:off x="189571" y="6447755"/>
            <a:ext cx="3579542" cy="369332"/>
          </a:xfrm>
          <a:prstGeom prst="rect">
            <a:avLst/>
          </a:prstGeom>
          <a:noFill/>
        </p:spPr>
        <p:txBody>
          <a:bodyPr wrap="square" rtlCol="0">
            <a:spAutoFit/>
          </a:bodyPr>
          <a:lstStyle/>
          <a:p>
            <a:r>
              <a:rPr lang="en-US" dirty="0">
                <a:solidFill>
                  <a:schemeClr val="bg1"/>
                </a:solidFill>
              </a:rPr>
              <a:t>Mohammad Mahdi Manafi</a:t>
            </a:r>
          </a:p>
        </p:txBody>
      </p:sp>
    </p:spTree>
    <p:extLst>
      <p:ext uri="{BB962C8B-B14F-4D97-AF65-F5344CB8AC3E}">
        <p14:creationId xmlns:p14="http://schemas.microsoft.com/office/powerpoint/2010/main" val="1495144866"/>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2" name="Rectangle 51">
            <a:extLst>
              <a:ext uri="{FF2B5EF4-FFF2-40B4-BE49-F238E27FC236}">
                <a16:creationId xmlns:a16="http://schemas.microsoft.com/office/drawing/2014/main" id="{BB664DA8-99BE-4131-B042-F0AEEDCCC99A}"/>
              </a:ext>
            </a:extLst>
          </p:cNvPr>
          <p:cNvSpPr/>
          <p:nvPr/>
        </p:nvSpPr>
        <p:spPr>
          <a:xfrm>
            <a:off x="9299126" y="2297151"/>
            <a:ext cx="2744187" cy="2288993"/>
          </a:xfrm>
          <a:prstGeom prst="rect">
            <a:avLst/>
          </a:prstGeom>
        </p:spPr>
        <p:style>
          <a:lnRef idx="2">
            <a:schemeClr val="accent3">
              <a:shade val="50000"/>
            </a:schemeClr>
          </a:lnRef>
          <a:fillRef idx="1">
            <a:schemeClr val="accent3"/>
          </a:fillRef>
          <a:effectRef idx="0">
            <a:schemeClr val="accent3"/>
          </a:effectRef>
          <a:fontRef idx="minor">
            <a:schemeClr val="lt1"/>
          </a:fontRef>
        </p:style>
        <p:txBody>
          <a:bodyPr rtlCol="0" anchor="ctr"/>
          <a:lstStyle/>
          <a:p>
            <a:pPr algn="ctr"/>
            <a:endParaRPr lang="en-US"/>
          </a:p>
        </p:txBody>
      </p:sp>
      <p:sp>
        <p:nvSpPr>
          <p:cNvPr id="2" name="Title 1">
            <a:extLst>
              <a:ext uri="{FF2B5EF4-FFF2-40B4-BE49-F238E27FC236}">
                <a16:creationId xmlns:a16="http://schemas.microsoft.com/office/drawing/2014/main" id="{8877D41A-B671-4923-8796-A1E5A2F7E9B3}"/>
              </a:ext>
            </a:extLst>
          </p:cNvPr>
          <p:cNvSpPr>
            <a:spLocks noGrp="1"/>
          </p:cNvSpPr>
          <p:nvPr>
            <p:ph type="title"/>
          </p:nvPr>
        </p:nvSpPr>
        <p:spPr>
          <a:xfrm>
            <a:off x="1097280" y="241998"/>
            <a:ext cx="10058400" cy="1450757"/>
          </a:xfrm>
        </p:spPr>
        <p:txBody>
          <a:bodyPr/>
          <a:lstStyle/>
          <a:p>
            <a:r>
              <a:rPr lang="en-US" dirty="0"/>
              <a:t>System model</a:t>
            </a:r>
          </a:p>
        </p:txBody>
      </p:sp>
      <mc:AlternateContent xmlns:mc="http://schemas.openxmlformats.org/markup-compatibility/2006" xmlns:a14="http://schemas.microsoft.com/office/drawing/2010/main">
        <mc:Choice Requires="a14">
          <p:sp>
            <p:nvSpPr>
              <p:cNvPr id="3" name="Content Placeholder 2">
                <a:extLst>
                  <a:ext uri="{FF2B5EF4-FFF2-40B4-BE49-F238E27FC236}">
                    <a16:creationId xmlns:a16="http://schemas.microsoft.com/office/drawing/2014/main" id="{2C79B3F3-89E5-409D-94AD-C437D3C0C6A9}"/>
                  </a:ext>
                </a:extLst>
              </p:cNvPr>
              <p:cNvSpPr>
                <a:spLocks noGrp="1"/>
              </p:cNvSpPr>
              <p:nvPr>
                <p:ph idx="1"/>
              </p:nvPr>
            </p:nvSpPr>
            <p:spPr>
              <a:xfrm>
                <a:off x="1097280" y="1845734"/>
                <a:ext cx="4998720" cy="4023360"/>
              </a:xfrm>
            </p:spPr>
            <p:txBody>
              <a:bodyPr>
                <a:normAutofit fontScale="92500" lnSpcReduction="10000"/>
              </a:bodyPr>
              <a:lstStyle/>
              <a:p>
                <a:pPr>
                  <a:buFont typeface="Wingdings" panose="05000000000000000000" pitchFamily="2" charset="2"/>
                  <a:buChar char="q"/>
                </a:pPr>
                <a:r>
                  <a:rPr lang="en-US" b="0" dirty="0"/>
                  <a:t>Fog nodes</a:t>
                </a:r>
              </a:p>
              <a:p>
                <a:pPr lvl="1">
                  <a:buFont typeface="Wingdings" panose="05000000000000000000" pitchFamily="2" charset="2"/>
                  <a:buChar char="q"/>
                </a:pPr>
                <a14:m>
                  <m:oMath xmlns:m="http://schemas.openxmlformats.org/officeDocument/2006/math">
                    <m:r>
                      <a:rPr lang="en-US" b="0" i="1" smtClean="0">
                        <a:latin typeface="Cambria Math" panose="02040503050406030204" pitchFamily="18" charset="0"/>
                      </a:rPr>
                      <m:t> </m:t>
                    </m:r>
                    <m:sSub>
                      <m:sSubPr>
                        <m:ctrlPr>
                          <a:rPr lang="en-US" i="1" smtClean="0">
                            <a:latin typeface="Cambria Math" panose="02040503050406030204" pitchFamily="18" charset="0"/>
                          </a:rPr>
                        </m:ctrlPr>
                      </m:sSubPr>
                      <m:e>
                        <m:r>
                          <a:rPr lang="en-US" b="0" i="1" smtClean="0">
                            <a:latin typeface="Cambria Math" panose="02040503050406030204" pitchFamily="18" charset="0"/>
                          </a:rPr>
                          <m:t>𝐹</m:t>
                        </m:r>
                      </m:e>
                      <m:sub>
                        <m:r>
                          <a:rPr lang="en-US" b="0" i="1" smtClean="0">
                            <a:latin typeface="Cambria Math" panose="02040503050406030204" pitchFamily="18" charset="0"/>
                          </a:rPr>
                          <m:t>𝐶</m:t>
                        </m:r>
                      </m:sub>
                    </m:sSub>
                    <m:r>
                      <a:rPr lang="en-US" b="0" i="1" smtClean="0">
                        <a:latin typeface="Cambria Math" panose="02040503050406030204" pitchFamily="18" charset="0"/>
                      </a:rPr>
                      <m:t>=</m:t>
                    </m:r>
                    <m:d>
                      <m:dPr>
                        <m:begChr m:val="{"/>
                        <m:endChr m:val="}"/>
                        <m:ctrlPr>
                          <a:rPr lang="en-US" b="0" i="1" smtClean="0">
                            <a:latin typeface="Cambria Math" panose="02040503050406030204" pitchFamily="18" charset="0"/>
                          </a:rPr>
                        </m:ctrlPr>
                      </m:dPr>
                      <m:e>
                        <m:sSub>
                          <m:sSubPr>
                            <m:ctrlPr>
                              <a:rPr lang="en-US" b="0" i="1" smtClean="0">
                                <a:latin typeface="Cambria Math" panose="02040503050406030204" pitchFamily="18" charset="0"/>
                              </a:rPr>
                            </m:ctrlPr>
                          </m:sSubPr>
                          <m:e>
                            <m:r>
                              <a:rPr lang="en-US" b="0" i="1" smtClean="0">
                                <a:latin typeface="Cambria Math" panose="02040503050406030204" pitchFamily="18" charset="0"/>
                              </a:rPr>
                              <m:t>𝐹</m:t>
                            </m:r>
                          </m:e>
                          <m:sub>
                            <m:r>
                              <a:rPr lang="en-US" b="0" i="1" smtClean="0">
                                <a:latin typeface="Cambria Math" panose="02040503050406030204" pitchFamily="18" charset="0"/>
                              </a:rPr>
                              <m:t>1</m:t>
                            </m:r>
                          </m:sub>
                        </m:sSub>
                        <m:r>
                          <a:rPr lang="en-US" b="0" i="1" smtClean="0">
                            <a:latin typeface="Cambria Math" panose="02040503050406030204" pitchFamily="18" charset="0"/>
                          </a:rPr>
                          <m:t>,</m:t>
                        </m:r>
                        <m:sSub>
                          <m:sSubPr>
                            <m:ctrlPr>
                              <a:rPr lang="en-US" i="1">
                                <a:latin typeface="Cambria Math" panose="02040503050406030204" pitchFamily="18" charset="0"/>
                              </a:rPr>
                            </m:ctrlPr>
                          </m:sSubPr>
                          <m:e>
                            <m:r>
                              <a:rPr lang="en-US" i="1">
                                <a:latin typeface="Cambria Math" panose="02040503050406030204" pitchFamily="18" charset="0"/>
                              </a:rPr>
                              <m:t>𝐹</m:t>
                            </m:r>
                          </m:e>
                          <m:sub>
                            <m:r>
                              <a:rPr lang="en-US" b="0" i="1" smtClean="0">
                                <a:latin typeface="Cambria Math" panose="02040503050406030204" pitchFamily="18" charset="0"/>
                              </a:rPr>
                              <m:t>2</m:t>
                            </m:r>
                          </m:sub>
                        </m:sSub>
                        <m:r>
                          <a:rPr lang="en-US" b="0" i="1" smtClean="0">
                            <a:latin typeface="Cambria Math" panose="02040503050406030204" pitchFamily="18" charset="0"/>
                          </a:rPr>
                          <m:t>, …,</m:t>
                        </m:r>
                        <m:sSub>
                          <m:sSubPr>
                            <m:ctrlPr>
                              <a:rPr lang="en-US" i="1">
                                <a:latin typeface="Cambria Math" panose="02040503050406030204" pitchFamily="18" charset="0"/>
                              </a:rPr>
                            </m:ctrlPr>
                          </m:sSubPr>
                          <m:e>
                            <m:r>
                              <a:rPr lang="en-US" i="1">
                                <a:latin typeface="Cambria Math" panose="02040503050406030204" pitchFamily="18" charset="0"/>
                              </a:rPr>
                              <m:t>𝐹</m:t>
                            </m:r>
                          </m:e>
                          <m:sub>
                            <m:r>
                              <a:rPr lang="en-US" b="0" i="1" smtClean="0">
                                <a:latin typeface="Cambria Math" panose="02040503050406030204" pitchFamily="18" charset="0"/>
                              </a:rPr>
                              <m:t>𝑛</m:t>
                            </m:r>
                          </m:sub>
                        </m:sSub>
                      </m:e>
                    </m:d>
                  </m:oMath>
                </a14:m>
                <a:endParaRPr lang="en-US" dirty="0"/>
              </a:p>
              <a:p>
                <a:pPr>
                  <a:buFont typeface="Wingdings" panose="05000000000000000000" pitchFamily="2" charset="2"/>
                  <a:buChar char="q"/>
                </a:pPr>
                <a:r>
                  <a:rPr lang="en-US" dirty="0"/>
                  <a:t>Edge nodes</a:t>
                </a:r>
              </a:p>
              <a:p>
                <a:pPr lvl="1">
                  <a:buFont typeface="Wingdings" panose="05000000000000000000" pitchFamily="2" charset="2"/>
                  <a:buChar char="q"/>
                </a:pPr>
                <a14:m>
                  <m:oMath xmlns:m="http://schemas.openxmlformats.org/officeDocument/2006/math">
                    <m:sSub>
                      <m:sSubPr>
                        <m:ctrlPr>
                          <a:rPr lang="en-US" i="1" smtClean="0">
                            <a:latin typeface="Cambria Math" panose="02040503050406030204" pitchFamily="18" charset="0"/>
                          </a:rPr>
                        </m:ctrlPr>
                      </m:sSubPr>
                      <m:e>
                        <m:r>
                          <a:rPr lang="en-US" b="0" i="1" smtClean="0">
                            <a:latin typeface="Cambria Math" panose="02040503050406030204" pitchFamily="18" charset="0"/>
                          </a:rPr>
                          <m:t>𝐸</m:t>
                        </m:r>
                      </m:e>
                      <m:sub>
                        <m:r>
                          <a:rPr lang="en-US" b="0" i="1" smtClean="0">
                            <a:latin typeface="Cambria Math" panose="02040503050406030204" pitchFamily="18" charset="0"/>
                          </a:rPr>
                          <m:t>𝐹</m:t>
                        </m:r>
                      </m:sub>
                    </m:sSub>
                    <m:r>
                      <a:rPr lang="en-US" b="0" i="1" smtClean="0">
                        <a:latin typeface="Cambria Math" panose="02040503050406030204" pitchFamily="18" charset="0"/>
                      </a:rPr>
                      <m:t>=</m:t>
                    </m:r>
                    <m:d>
                      <m:dPr>
                        <m:begChr m:val="{"/>
                        <m:endChr m:val="}"/>
                        <m:ctrlPr>
                          <a:rPr lang="en-US" b="0" i="1" smtClean="0">
                            <a:latin typeface="Cambria Math" panose="02040503050406030204" pitchFamily="18" charset="0"/>
                          </a:rPr>
                        </m:ctrlPr>
                      </m:dPr>
                      <m:e>
                        <m:sSub>
                          <m:sSubPr>
                            <m:ctrlPr>
                              <a:rPr lang="en-US" b="0" i="1" smtClean="0">
                                <a:latin typeface="Cambria Math" panose="02040503050406030204" pitchFamily="18" charset="0"/>
                              </a:rPr>
                            </m:ctrlPr>
                          </m:sSubPr>
                          <m:e>
                            <m:r>
                              <a:rPr lang="en-US" b="0" i="1" smtClean="0">
                                <a:latin typeface="Cambria Math" panose="02040503050406030204" pitchFamily="18" charset="0"/>
                              </a:rPr>
                              <m:t>𝐸</m:t>
                            </m:r>
                          </m:e>
                          <m:sub>
                            <m:r>
                              <a:rPr lang="en-US" b="0" i="1" smtClean="0">
                                <a:latin typeface="Cambria Math" panose="02040503050406030204" pitchFamily="18" charset="0"/>
                              </a:rPr>
                              <m:t>1</m:t>
                            </m:r>
                          </m:sub>
                        </m:sSub>
                        <m:r>
                          <a:rPr lang="en-US" b="0" i="1" smtClean="0">
                            <a:latin typeface="Cambria Math" panose="02040503050406030204" pitchFamily="18" charset="0"/>
                          </a:rPr>
                          <m:t>,</m:t>
                        </m:r>
                        <m:sSub>
                          <m:sSubPr>
                            <m:ctrlPr>
                              <a:rPr lang="en-US" i="1">
                                <a:latin typeface="Cambria Math" panose="02040503050406030204" pitchFamily="18" charset="0"/>
                              </a:rPr>
                            </m:ctrlPr>
                          </m:sSubPr>
                          <m:e>
                            <m:r>
                              <a:rPr lang="en-US" i="1">
                                <a:latin typeface="Cambria Math" panose="02040503050406030204" pitchFamily="18" charset="0"/>
                              </a:rPr>
                              <m:t>𝐸</m:t>
                            </m:r>
                          </m:e>
                          <m:sub>
                            <m:r>
                              <a:rPr lang="en-US" b="0" i="1" smtClean="0">
                                <a:latin typeface="Cambria Math" panose="02040503050406030204" pitchFamily="18" charset="0"/>
                              </a:rPr>
                              <m:t>2</m:t>
                            </m:r>
                          </m:sub>
                        </m:sSub>
                        <m:r>
                          <a:rPr lang="en-US" i="1">
                            <a:latin typeface="Cambria Math" panose="02040503050406030204" pitchFamily="18" charset="0"/>
                          </a:rPr>
                          <m:t>,</m:t>
                        </m:r>
                        <m:r>
                          <a:rPr lang="en-US" b="0" i="1" smtClean="0">
                            <a:latin typeface="Cambria Math" panose="02040503050406030204" pitchFamily="18" charset="0"/>
                          </a:rPr>
                          <m:t>…,</m:t>
                        </m:r>
                        <m:sSub>
                          <m:sSubPr>
                            <m:ctrlPr>
                              <a:rPr lang="en-US" i="1">
                                <a:latin typeface="Cambria Math" panose="02040503050406030204" pitchFamily="18" charset="0"/>
                              </a:rPr>
                            </m:ctrlPr>
                          </m:sSubPr>
                          <m:e>
                            <m:r>
                              <a:rPr lang="en-US" i="1">
                                <a:latin typeface="Cambria Math" panose="02040503050406030204" pitchFamily="18" charset="0"/>
                              </a:rPr>
                              <m:t>𝐸</m:t>
                            </m:r>
                          </m:e>
                          <m:sub>
                            <m:r>
                              <a:rPr lang="en-US" b="0" i="1" smtClean="0">
                                <a:latin typeface="Cambria Math" panose="02040503050406030204" pitchFamily="18" charset="0"/>
                              </a:rPr>
                              <m:t>𝑛</m:t>
                            </m:r>
                          </m:sub>
                        </m:sSub>
                      </m:e>
                    </m:d>
                  </m:oMath>
                </a14:m>
                <a:endParaRPr lang="en-US" dirty="0"/>
              </a:p>
              <a:p>
                <a:pPr>
                  <a:buFont typeface="Wingdings" panose="05000000000000000000" pitchFamily="2" charset="2"/>
                  <a:buChar char="q"/>
                </a:pPr>
                <a:r>
                  <a:rPr lang="en-US" dirty="0"/>
                  <a:t> </a:t>
                </a:r>
                <a14:m>
                  <m:oMath xmlns:m="http://schemas.openxmlformats.org/officeDocument/2006/math">
                    <m:sSub>
                      <m:sSubPr>
                        <m:ctrlPr>
                          <a:rPr lang="en-US" i="1" smtClean="0">
                            <a:latin typeface="Cambria Math" panose="02040503050406030204" pitchFamily="18" charset="0"/>
                          </a:rPr>
                        </m:ctrlPr>
                      </m:sSubPr>
                      <m:e>
                        <m:r>
                          <a:rPr lang="en-US" b="0" i="1" smtClean="0">
                            <a:latin typeface="Cambria Math" panose="02040503050406030204" pitchFamily="18" charset="0"/>
                          </a:rPr>
                          <m:t>𝑇</m:t>
                        </m:r>
                      </m:e>
                      <m:sub>
                        <m:r>
                          <a:rPr lang="en-US" b="0" i="1" smtClean="0">
                            <a:latin typeface="Cambria Math" panose="02040503050406030204" pitchFamily="18" charset="0"/>
                          </a:rPr>
                          <m:t>𝐸</m:t>
                        </m:r>
                      </m:sub>
                    </m:sSub>
                    <m:r>
                      <a:rPr lang="en-US" b="0" i="1" smtClean="0">
                        <a:latin typeface="Cambria Math" panose="02040503050406030204" pitchFamily="18" charset="0"/>
                      </a:rPr>
                      <m:t> </m:t>
                    </m:r>
                  </m:oMath>
                </a14:m>
                <a:r>
                  <a:rPr lang="en-US" dirty="0"/>
                  <a:t>Mean service time for tasks at each site</a:t>
                </a:r>
              </a:p>
              <a:p>
                <a:pPr lvl="1">
                  <a:buFont typeface="Wingdings" panose="05000000000000000000" pitchFamily="2" charset="2"/>
                  <a:buChar char="q"/>
                </a:pPr>
                <a:r>
                  <a:rPr lang="en-US" dirty="0"/>
                  <a:t>Exponentially distributed</a:t>
                </a:r>
              </a:p>
              <a:p>
                <a:pPr lvl="1">
                  <a:buFont typeface="Wingdings" panose="05000000000000000000" pitchFamily="2" charset="2"/>
                  <a:buChar char="q"/>
                </a:pPr>
                <a:r>
                  <a:rPr lang="en-US" dirty="0"/>
                  <a:t>At most H tasks and K servers</a:t>
                </a:r>
              </a:p>
              <a:p>
                <a:pPr>
                  <a:buFont typeface="Wingdings" panose="05000000000000000000" pitchFamily="2" charset="2"/>
                  <a:buChar char="q"/>
                </a:pPr>
                <a14:m>
                  <m:oMath xmlns:m="http://schemas.openxmlformats.org/officeDocument/2006/math">
                    <m:sSub>
                      <m:sSubPr>
                        <m:ctrlPr>
                          <a:rPr lang="en-US" b="0" i="1" smtClean="0">
                            <a:latin typeface="Cambria Math" panose="02040503050406030204" pitchFamily="18" charset="0"/>
                          </a:rPr>
                        </m:ctrlPr>
                      </m:sSubPr>
                      <m:e>
                        <m:r>
                          <a:rPr lang="en-US" b="0" i="1" smtClean="0">
                            <a:latin typeface="Cambria Math" panose="02040503050406030204" pitchFamily="18" charset="0"/>
                          </a:rPr>
                          <m:t>𝑃</m:t>
                        </m:r>
                      </m:e>
                      <m:sub>
                        <m:r>
                          <a:rPr lang="en-US" b="0" i="1" smtClean="0">
                            <a:latin typeface="Cambria Math" panose="02040503050406030204" pitchFamily="18" charset="0"/>
                          </a:rPr>
                          <m:t>𝑒𝑜𝑢𝑡</m:t>
                        </m:r>
                      </m:sub>
                    </m:sSub>
                  </m:oMath>
                </a14:m>
                <a:endParaRPr lang="en-US" dirty="0"/>
              </a:p>
              <a:p>
                <a:pPr lvl="1">
                  <a:buFont typeface="Wingdings" panose="05000000000000000000" pitchFamily="2" charset="2"/>
                  <a:buChar char="q"/>
                </a:pPr>
                <a:r>
                  <a:rPr lang="en-US" b="0" dirty="0"/>
                  <a:t>With this probability </a:t>
                </a:r>
                <a:r>
                  <a:rPr lang="en-US" dirty="0"/>
                  <a:t>task does not complete before its deadline</a:t>
                </a:r>
              </a:p>
              <a:p>
                <a:pPr>
                  <a:buFont typeface="Wingdings" panose="05000000000000000000" pitchFamily="2" charset="2"/>
                  <a:buChar char="q"/>
                </a:pPr>
                <a14:m>
                  <m:oMath xmlns:m="http://schemas.openxmlformats.org/officeDocument/2006/math">
                    <m:sSub>
                      <m:sSubPr>
                        <m:ctrlPr>
                          <a:rPr lang="en-US" b="0" i="1" smtClean="0">
                            <a:latin typeface="Cambria Math" panose="02040503050406030204" pitchFamily="18" charset="0"/>
                          </a:rPr>
                        </m:ctrlPr>
                      </m:sSubPr>
                      <m:e>
                        <m:r>
                          <a:rPr lang="en-US" b="0" i="1" smtClean="0">
                            <a:latin typeface="Cambria Math" panose="02040503050406030204" pitchFamily="18" charset="0"/>
                          </a:rPr>
                          <m:t>𝑃</m:t>
                        </m:r>
                      </m:e>
                      <m:sub>
                        <m:r>
                          <a:rPr lang="en-US" b="0" i="1" smtClean="0">
                            <a:latin typeface="Cambria Math" panose="02040503050406030204" pitchFamily="18" charset="0"/>
                          </a:rPr>
                          <m:t>𝑒𝑜𝑢𝑡</m:t>
                        </m:r>
                        <m:r>
                          <a:rPr lang="en-US" b="0" i="1" smtClean="0">
                            <a:latin typeface="Cambria Math" panose="02040503050406030204" pitchFamily="18" charset="0"/>
                          </a:rPr>
                          <m:t>,</m:t>
                        </m:r>
                        <m:r>
                          <a:rPr lang="en-US" b="0" i="1" smtClean="0">
                            <a:latin typeface="Cambria Math" panose="02040503050406030204" pitchFamily="18" charset="0"/>
                          </a:rPr>
                          <m:t>𝑡𝑔</m:t>
                        </m:r>
                      </m:sub>
                    </m:sSub>
                  </m:oMath>
                </a14:m>
                <a:r>
                  <a:rPr lang="en-US" dirty="0"/>
                  <a:t> it is threshold</a:t>
                </a:r>
              </a:p>
              <a:p>
                <a:pPr lvl="1">
                  <a:buFont typeface="Wingdings" panose="05000000000000000000" pitchFamily="2" charset="2"/>
                  <a:buChar char="q"/>
                </a:pPr>
                <a14:m>
                  <m:oMath xmlns:m="http://schemas.openxmlformats.org/officeDocument/2006/math">
                    <m:sSub>
                      <m:sSubPr>
                        <m:ctrlPr>
                          <a:rPr lang="en-US" b="0" i="1" smtClean="0">
                            <a:latin typeface="Cambria Math" panose="02040503050406030204" pitchFamily="18" charset="0"/>
                          </a:rPr>
                        </m:ctrlPr>
                      </m:sSubPr>
                      <m:e>
                        <m:r>
                          <a:rPr lang="en-US" b="0" i="1" smtClean="0">
                            <a:latin typeface="Cambria Math" panose="02040503050406030204" pitchFamily="18" charset="0"/>
                          </a:rPr>
                          <m:t>𝑃</m:t>
                        </m:r>
                      </m:e>
                      <m:sub>
                        <m:r>
                          <a:rPr lang="en-US" b="0" i="1" smtClean="0">
                            <a:latin typeface="Cambria Math" panose="02040503050406030204" pitchFamily="18" charset="0"/>
                          </a:rPr>
                          <m:t>𝑒𝑜𝑢𝑡</m:t>
                        </m:r>
                      </m:sub>
                    </m:sSub>
                    <m:r>
                      <a:rPr lang="en-US" b="0" i="1" smtClean="0">
                        <a:latin typeface="Cambria Math" panose="02040503050406030204" pitchFamily="18" charset="0"/>
                      </a:rPr>
                      <m:t>≤</m:t>
                    </m:r>
                    <m:sSub>
                      <m:sSubPr>
                        <m:ctrlPr>
                          <a:rPr lang="en-US" i="1">
                            <a:latin typeface="Cambria Math" panose="02040503050406030204" pitchFamily="18" charset="0"/>
                          </a:rPr>
                        </m:ctrlPr>
                      </m:sSubPr>
                      <m:e>
                        <m:r>
                          <a:rPr lang="en-US" i="1">
                            <a:latin typeface="Cambria Math" panose="02040503050406030204" pitchFamily="18" charset="0"/>
                          </a:rPr>
                          <m:t>𝑃</m:t>
                        </m:r>
                      </m:e>
                      <m:sub>
                        <m:r>
                          <a:rPr lang="en-US" i="1">
                            <a:latin typeface="Cambria Math" panose="02040503050406030204" pitchFamily="18" charset="0"/>
                          </a:rPr>
                          <m:t>𝑒𝑜𝑢𝑡</m:t>
                        </m:r>
                        <m:r>
                          <a:rPr lang="en-US" b="0" i="1" smtClean="0">
                            <a:latin typeface="Cambria Math" panose="02040503050406030204" pitchFamily="18" charset="0"/>
                          </a:rPr>
                          <m:t>,</m:t>
                        </m:r>
                        <m:r>
                          <a:rPr lang="en-US" b="0" i="1" smtClean="0">
                            <a:latin typeface="Cambria Math" panose="02040503050406030204" pitchFamily="18" charset="0"/>
                          </a:rPr>
                          <m:t>𝑡𝑔</m:t>
                        </m:r>
                      </m:sub>
                    </m:sSub>
                  </m:oMath>
                </a14:m>
                <a:endParaRPr lang="en-US" dirty="0"/>
              </a:p>
              <a:p>
                <a:pPr>
                  <a:buFont typeface="Wingdings" panose="05000000000000000000" pitchFamily="2" charset="2"/>
                  <a:buChar char="q"/>
                </a:pPr>
                <a:endParaRPr lang="en-US" dirty="0"/>
              </a:p>
            </p:txBody>
          </p:sp>
        </mc:Choice>
        <mc:Fallback xmlns="">
          <p:sp>
            <p:nvSpPr>
              <p:cNvPr id="3" name="Content Placeholder 2">
                <a:extLst>
                  <a:ext uri="{FF2B5EF4-FFF2-40B4-BE49-F238E27FC236}">
                    <a16:creationId xmlns:a16="http://schemas.microsoft.com/office/drawing/2014/main" id="{2C79B3F3-89E5-409D-94AD-C437D3C0C6A9}"/>
                  </a:ext>
                </a:extLst>
              </p:cNvPr>
              <p:cNvSpPr>
                <a:spLocks noGrp="1" noRot="1" noChangeAspect="1" noMove="1" noResize="1" noEditPoints="1" noAdjustHandles="1" noChangeArrowheads="1" noChangeShapeType="1" noTextEdit="1"/>
              </p:cNvSpPr>
              <p:nvPr>
                <p:ph idx="1"/>
              </p:nvPr>
            </p:nvSpPr>
            <p:spPr>
              <a:xfrm>
                <a:off x="1097280" y="1845734"/>
                <a:ext cx="4998720" cy="4023360"/>
              </a:xfrm>
              <a:blipFill>
                <a:blip r:embed="rId3"/>
                <a:stretch>
                  <a:fillRect l="-2683" t="-1970" r="-1707"/>
                </a:stretch>
              </a:blipFill>
            </p:spPr>
            <p:txBody>
              <a:bodyPr/>
              <a:lstStyle/>
              <a:p>
                <a:r>
                  <a:rPr lang="en-US">
                    <a:noFill/>
                  </a:rPr>
                  <a:t> </a:t>
                </a:r>
              </a:p>
            </p:txBody>
          </p:sp>
        </mc:Fallback>
      </mc:AlternateContent>
      <p:sp>
        <p:nvSpPr>
          <p:cNvPr id="4" name="Slide Number Placeholder 3">
            <a:extLst>
              <a:ext uri="{FF2B5EF4-FFF2-40B4-BE49-F238E27FC236}">
                <a16:creationId xmlns:a16="http://schemas.microsoft.com/office/drawing/2014/main" id="{D560D277-86F1-438B-8723-A62573D04C89}"/>
              </a:ext>
            </a:extLst>
          </p:cNvPr>
          <p:cNvSpPr>
            <a:spLocks noGrp="1"/>
          </p:cNvSpPr>
          <p:nvPr>
            <p:ph type="sldNum" sz="quarter" idx="12"/>
          </p:nvPr>
        </p:nvSpPr>
        <p:spPr/>
        <p:txBody>
          <a:bodyPr/>
          <a:lstStyle/>
          <a:p>
            <a:fld id="{DC4CAFB8-3EF6-4FAF-BDFA-EA2F8D8834E4}" type="slidenum">
              <a:rPr lang="en-US" smtClean="0"/>
              <a:t>11</a:t>
            </a:fld>
            <a:endParaRPr lang="en-US"/>
          </a:p>
        </p:txBody>
      </p:sp>
      <p:sp>
        <p:nvSpPr>
          <p:cNvPr id="5" name="Rectangle 4">
            <a:extLst>
              <a:ext uri="{FF2B5EF4-FFF2-40B4-BE49-F238E27FC236}">
                <a16:creationId xmlns:a16="http://schemas.microsoft.com/office/drawing/2014/main" id="{1094E911-4BCA-4BF2-944B-80948AA360BE}"/>
              </a:ext>
            </a:extLst>
          </p:cNvPr>
          <p:cNvSpPr/>
          <p:nvPr/>
        </p:nvSpPr>
        <p:spPr>
          <a:xfrm>
            <a:off x="6021316" y="5397187"/>
            <a:ext cx="1326995" cy="691376"/>
          </a:xfrm>
          <a:prstGeom prst="rect">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dirty="0"/>
              <a:t>Tasks</a:t>
            </a:r>
          </a:p>
        </p:txBody>
      </p:sp>
      <mc:AlternateContent xmlns:mc="http://schemas.openxmlformats.org/markup-compatibility/2006" xmlns:a14="http://schemas.microsoft.com/office/drawing/2010/main">
        <mc:Choice Requires="a14">
          <p:sp>
            <p:nvSpPr>
              <p:cNvPr id="6" name="Oval 5">
                <a:extLst>
                  <a:ext uri="{FF2B5EF4-FFF2-40B4-BE49-F238E27FC236}">
                    <a16:creationId xmlns:a16="http://schemas.microsoft.com/office/drawing/2014/main" id="{B725EF75-2A68-4894-910C-6AB612697EEF}"/>
                  </a:ext>
                </a:extLst>
              </p:cNvPr>
              <p:cNvSpPr/>
              <p:nvPr/>
            </p:nvSpPr>
            <p:spPr>
              <a:xfrm>
                <a:off x="6266981" y="4198431"/>
                <a:ext cx="869795" cy="691376"/>
              </a:xfrm>
              <a:prstGeom prst="ellipse">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14:m>
                  <m:oMathPara xmlns:m="http://schemas.openxmlformats.org/officeDocument/2006/math">
                    <m:oMathParaPr>
                      <m:jc m:val="centerGroup"/>
                    </m:oMathParaPr>
                    <m:oMath xmlns:m="http://schemas.openxmlformats.org/officeDocument/2006/math">
                      <m:sSub>
                        <m:sSubPr>
                          <m:ctrlPr>
                            <a:rPr lang="en-US" i="1" smtClean="0">
                              <a:latin typeface="Cambria Math" panose="02040503050406030204" pitchFamily="18" charset="0"/>
                            </a:rPr>
                          </m:ctrlPr>
                        </m:sSubPr>
                        <m:e>
                          <m:r>
                            <a:rPr lang="en-US" b="0" i="1" smtClean="0">
                              <a:latin typeface="Cambria Math" panose="02040503050406030204" pitchFamily="18" charset="0"/>
                            </a:rPr>
                            <m:t>𝐸</m:t>
                          </m:r>
                        </m:e>
                        <m:sub>
                          <m:r>
                            <a:rPr lang="en-US" b="0" i="1" smtClean="0">
                              <a:latin typeface="Cambria Math" panose="02040503050406030204" pitchFamily="18" charset="0"/>
                            </a:rPr>
                            <m:t>1</m:t>
                          </m:r>
                        </m:sub>
                      </m:sSub>
                    </m:oMath>
                  </m:oMathPara>
                </a14:m>
                <a:endParaRPr lang="en-US" dirty="0"/>
              </a:p>
            </p:txBody>
          </p:sp>
        </mc:Choice>
        <mc:Fallback xmlns="">
          <p:sp>
            <p:nvSpPr>
              <p:cNvPr id="6" name="Oval 5">
                <a:extLst>
                  <a:ext uri="{FF2B5EF4-FFF2-40B4-BE49-F238E27FC236}">
                    <a16:creationId xmlns:a16="http://schemas.microsoft.com/office/drawing/2014/main" id="{B725EF75-2A68-4894-910C-6AB612697EEF}"/>
                  </a:ext>
                </a:extLst>
              </p:cNvPr>
              <p:cNvSpPr>
                <a:spLocks noRot="1" noChangeAspect="1" noMove="1" noResize="1" noEditPoints="1" noAdjustHandles="1" noChangeArrowheads="1" noChangeShapeType="1" noTextEdit="1"/>
              </p:cNvSpPr>
              <p:nvPr/>
            </p:nvSpPr>
            <p:spPr>
              <a:xfrm>
                <a:off x="6266981" y="4198431"/>
                <a:ext cx="869795" cy="691376"/>
              </a:xfrm>
              <a:prstGeom prst="ellipse">
                <a:avLst/>
              </a:prstGeom>
              <a:blipFill>
                <a:blip r:embed="rId4"/>
                <a:stretch>
                  <a:fillRect/>
                </a:stretch>
              </a:blipFill>
            </p:spPr>
            <p:txBody>
              <a:bodyPr/>
              <a:lstStyle/>
              <a:p>
                <a:r>
                  <a:rPr lang="en-US">
                    <a:noFill/>
                  </a:rPr>
                  <a:t> </a:t>
                </a:r>
              </a:p>
            </p:txBody>
          </p:sp>
        </mc:Fallback>
      </mc:AlternateContent>
      <mc:AlternateContent xmlns:mc="http://schemas.openxmlformats.org/markup-compatibility/2006" xmlns:a14="http://schemas.microsoft.com/office/drawing/2010/main">
        <mc:Choice Requires="a14">
          <p:sp>
            <p:nvSpPr>
              <p:cNvPr id="7" name="Oval 6">
                <a:extLst>
                  <a:ext uri="{FF2B5EF4-FFF2-40B4-BE49-F238E27FC236}">
                    <a16:creationId xmlns:a16="http://schemas.microsoft.com/office/drawing/2014/main" id="{44321087-81E9-4BA3-B8FD-83E2E2E815CE}"/>
                  </a:ext>
                </a:extLst>
              </p:cNvPr>
              <p:cNvSpPr/>
              <p:nvPr/>
            </p:nvSpPr>
            <p:spPr>
              <a:xfrm>
                <a:off x="8000502" y="4198431"/>
                <a:ext cx="869795" cy="691376"/>
              </a:xfrm>
              <a:prstGeom prst="ellipse">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14:m>
                  <m:oMathPara xmlns:m="http://schemas.openxmlformats.org/officeDocument/2006/math">
                    <m:oMathParaPr>
                      <m:jc m:val="centerGroup"/>
                    </m:oMathParaPr>
                    <m:oMath xmlns:m="http://schemas.openxmlformats.org/officeDocument/2006/math">
                      <m:sSub>
                        <m:sSubPr>
                          <m:ctrlPr>
                            <a:rPr lang="en-US" i="1" dirty="0" smtClean="0">
                              <a:latin typeface="Cambria Math" panose="02040503050406030204" pitchFamily="18" charset="0"/>
                            </a:rPr>
                          </m:ctrlPr>
                        </m:sSubPr>
                        <m:e>
                          <m:r>
                            <a:rPr lang="en-US" b="0" i="1" dirty="0" smtClean="0">
                              <a:latin typeface="Cambria Math" panose="02040503050406030204" pitchFamily="18" charset="0"/>
                            </a:rPr>
                            <m:t>𝐸</m:t>
                          </m:r>
                        </m:e>
                        <m:sub>
                          <m:r>
                            <a:rPr lang="en-US" b="0" i="1" dirty="0" smtClean="0">
                              <a:latin typeface="Cambria Math" panose="02040503050406030204" pitchFamily="18" charset="0"/>
                            </a:rPr>
                            <m:t>𝑛</m:t>
                          </m:r>
                        </m:sub>
                      </m:sSub>
                    </m:oMath>
                  </m:oMathPara>
                </a14:m>
                <a:endParaRPr lang="en-US" dirty="0"/>
              </a:p>
            </p:txBody>
          </p:sp>
        </mc:Choice>
        <mc:Fallback xmlns="">
          <p:sp>
            <p:nvSpPr>
              <p:cNvPr id="7" name="Oval 6">
                <a:extLst>
                  <a:ext uri="{FF2B5EF4-FFF2-40B4-BE49-F238E27FC236}">
                    <a16:creationId xmlns:a16="http://schemas.microsoft.com/office/drawing/2014/main" id="{44321087-81E9-4BA3-B8FD-83E2E2E815CE}"/>
                  </a:ext>
                </a:extLst>
              </p:cNvPr>
              <p:cNvSpPr>
                <a:spLocks noRot="1" noChangeAspect="1" noMove="1" noResize="1" noEditPoints="1" noAdjustHandles="1" noChangeArrowheads="1" noChangeShapeType="1" noTextEdit="1"/>
              </p:cNvSpPr>
              <p:nvPr/>
            </p:nvSpPr>
            <p:spPr>
              <a:xfrm>
                <a:off x="8000502" y="4198431"/>
                <a:ext cx="869795" cy="691376"/>
              </a:xfrm>
              <a:prstGeom prst="ellipse">
                <a:avLst/>
              </a:prstGeom>
              <a:blipFill>
                <a:blip r:embed="rId5"/>
                <a:stretch>
                  <a:fillRect/>
                </a:stretch>
              </a:blipFill>
            </p:spPr>
            <p:txBody>
              <a:bodyPr/>
              <a:lstStyle/>
              <a:p>
                <a:r>
                  <a:rPr lang="en-US">
                    <a:noFill/>
                  </a:rPr>
                  <a:t> </a:t>
                </a:r>
              </a:p>
            </p:txBody>
          </p:sp>
        </mc:Fallback>
      </mc:AlternateContent>
      <mc:AlternateContent xmlns:mc="http://schemas.openxmlformats.org/markup-compatibility/2006" xmlns:a14="http://schemas.microsoft.com/office/drawing/2010/main">
        <mc:Choice Requires="a14">
          <p:sp>
            <p:nvSpPr>
              <p:cNvPr id="8" name="Oval 7">
                <a:extLst>
                  <a:ext uri="{FF2B5EF4-FFF2-40B4-BE49-F238E27FC236}">
                    <a16:creationId xmlns:a16="http://schemas.microsoft.com/office/drawing/2014/main" id="{A19CA259-4411-4B40-9C7C-A0F7933CA9B8}"/>
                  </a:ext>
                </a:extLst>
              </p:cNvPr>
              <p:cNvSpPr/>
              <p:nvPr/>
            </p:nvSpPr>
            <p:spPr>
              <a:xfrm>
                <a:off x="7059241" y="2999675"/>
                <a:ext cx="869795" cy="691376"/>
              </a:xfrm>
              <a:prstGeom prst="ellipse">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14:m>
                  <m:oMathPara xmlns:m="http://schemas.openxmlformats.org/officeDocument/2006/math">
                    <m:oMathParaPr>
                      <m:jc m:val="centerGroup"/>
                    </m:oMathParaPr>
                    <m:oMath xmlns:m="http://schemas.openxmlformats.org/officeDocument/2006/math">
                      <m:sSub>
                        <m:sSubPr>
                          <m:ctrlPr>
                            <a:rPr lang="en-US" b="0" i="1" smtClean="0">
                              <a:latin typeface="Cambria Math" panose="02040503050406030204" pitchFamily="18" charset="0"/>
                            </a:rPr>
                          </m:ctrlPr>
                        </m:sSubPr>
                        <m:e>
                          <m:r>
                            <a:rPr lang="en-US" b="0" i="1" smtClean="0">
                              <a:latin typeface="Cambria Math" panose="02040503050406030204" pitchFamily="18" charset="0"/>
                            </a:rPr>
                            <m:t>𝐹</m:t>
                          </m:r>
                        </m:e>
                        <m:sub>
                          <m:r>
                            <a:rPr lang="en-US" b="0" i="1" smtClean="0">
                              <a:latin typeface="Cambria Math" panose="02040503050406030204" pitchFamily="18" charset="0"/>
                            </a:rPr>
                            <m:t>1</m:t>
                          </m:r>
                        </m:sub>
                      </m:sSub>
                    </m:oMath>
                  </m:oMathPara>
                </a14:m>
                <a:endParaRPr lang="en-US" dirty="0"/>
              </a:p>
            </p:txBody>
          </p:sp>
        </mc:Choice>
        <mc:Fallback xmlns="">
          <p:sp>
            <p:nvSpPr>
              <p:cNvPr id="8" name="Oval 7">
                <a:extLst>
                  <a:ext uri="{FF2B5EF4-FFF2-40B4-BE49-F238E27FC236}">
                    <a16:creationId xmlns:a16="http://schemas.microsoft.com/office/drawing/2014/main" id="{A19CA259-4411-4B40-9C7C-A0F7933CA9B8}"/>
                  </a:ext>
                </a:extLst>
              </p:cNvPr>
              <p:cNvSpPr>
                <a:spLocks noRot="1" noChangeAspect="1" noMove="1" noResize="1" noEditPoints="1" noAdjustHandles="1" noChangeArrowheads="1" noChangeShapeType="1" noTextEdit="1"/>
              </p:cNvSpPr>
              <p:nvPr/>
            </p:nvSpPr>
            <p:spPr>
              <a:xfrm>
                <a:off x="7059241" y="2999675"/>
                <a:ext cx="869795" cy="691376"/>
              </a:xfrm>
              <a:prstGeom prst="ellipse">
                <a:avLst/>
              </a:prstGeom>
              <a:blipFill>
                <a:blip r:embed="rId6"/>
                <a:stretch>
                  <a:fillRect/>
                </a:stretch>
              </a:blipFill>
            </p:spPr>
            <p:txBody>
              <a:bodyPr/>
              <a:lstStyle/>
              <a:p>
                <a:r>
                  <a:rPr lang="en-US">
                    <a:noFill/>
                  </a:rPr>
                  <a:t> </a:t>
                </a:r>
              </a:p>
            </p:txBody>
          </p:sp>
        </mc:Fallback>
      </mc:AlternateContent>
      <p:sp>
        <p:nvSpPr>
          <p:cNvPr id="9" name="Oval 8">
            <a:extLst>
              <a:ext uri="{FF2B5EF4-FFF2-40B4-BE49-F238E27FC236}">
                <a16:creationId xmlns:a16="http://schemas.microsoft.com/office/drawing/2014/main" id="{EE3D64AE-C2ED-47BE-90DC-3EE0C7F746BE}"/>
              </a:ext>
            </a:extLst>
          </p:cNvPr>
          <p:cNvSpPr/>
          <p:nvPr/>
        </p:nvSpPr>
        <p:spPr>
          <a:xfrm>
            <a:off x="6968513" y="1800919"/>
            <a:ext cx="1051253" cy="691376"/>
          </a:xfrm>
          <a:prstGeom prst="ellipse">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dirty="0"/>
              <a:t>C</a:t>
            </a:r>
          </a:p>
        </p:txBody>
      </p:sp>
      <p:cxnSp>
        <p:nvCxnSpPr>
          <p:cNvPr id="10" name="Straight Arrow Connector 9">
            <a:extLst>
              <a:ext uri="{FF2B5EF4-FFF2-40B4-BE49-F238E27FC236}">
                <a16:creationId xmlns:a16="http://schemas.microsoft.com/office/drawing/2014/main" id="{B316ABA1-908F-46EC-B92B-0343BDA6193F}"/>
              </a:ext>
            </a:extLst>
          </p:cNvPr>
          <p:cNvCxnSpPr>
            <a:stCxn id="6" idx="0"/>
            <a:endCxn id="8" idx="3"/>
          </p:cNvCxnSpPr>
          <p:nvPr/>
        </p:nvCxnSpPr>
        <p:spPr>
          <a:xfrm flipV="1">
            <a:off x="6701879" y="3589801"/>
            <a:ext cx="484741" cy="608630"/>
          </a:xfrm>
          <a:prstGeom prst="straightConnector1">
            <a:avLst/>
          </a:prstGeom>
          <a:ln>
            <a:tailEnd type="triangle"/>
          </a:ln>
        </p:spPr>
        <p:style>
          <a:lnRef idx="2">
            <a:schemeClr val="accent1"/>
          </a:lnRef>
          <a:fillRef idx="0">
            <a:schemeClr val="accent1"/>
          </a:fillRef>
          <a:effectRef idx="1">
            <a:schemeClr val="accent1"/>
          </a:effectRef>
          <a:fontRef idx="minor">
            <a:schemeClr val="tx1"/>
          </a:fontRef>
        </p:style>
      </p:cxnSp>
      <p:cxnSp>
        <p:nvCxnSpPr>
          <p:cNvPr id="11" name="Straight Arrow Connector 10">
            <a:extLst>
              <a:ext uri="{FF2B5EF4-FFF2-40B4-BE49-F238E27FC236}">
                <a16:creationId xmlns:a16="http://schemas.microsoft.com/office/drawing/2014/main" id="{CD58CC1C-F426-4835-858A-5A75BDF88ADC}"/>
              </a:ext>
            </a:extLst>
          </p:cNvPr>
          <p:cNvCxnSpPr>
            <a:stCxn id="7" idx="0"/>
            <a:endCxn id="8" idx="5"/>
          </p:cNvCxnSpPr>
          <p:nvPr/>
        </p:nvCxnSpPr>
        <p:spPr>
          <a:xfrm flipH="1" flipV="1">
            <a:off x="7801657" y="3589801"/>
            <a:ext cx="633743" cy="608630"/>
          </a:xfrm>
          <a:prstGeom prst="straightConnector1">
            <a:avLst/>
          </a:prstGeom>
          <a:ln>
            <a:tailEnd type="triangle"/>
          </a:ln>
        </p:spPr>
        <p:style>
          <a:lnRef idx="2">
            <a:schemeClr val="accent1"/>
          </a:lnRef>
          <a:fillRef idx="0">
            <a:schemeClr val="accent1"/>
          </a:fillRef>
          <a:effectRef idx="1">
            <a:schemeClr val="accent1"/>
          </a:effectRef>
          <a:fontRef idx="minor">
            <a:schemeClr val="tx1"/>
          </a:fontRef>
        </p:style>
      </p:cxnSp>
      <p:cxnSp>
        <p:nvCxnSpPr>
          <p:cNvPr id="12" name="Straight Arrow Connector 11">
            <a:extLst>
              <a:ext uri="{FF2B5EF4-FFF2-40B4-BE49-F238E27FC236}">
                <a16:creationId xmlns:a16="http://schemas.microsoft.com/office/drawing/2014/main" id="{4482776B-7E2D-4FC7-A532-239193270E22}"/>
              </a:ext>
            </a:extLst>
          </p:cNvPr>
          <p:cNvCxnSpPr>
            <a:stCxn id="8" idx="0"/>
            <a:endCxn id="9" idx="4"/>
          </p:cNvCxnSpPr>
          <p:nvPr/>
        </p:nvCxnSpPr>
        <p:spPr>
          <a:xfrm flipV="1">
            <a:off x="7494139" y="2492295"/>
            <a:ext cx="1" cy="507380"/>
          </a:xfrm>
          <a:prstGeom prst="straightConnector1">
            <a:avLst/>
          </a:prstGeom>
          <a:ln>
            <a:tailEnd type="triangle"/>
          </a:ln>
        </p:spPr>
        <p:style>
          <a:lnRef idx="2">
            <a:schemeClr val="accent1"/>
          </a:lnRef>
          <a:fillRef idx="0">
            <a:schemeClr val="accent1"/>
          </a:fillRef>
          <a:effectRef idx="1">
            <a:schemeClr val="accent1"/>
          </a:effectRef>
          <a:fontRef idx="minor">
            <a:schemeClr val="tx1"/>
          </a:fontRef>
        </p:style>
      </p:cxnSp>
      <p:sp>
        <p:nvSpPr>
          <p:cNvPr id="13" name="Rectangle 12">
            <a:extLst>
              <a:ext uri="{FF2B5EF4-FFF2-40B4-BE49-F238E27FC236}">
                <a16:creationId xmlns:a16="http://schemas.microsoft.com/office/drawing/2014/main" id="{01D841C6-3732-4B64-806F-230E5148C064}"/>
              </a:ext>
            </a:extLst>
          </p:cNvPr>
          <p:cNvSpPr/>
          <p:nvPr/>
        </p:nvSpPr>
        <p:spPr>
          <a:xfrm>
            <a:off x="7766144" y="5397187"/>
            <a:ext cx="1326995" cy="691376"/>
          </a:xfrm>
          <a:prstGeom prst="rect">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dirty="0"/>
              <a:t>Tasks</a:t>
            </a:r>
          </a:p>
        </p:txBody>
      </p:sp>
      <p:cxnSp>
        <p:nvCxnSpPr>
          <p:cNvPr id="14" name="Straight Arrow Connector 13">
            <a:extLst>
              <a:ext uri="{FF2B5EF4-FFF2-40B4-BE49-F238E27FC236}">
                <a16:creationId xmlns:a16="http://schemas.microsoft.com/office/drawing/2014/main" id="{F226A9C0-D788-4D78-8FF3-B8D527C9D4FE}"/>
              </a:ext>
            </a:extLst>
          </p:cNvPr>
          <p:cNvCxnSpPr>
            <a:stCxn id="5" idx="0"/>
            <a:endCxn id="6" idx="4"/>
          </p:cNvCxnSpPr>
          <p:nvPr/>
        </p:nvCxnSpPr>
        <p:spPr>
          <a:xfrm flipV="1">
            <a:off x="6684814" y="4889807"/>
            <a:ext cx="17065" cy="507380"/>
          </a:xfrm>
          <a:prstGeom prst="straightConnector1">
            <a:avLst/>
          </a:prstGeom>
          <a:ln>
            <a:tailEnd type="triangle"/>
          </a:ln>
        </p:spPr>
        <p:style>
          <a:lnRef idx="2">
            <a:schemeClr val="accent1"/>
          </a:lnRef>
          <a:fillRef idx="0">
            <a:schemeClr val="accent1"/>
          </a:fillRef>
          <a:effectRef idx="1">
            <a:schemeClr val="accent1"/>
          </a:effectRef>
          <a:fontRef idx="minor">
            <a:schemeClr val="tx1"/>
          </a:fontRef>
        </p:style>
      </p:cxnSp>
      <p:cxnSp>
        <p:nvCxnSpPr>
          <p:cNvPr id="15" name="Straight Arrow Connector 14">
            <a:extLst>
              <a:ext uri="{FF2B5EF4-FFF2-40B4-BE49-F238E27FC236}">
                <a16:creationId xmlns:a16="http://schemas.microsoft.com/office/drawing/2014/main" id="{B1B8B675-2F4A-45D1-AE31-55DC1ADADC79}"/>
              </a:ext>
            </a:extLst>
          </p:cNvPr>
          <p:cNvCxnSpPr>
            <a:stCxn id="13" idx="0"/>
            <a:endCxn id="7" idx="4"/>
          </p:cNvCxnSpPr>
          <p:nvPr/>
        </p:nvCxnSpPr>
        <p:spPr>
          <a:xfrm flipV="1">
            <a:off x="8429642" y="4889807"/>
            <a:ext cx="5758" cy="507380"/>
          </a:xfrm>
          <a:prstGeom prst="straightConnector1">
            <a:avLst/>
          </a:prstGeom>
          <a:ln>
            <a:tailEnd type="triangle"/>
          </a:ln>
        </p:spPr>
        <p:style>
          <a:lnRef idx="2">
            <a:schemeClr val="accent1"/>
          </a:lnRef>
          <a:fillRef idx="0">
            <a:schemeClr val="accent1"/>
          </a:fillRef>
          <a:effectRef idx="1">
            <a:schemeClr val="accent1"/>
          </a:effectRef>
          <a:fontRef idx="minor">
            <a:schemeClr val="tx1"/>
          </a:fontRef>
        </p:style>
      </p:cxnSp>
      <mc:AlternateContent xmlns:mc="http://schemas.openxmlformats.org/markup-compatibility/2006" xmlns:a14="http://schemas.microsoft.com/office/drawing/2010/main">
        <mc:Choice Requires="a14">
          <p:sp>
            <p:nvSpPr>
              <p:cNvPr id="16" name="Oval 15">
                <a:extLst>
                  <a:ext uri="{FF2B5EF4-FFF2-40B4-BE49-F238E27FC236}">
                    <a16:creationId xmlns:a16="http://schemas.microsoft.com/office/drawing/2014/main" id="{8EB8747B-50CA-4588-9D26-C8CB501D483C}"/>
                  </a:ext>
                </a:extLst>
              </p:cNvPr>
              <p:cNvSpPr/>
              <p:nvPr/>
            </p:nvSpPr>
            <p:spPr>
              <a:xfrm>
                <a:off x="9395999" y="2612955"/>
                <a:ext cx="869795" cy="608630"/>
              </a:xfrm>
              <a:prstGeom prst="ellipse">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14:m>
                  <m:oMathPara xmlns:m="http://schemas.openxmlformats.org/officeDocument/2006/math">
                    <m:oMathParaPr>
                      <m:jc m:val="centerGroup"/>
                    </m:oMathParaPr>
                    <m:oMath xmlns:m="http://schemas.openxmlformats.org/officeDocument/2006/math">
                      <m:sSub>
                        <m:sSubPr>
                          <m:ctrlPr>
                            <a:rPr lang="en-US" i="1" smtClean="0">
                              <a:latin typeface="Cambria Math" panose="02040503050406030204" pitchFamily="18" charset="0"/>
                            </a:rPr>
                          </m:ctrlPr>
                        </m:sSubPr>
                        <m:e>
                          <m:r>
                            <a:rPr lang="en-US" b="0" i="1" smtClean="0">
                              <a:latin typeface="Cambria Math" panose="02040503050406030204" pitchFamily="18" charset="0"/>
                            </a:rPr>
                            <m:t>𝐸𝐶𝑁</m:t>
                          </m:r>
                        </m:e>
                        <m:sub>
                          <m:r>
                            <a:rPr lang="en-US" b="0" i="1" smtClean="0">
                              <a:latin typeface="Cambria Math" panose="02040503050406030204" pitchFamily="18" charset="0"/>
                            </a:rPr>
                            <m:t>1</m:t>
                          </m:r>
                        </m:sub>
                      </m:sSub>
                    </m:oMath>
                  </m:oMathPara>
                </a14:m>
                <a:endParaRPr lang="en-US" dirty="0"/>
              </a:p>
            </p:txBody>
          </p:sp>
        </mc:Choice>
        <mc:Fallback xmlns="">
          <p:sp>
            <p:nvSpPr>
              <p:cNvPr id="16" name="Oval 15">
                <a:extLst>
                  <a:ext uri="{FF2B5EF4-FFF2-40B4-BE49-F238E27FC236}">
                    <a16:creationId xmlns:a16="http://schemas.microsoft.com/office/drawing/2014/main" id="{8EB8747B-50CA-4588-9D26-C8CB501D483C}"/>
                  </a:ext>
                </a:extLst>
              </p:cNvPr>
              <p:cNvSpPr>
                <a:spLocks noRot="1" noChangeAspect="1" noMove="1" noResize="1" noEditPoints="1" noAdjustHandles="1" noChangeArrowheads="1" noChangeShapeType="1" noTextEdit="1"/>
              </p:cNvSpPr>
              <p:nvPr/>
            </p:nvSpPr>
            <p:spPr>
              <a:xfrm>
                <a:off x="9395999" y="2612955"/>
                <a:ext cx="869795" cy="608630"/>
              </a:xfrm>
              <a:prstGeom prst="ellipse">
                <a:avLst/>
              </a:prstGeom>
              <a:blipFill>
                <a:blip r:embed="rId7"/>
                <a:stretch>
                  <a:fillRect/>
                </a:stretch>
              </a:blipFill>
            </p:spPr>
            <p:txBody>
              <a:bodyPr/>
              <a:lstStyle/>
              <a:p>
                <a:r>
                  <a:rPr lang="en-US">
                    <a:noFill/>
                  </a:rPr>
                  <a:t> </a:t>
                </a:r>
              </a:p>
            </p:txBody>
          </p:sp>
        </mc:Fallback>
      </mc:AlternateContent>
      <p:sp>
        <p:nvSpPr>
          <p:cNvPr id="28" name="Oval 27">
            <a:extLst>
              <a:ext uri="{FF2B5EF4-FFF2-40B4-BE49-F238E27FC236}">
                <a16:creationId xmlns:a16="http://schemas.microsoft.com/office/drawing/2014/main" id="{8D8989E9-AB5F-4F3E-94C7-DA165B6997D2}"/>
              </a:ext>
            </a:extLst>
          </p:cNvPr>
          <p:cNvSpPr/>
          <p:nvPr/>
        </p:nvSpPr>
        <p:spPr>
          <a:xfrm>
            <a:off x="10224924" y="3819061"/>
            <a:ext cx="869795" cy="608630"/>
          </a:xfrm>
          <a:prstGeom prst="ellipse">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dirty="0"/>
              <a:t>BS</a:t>
            </a:r>
          </a:p>
        </p:txBody>
      </p:sp>
      <p:cxnSp>
        <p:nvCxnSpPr>
          <p:cNvPr id="30" name="Straight Arrow Connector 29">
            <a:extLst>
              <a:ext uri="{FF2B5EF4-FFF2-40B4-BE49-F238E27FC236}">
                <a16:creationId xmlns:a16="http://schemas.microsoft.com/office/drawing/2014/main" id="{284DA74D-3367-4F3A-AF2C-AB13929CA0A0}"/>
              </a:ext>
            </a:extLst>
          </p:cNvPr>
          <p:cNvCxnSpPr>
            <a:stCxn id="28" idx="0"/>
            <a:endCxn id="16" idx="4"/>
          </p:cNvCxnSpPr>
          <p:nvPr/>
        </p:nvCxnSpPr>
        <p:spPr>
          <a:xfrm flipH="1" flipV="1">
            <a:off x="9830897" y="3221585"/>
            <a:ext cx="828925" cy="597476"/>
          </a:xfrm>
          <a:prstGeom prst="straightConnector1">
            <a:avLst/>
          </a:prstGeom>
          <a:ln>
            <a:tailEnd type="triangle"/>
          </a:ln>
        </p:spPr>
        <p:style>
          <a:lnRef idx="2">
            <a:schemeClr val="accent1"/>
          </a:lnRef>
          <a:fillRef idx="0">
            <a:schemeClr val="accent1"/>
          </a:fillRef>
          <a:effectRef idx="1">
            <a:schemeClr val="accent1"/>
          </a:effectRef>
          <a:fontRef idx="minor">
            <a:schemeClr val="tx1"/>
          </a:fontRef>
        </p:style>
      </p:cxnSp>
      <p:sp>
        <p:nvSpPr>
          <p:cNvPr id="33" name="Rectangle 32">
            <a:extLst>
              <a:ext uri="{FF2B5EF4-FFF2-40B4-BE49-F238E27FC236}">
                <a16:creationId xmlns:a16="http://schemas.microsoft.com/office/drawing/2014/main" id="{524DA7D5-0BDD-49FB-9156-CD6BCC5593EC}"/>
              </a:ext>
            </a:extLst>
          </p:cNvPr>
          <p:cNvSpPr/>
          <p:nvPr/>
        </p:nvSpPr>
        <p:spPr>
          <a:xfrm>
            <a:off x="9996324" y="5397187"/>
            <a:ext cx="1326995" cy="691376"/>
          </a:xfrm>
          <a:prstGeom prst="rect">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dirty="0"/>
              <a:t>Tasks</a:t>
            </a:r>
          </a:p>
        </p:txBody>
      </p:sp>
      <p:cxnSp>
        <p:nvCxnSpPr>
          <p:cNvPr id="35" name="Straight Arrow Connector 34">
            <a:extLst>
              <a:ext uri="{FF2B5EF4-FFF2-40B4-BE49-F238E27FC236}">
                <a16:creationId xmlns:a16="http://schemas.microsoft.com/office/drawing/2014/main" id="{76251E62-95E6-4CF7-96C5-BF4D44CABA68}"/>
              </a:ext>
            </a:extLst>
          </p:cNvPr>
          <p:cNvCxnSpPr>
            <a:stCxn id="33" idx="0"/>
            <a:endCxn id="28" idx="4"/>
          </p:cNvCxnSpPr>
          <p:nvPr/>
        </p:nvCxnSpPr>
        <p:spPr>
          <a:xfrm flipV="1">
            <a:off x="10659822" y="4427691"/>
            <a:ext cx="0" cy="969496"/>
          </a:xfrm>
          <a:prstGeom prst="straightConnector1">
            <a:avLst/>
          </a:prstGeom>
          <a:ln>
            <a:tailEnd type="triangle"/>
          </a:ln>
        </p:spPr>
        <p:style>
          <a:lnRef idx="2">
            <a:schemeClr val="accent1"/>
          </a:lnRef>
          <a:fillRef idx="0">
            <a:schemeClr val="accent1"/>
          </a:fillRef>
          <a:effectRef idx="1">
            <a:schemeClr val="accent1"/>
          </a:effectRef>
          <a:fontRef idx="minor">
            <a:schemeClr val="tx1"/>
          </a:fontRef>
        </p:style>
      </p:cxnSp>
      <p:sp>
        <p:nvSpPr>
          <p:cNvPr id="36" name="TextBox 35">
            <a:extLst>
              <a:ext uri="{FF2B5EF4-FFF2-40B4-BE49-F238E27FC236}">
                <a16:creationId xmlns:a16="http://schemas.microsoft.com/office/drawing/2014/main" id="{F6F86863-78AF-484C-AB49-877449D78337}"/>
              </a:ext>
            </a:extLst>
          </p:cNvPr>
          <p:cNvSpPr txBox="1"/>
          <p:nvPr/>
        </p:nvSpPr>
        <p:spPr>
          <a:xfrm>
            <a:off x="9635904" y="4705811"/>
            <a:ext cx="1033243" cy="369332"/>
          </a:xfrm>
          <a:prstGeom prst="rect">
            <a:avLst/>
          </a:prstGeom>
          <a:noFill/>
        </p:spPr>
        <p:txBody>
          <a:bodyPr wrap="square" rtlCol="0">
            <a:spAutoFit/>
          </a:bodyPr>
          <a:lstStyle/>
          <a:p>
            <a:r>
              <a:rPr lang="en-US" dirty="0"/>
              <a:t>Wireless</a:t>
            </a:r>
          </a:p>
        </p:txBody>
      </p:sp>
      <p:sp>
        <p:nvSpPr>
          <p:cNvPr id="38" name="TextBox 37">
            <a:extLst>
              <a:ext uri="{FF2B5EF4-FFF2-40B4-BE49-F238E27FC236}">
                <a16:creationId xmlns:a16="http://schemas.microsoft.com/office/drawing/2014/main" id="{FBE05E6B-2364-4117-A376-2898B0AE337D}"/>
              </a:ext>
            </a:extLst>
          </p:cNvPr>
          <p:cNvSpPr txBox="1"/>
          <p:nvPr/>
        </p:nvSpPr>
        <p:spPr>
          <a:xfrm>
            <a:off x="10697624" y="4586144"/>
            <a:ext cx="1251390" cy="646331"/>
          </a:xfrm>
          <a:prstGeom prst="rect">
            <a:avLst/>
          </a:prstGeom>
          <a:noFill/>
        </p:spPr>
        <p:txBody>
          <a:bodyPr wrap="square" rtlCol="0">
            <a:spAutoFit/>
          </a:bodyPr>
          <a:lstStyle/>
          <a:p>
            <a:r>
              <a:rPr lang="en-US" dirty="0"/>
              <a:t>Negligible Latency</a:t>
            </a:r>
          </a:p>
        </p:txBody>
      </p:sp>
      <mc:AlternateContent xmlns:mc="http://schemas.openxmlformats.org/markup-compatibility/2006" xmlns:a14="http://schemas.microsoft.com/office/drawing/2010/main">
        <mc:Choice Requires="a14">
          <p:sp>
            <p:nvSpPr>
              <p:cNvPr id="45" name="Oval 44">
                <a:extLst>
                  <a:ext uri="{FF2B5EF4-FFF2-40B4-BE49-F238E27FC236}">
                    <a16:creationId xmlns:a16="http://schemas.microsoft.com/office/drawing/2014/main" id="{85376AD6-5275-4F23-BFC5-AA2B50C5A256}"/>
                  </a:ext>
                </a:extLst>
              </p:cNvPr>
              <p:cNvSpPr/>
              <p:nvPr/>
            </p:nvSpPr>
            <p:spPr>
              <a:xfrm>
                <a:off x="11079219" y="2612955"/>
                <a:ext cx="869795" cy="608630"/>
              </a:xfrm>
              <a:prstGeom prst="ellipse">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14:m>
                  <m:oMathPara xmlns:m="http://schemas.openxmlformats.org/officeDocument/2006/math">
                    <m:oMathParaPr>
                      <m:jc m:val="centerGroup"/>
                    </m:oMathParaPr>
                    <m:oMath xmlns:m="http://schemas.openxmlformats.org/officeDocument/2006/math">
                      <m:sSub>
                        <m:sSubPr>
                          <m:ctrlPr>
                            <a:rPr lang="en-US" i="1" dirty="0" smtClean="0">
                              <a:latin typeface="Cambria Math" panose="02040503050406030204" pitchFamily="18" charset="0"/>
                            </a:rPr>
                          </m:ctrlPr>
                        </m:sSubPr>
                        <m:e>
                          <m:r>
                            <a:rPr lang="en-US" b="0" i="1" dirty="0" smtClean="0">
                              <a:latin typeface="Cambria Math" panose="02040503050406030204" pitchFamily="18" charset="0"/>
                            </a:rPr>
                            <m:t>𝐸𝐶𝑁</m:t>
                          </m:r>
                        </m:e>
                        <m:sub>
                          <m:r>
                            <a:rPr lang="en-US" b="0" i="1" dirty="0" smtClean="0">
                              <a:latin typeface="Cambria Math" panose="02040503050406030204" pitchFamily="18" charset="0"/>
                            </a:rPr>
                            <m:t>𝑛</m:t>
                          </m:r>
                        </m:sub>
                      </m:sSub>
                    </m:oMath>
                  </m:oMathPara>
                </a14:m>
                <a:endParaRPr lang="en-US" dirty="0"/>
              </a:p>
            </p:txBody>
          </p:sp>
        </mc:Choice>
        <mc:Fallback xmlns="">
          <p:sp>
            <p:nvSpPr>
              <p:cNvPr id="45" name="Oval 44">
                <a:extLst>
                  <a:ext uri="{FF2B5EF4-FFF2-40B4-BE49-F238E27FC236}">
                    <a16:creationId xmlns:a16="http://schemas.microsoft.com/office/drawing/2014/main" id="{85376AD6-5275-4F23-BFC5-AA2B50C5A256}"/>
                  </a:ext>
                </a:extLst>
              </p:cNvPr>
              <p:cNvSpPr>
                <a:spLocks noRot="1" noChangeAspect="1" noMove="1" noResize="1" noEditPoints="1" noAdjustHandles="1" noChangeArrowheads="1" noChangeShapeType="1" noTextEdit="1"/>
              </p:cNvSpPr>
              <p:nvPr/>
            </p:nvSpPr>
            <p:spPr>
              <a:xfrm>
                <a:off x="11079219" y="2612955"/>
                <a:ext cx="869795" cy="608630"/>
              </a:xfrm>
              <a:prstGeom prst="ellipse">
                <a:avLst/>
              </a:prstGeom>
              <a:blipFill>
                <a:blip r:embed="rId8"/>
                <a:stretch>
                  <a:fillRect/>
                </a:stretch>
              </a:blipFill>
            </p:spPr>
            <p:txBody>
              <a:bodyPr/>
              <a:lstStyle/>
              <a:p>
                <a:r>
                  <a:rPr lang="en-US">
                    <a:noFill/>
                  </a:rPr>
                  <a:t> </a:t>
                </a:r>
              </a:p>
            </p:txBody>
          </p:sp>
        </mc:Fallback>
      </mc:AlternateContent>
      <p:cxnSp>
        <p:nvCxnSpPr>
          <p:cNvPr id="49" name="Straight Arrow Connector 48">
            <a:extLst>
              <a:ext uri="{FF2B5EF4-FFF2-40B4-BE49-F238E27FC236}">
                <a16:creationId xmlns:a16="http://schemas.microsoft.com/office/drawing/2014/main" id="{0E74794A-3787-49EA-B4B5-22C1D1C93B1F}"/>
              </a:ext>
            </a:extLst>
          </p:cNvPr>
          <p:cNvCxnSpPr>
            <a:stCxn id="28" idx="0"/>
            <a:endCxn id="45" idx="4"/>
          </p:cNvCxnSpPr>
          <p:nvPr/>
        </p:nvCxnSpPr>
        <p:spPr>
          <a:xfrm flipV="1">
            <a:off x="10659822" y="3221585"/>
            <a:ext cx="854295" cy="597476"/>
          </a:xfrm>
          <a:prstGeom prst="straightConnector1">
            <a:avLst/>
          </a:prstGeom>
          <a:ln>
            <a:tailEnd type="triangle"/>
          </a:ln>
        </p:spPr>
        <p:style>
          <a:lnRef idx="2">
            <a:schemeClr val="accent1"/>
          </a:lnRef>
          <a:fillRef idx="0">
            <a:schemeClr val="accent1"/>
          </a:fillRef>
          <a:effectRef idx="1">
            <a:schemeClr val="accent1"/>
          </a:effectRef>
          <a:fontRef idx="minor">
            <a:schemeClr val="tx1"/>
          </a:fontRef>
        </p:style>
      </p:cxnSp>
      <mc:AlternateContent xmlns:mc="http://schemas.openxmlformats.org/markup-compatibility/2006" xmlns:a14="http://schemas.microsoft.com/office/drawing/2010/main">
        <mc:Choice Requires="a14">
          <p:sp>
            <p:nvSpPr>
              <p:cNvPr id="53" name="TextBox 52">
                <a:extLst>
                  <a:ext uri="{FF2B5EF4-FFF2-40B4-BE49-F238E27FC236}">
                    <a16:creationId xmlns:a16="http://schemas.microsoft.com/office/drawing/2014/main" id="{4C5CBBF2-FF3E-451B-BB6C-7469AB842F99}"/>
                  </a:ext>
                </a:extLst>
              </p:cNvPr>
              <p:cNvSpPr txBox="1"/>
              <p:nvPr/>
            </p:nvSpPr>
            <p:spPr>
              <a:xfrm>
                <a:off x="9766832" y="2424607"/>
                <a:ext cx="1855582" cy="369332"/>
              </a:xfrm>
              <a:prstGeom prst="rect">
                <a:avLst/>
              </a:prstGeom>
              <a:noFill/>
            </p:spPr>
            <p:txBody>
              <a:bodyPr wrap="square" rtlCol="0">
                <a:spAutoFit/>
              </a:bodyPr>
              <a:lstStyle/>
              <a:p>
                <a:pPr/>
                <a14:m>
                  <m:oMathPara xmlns:m="http://schemas.openxmlformats.org/officeDocument/2006/math">
                    <m:oMathParaPr>
                      <m:jc m:val="centerGroup"/>
                    </m:oMathParaPr>
                    <m:oMath xmlns:m="http://schemas.openxmlformats.org/officeDocument/2006/math">
                      <m:sSub>
                        <m:sSubPr>
                          <m:ctrlPr>
                            <a:rPr lang="en-US" i="1" smtClean="0">
                              <a:solidFill>
                                <a:schemeClr val="bg1"/>
                              </a:solidFill>
                              <a:latin typeface="Cambria Math" panose="02040503050406030204" pitchFamily="18" charset="0"/>
                            </a:rPr>
                          </m:ctrlPr>
                        </m:sSubPr>
                        <m:e>
                          <m:r>
                            <a:rPr lang="en-US" b="0" i="1" smtClean="0">
                              <a:solidFill>
                                <a:schemeClr val="bg1"/>
                              </a:solidFill>
                              <a:latin typeface="Cambria Math" panose="02040503050406030204" pitchFamily="18" charset="0"/>
                            </a:rPr>
                            <m:t>𝐸</m:t>
                          </m:r>
                        </m:e>
                        <m:sub>
                          <m:r>
                            <a:rPr lang="en-US" b="0" i="1" smtClean="0">
                              <a:solidFill>
                                <a:schemeClr val="bg1"/>
                              </a:solidFill>
                              <a:latin typeface="Cambria Math" panose="02040503050406030204" pitchFamily="18" charset="0"/>
                            </a:rPr>
                            <m:t>𝑖</m:t>
                          </m:r>
                        </m:sub>
                      </m:sSub>
                    </m:oMath>
                  </m:oMathPara>
                </a14:m>
                <a:endParaRPr lang="en-US" dirty="0"/>
              </a:p>
            </p:txBody>
          </p:sp>
        </mc:Choice>
        <mc:Fallback xmlns="">
          <p:sp>
            <p:nvSpPr>
              <p:cNvPr id="53" name="TextBox 52">
                <a:extLst>
                  <a:ext uri="{FF2B5EF4-FFF2-40B4-BE49-F238E27FC236}">
                    <a16:creationId xmlns:a16="http://schemas.microsoft.com/office/drawing/2014/main" id="{4C5CBBF2-FF3E-451B-BB6C-7469AB842F99}"/>
                  </a:ext>
                </a:extLst>
              </p:cNvPr>
              <p:cNvSpPr txBox="1">
                <a:spLocks noRot="1" noChangeAspect="1" noMove="1" noResize="1" noEditPoints="1" noAdjustHandles="1" noChangeArrowheads="1" noChangeShapeType="1" noTextEdit="1"/>
              </p:cNvSpPr>
              <p:nvPr/>
            </p:nvSpPr>
            <p:spPr>
              <a:xfrm>
                <a:off x="9766832" y="2424607"/>
                <a:ext cx="1855582" cy="369332"/>
              </a:xfrm>
              <a:prstGeom prst="rect">
                <a:avLst/>
              </a:prstGeom>
              <a:blipFill>
                <a:blip r:embed="rId9"/>
                <a:stretch>
                  <a:fillRect b="-1667"/>
                </a:stretch>
              </a:blipFill>
            </p:spPr>
            <p:txBody>
              <a:bodyPr/>
              <a:lstStyle/>
              <a:p>
                <a:r>
                  <a:rPr lang="en-US">
                    <a:noFill/>
                  </a:rPr>
                  <a:t> </a:t>
                </a:r>
              </a:p>
            </p:txBody>
          </p:sp>
        </mc:Fallback>
      </mc:AlternateContent>
      <p:sp>
        <p:nvSpPr>
          <p:cNvPr id="27" name="TextBox 26">
            <a:extLst>
              <a:ext uri="{FF2B5EF4-FFF2-40B4-BE49-F238E27FC236}">
                <a16:creationId xmlns:a16="http://schemas.microsoft.com/office/drawing/2014/main" id="{3367E423-38CF-40CE-A8C9-A1F94CDDB780}"/>
              </a:ext>
            </a:extLst>
          </p:cNvPr>
          <p:cNvSpPr txBox="1"/>
          <p:nvPr/>
        </p:nvSpPr>
        <p:spPr>
          <a:xfrm>
            <a:off x="189571" y="6447755"/>
            <a:ext cx="3579542" cy="369332"/>
          </a:xfrm>
          <a:prstGeom prst="rect">
            <a:avLst/>
          </a:prstGeom>
          <a:noFill/>
        </p:spPr>
        <p:txBody>
          <a:bodyPr wrap="square" rtlCol="0">
            <a:spAutoFit/>
          </a:bodyPr>
          <a:lstStyle/>
          <a:p>
            <a:r>
              <a:rPr lang="en-US" dirty="0">
                <a:solidFill>
                  <a:schemeClr val="bg1"/>
                </a:solidFill>
              </a:rPr>
              <a:t>Mohammad Mahdi Manafi</a:t>
            </a:r>
          </a:p>
        </p:txBody>
      </p:sp>
    </p:spTree>
    <p:extLst>
      <p:ext uri="{BB962C8B-B14F-4D97-AF65-F5344CB8AC3E}">
        <p14:creationId xmlns:p14="http://schemas.microsoft.com/office/powerpoint/2010/main" val="2708252045"/>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Title 4">
            <a:extLst>
              <a:ext uri="{FF2B5EF4-FFF2-40B4-BE49-F238E27FC236}">
                <a16:creationId xmlns:a16="http://schemas.microsoft.com/office/drawing/2014/main" id="{FCBB53EB-39C8-49EF-8FE2-828720E0718A}"/>
              </a:ext>
            </a:extLst>
          </p:cNvPr>
          <p:cNvSpPr>
            <a:spLocks noGrp="1"/>
          </p:cNvSpPr>
          <p:nvPr>
            <p:ph type="title"/>
          </p:nvPr>
        </p:nvSpPr>
        <p:spPr/>
        <p:txBody>
          <a:bodyPr/>
          <a:lstStyle/>
          <a:p>
            <a:r>
              <a:rPr lang="en-US" dirty="0"/>
              <a:t>Edge subsystem analysis</a:t>
            </a:r>
          </a:p>
        </p:txBody>
      </p:sp>
      <p:sp>
        <p:nvSpPr>
          <p:cNvPr id="6" name="Text Placeholder 5">
            <a:extLst>
              <a:ext uri="{FF2B5EF4-FFF2-40B4-BE49-F238E27FC236}">
                <a16:creationId xmlns:a16="http://schemas.microsoft.com/office/drawing/2014/main" id="{56522B2B-5F8F-484B-B005-24B88CA04DC6}"/>
              </a:ext>
            </a:extLst>
          </p:cNvPr>
          <p:cNvSpPr>
            <a:spLocks noGrp="1"/>
          </p:cNvSpPr>
          <p:nvPr>
            <p:ph type="body" idx="1"/>
          </p:nvPr>
        </p:nvSpPr>
        <p:spPr/>
        <p:txBody>
          <a:bodyPr/>
          <a:lstStyle/>
          <a:p>
            <a:r>
              <a:rPr lang="en-US" dirty="0"/>
              <a:t>Section 1</a:t>
            </a:r>
          </a:p>
        </p:txBody>
      </p:sp>
    </p:spTree>
    <p:extLst>
      <p:ext uri="{BB962C8B-B14F-4D97-AF65-F5344CB8AC3E}">
        <p14:creationId xmlns:p14="http://schemas.microsoft.com/office/powerpoint/2010/main" val="1828815401"/>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50E5361B-DDE4-445E-9A9C-C4A46335C6E5}"/>
              </a:ext>
            </a:extLst>
          </p:cNvPr>
          <p:cNvSpPr>
            <a:spLocks noGrp="1"/>
          </p:cNvSpPr>
          <p:nvPr>
            <p:ph type="title"/>
          </p:nvPr>
        </p:nvSpPr>
        <p:spPr/>
        <p:txBody>
          <a:bodyPr/>
          <a:lstStyle/>
          <a:p>
            <a:r>
              <a:rPr lang="en-US" dirty="0"/>
              <a:t>Edge subsystem analysis</a:t>
            </a:r>
          </a:p>
        </p:txBody>
      </p:sp>
      <mc:AlternateContent xmlns:mc="http://schemas.openxmlformats.org/markup-compatibility/2006" xmlns:a14="http://schemas.microsoft.com/office/drawing/2010/main">
        <mc:Choice Requires="a14">
          <p:sp>
            <p:nvSpPr>
              <p:cNvPr id="3" name="Content Placeholder 2">
                <a:extLst>
                  <a:ext uri="{FF2B5EF4-FFF2-40B4-BE49-F238E27FC236}">
                    <a16:creationId xmlns:a16="http://schemas.microsoft.com/office/drawing/2014/main" id="{4611B6CD-5CCE-4CE9-88B5-58344930AD5A}"/>
                  </a:ext>
                </a:extLst>
              </p:cNvPr>
              <p:cNvSpPr>
                <a:spLocks noGrp="1"/>
              </p:cNvSpPr>
              <p:nvPr>
                <p:ph idx="1"/>
              </p:nvPr>
            </p:nvSpPr>
            <p:spPr>
              <a:xfrm>
                <a:off x="1097280" y="1845734"/>
                <a:ext cx="4998720" cy="4023360"/>
              </a:xfrm>
            </p:spPr>
            <p:txBody>
              <a:bodyPr/>
              <a:lstStyle/>
              <a:p>
                <a:pPr>
                  <a:buFont typeface="Wingdings" panose="05000000000000000000" pitchFamily="2" charset="2"/>
                  <a:buChar char="q"/>
                </a:pPr>
                <a14:m>
                  <m:oMath xmlns:m="http://schemas.openxmlformats.org/officeDocument/2006/math">
                    <m:r>
                      <a:rPr lang="en-US" b="0" i="1" smtClean="0">
                        <a:latin typeface="Cambria Math" panose="02040503050406030204" pitchFamily="18" charset="0"/>
                      </a:rPr>
                      <m:t>𝑇</m:t>
                    </m:r>
                    <m:r>
                      <a:rPr lang="en-US" b="0" i="1" smtClean="0">
                        <a:latin typeface="Cambria Math" panose="02040503050406030204" pitchFamily="18" charset="0"/>
                      </a:rPr>
                      <m:t>=</m:t>
                    </m:r>
                    <m:r>
                      <a:rPr lang="en-US" b="0" i="1" smtClean="0">
                        <a:latin typeface="Cambria Math" panose="02040503050406030204" pitchFamily="18" charset="0"/>
                      </a:rPr>
                      <m:t>𝑡</m:t>
                    </m:r>
                  </m:oMath>
                </a14:m>
                <a:r>
                  <a:rPr lang="en-US" b="0" dirty="0"/>
                  <a:t> it is </a:t>
                </a:r>
                <a:r>
                  <a:rPr lang="en-US" b="0" u="sng" dirty="0"/>
                  <a:t>time</a:t>
                </a:r>
                <a:r>
                  <a:rPr lang="en-US" b="0" dirty="0"/>
                  <a:t> a task need to complete </a:t>
                </a:r>
              </a:p>
              <a:p>
                <a:pPr lvl="1">
                  <a:buFont typeface="Wingdings" panose="05000000000000000000" pitchFamily="2" charset="2"/>
                  <a:buChar char="q"/>
                </a:pPr>
                <a:r>
                  <a:rPr lang="en-US" b="0" dirty="0"/>
                  <a:t>H – 1 tasks Already was in</a:t>
                </a:r>
                <a:r>
                  <a:rPr lang="en-US" dirty="0"/>
                  <a:t> and</a:t>
                </a:r>
                <a:r>
                  <a:rPr lang="en-US" b="0" dirty="0"/>
                  <a:t> new task arrived</a:t>
                </a:r>
              </a:p>
              <a:p>
                <a:pPr lvl="1">
                  <a:buFont typeface="Wingdings" panose="05000000000000000000" pitchFamily="2" charset="2"/>
                  <a:buChar char="q"/>
                </a:pPr>
                <a14:m>
                  <m:oMath xmlns:m="http://schemas.openxmlformats.org/officeDocument/2006/math">
                    <m:r>
                      <a:rPr lang="en-US" b="0" i="1" smtClean="0">
                        <a:latin typeface="Cambria Math" panose="02040503050406030204" pitchFamily="18" charset="0"/>
                      </a:rPr>
                      <m:t>𝑘</m:t>
                    </m:r>
                    <m:r>
                      <a:rPr lang="en-US" b="0" i="1" smtClean="0">
                        <a:latin typeface="Cambria Math" panose="02040503050406030204" pitchFamily="18" charset="0"/>
                      </a:rPr>
                      <m:t>=</m:t>
                    </m:r>
                    <m:d>
                      <m:dPr>
                        <m:begChr m:val="⌊"/>
                        <m:endChr m:val="⌋"/>
                        <m:ctrlPr>
                          <a:rPr lang="en-US" b="0" i="1" smtClean="0">
                            <a:latin typeface="Cambria Math" panose="02040503050406030204" pitchFamily="18" charset="0"/>
                          </a:rPr>
                        </m:ctrlPr>
                      </m:dPr>
                      <m:e>
                        <m:f>
                          <m:fPr>
                            <m:ctrlPr>
                              <a:rPr lang="en-US" b="0" i="1" smtClean="0">
                                <a:latin typeface="Cambria Math" panose="02040503050406030204" pitchFamily="18" charset="0"/>
                              </a:rPr>
                            </m:ctrlPr>
                          </m:fPr>
                          <m:num>
                            <m:r>
                              <a:rPr lang="en-US" b="0" i="1" smtClean="0">
                                <a:latin typeface="Cambria Math" panose="02040503050406030204" pitchFamily="18" charset="0"/>
                              </a:rPr>
                              <m:t>𝐻</m:t>
                            </m:r>
                          </m:num>
                          <m:den>
                            <m:r>
                              <a:rPr lang="en-US" b="0" i="1" smtClean="0">
                                <a:latin typeface="Cambria Math" panose="02040503050406030204" pitchFamily="18" charset="0"/>
                              </a:rPr>
                              <m:t>𝐾</m:t>
                            </m:r>
                          </m:den>
                        </m:f>
                      </m:e>
                    </m:d>
                    <m:r>
                      <a:rPr lang="en-US" b="0" i="1" smtClean="0">
                        <a:latin typeface="Cambria Math" panose="02040503050406030204" pitchFamily="18" charset="0"/>
                      </a:rPr>
                      <m:t>+1</m:t>
                    </m:r>
                  </m:oMath>
                </a14:m>
                <a:r>
                  <a:rPr lang="en-US" b="0" dirty="0"/>
                  <a:t> (parallel processing!)</a:t>
                </a:r>
              </a:p>
              <a:p>
                <a:pPr lvl="1">
                  <a:buFont typeface="Wingdings" panose="05000000000000000000" pitchFamily="2" charset="2"/>
                  <a:buChar char="q"/>
                </a:pPr>
                <a14:m>
                  <m:oMath xmlns:m="http://schemas.openxmlformats.org/officeDocument/2006/math">
                    <m:sSub>
                      <m:sSubPr>
                        <m:ctrlPr>
                          <a:rPr lang="en-US" b="0" i="1" smtClean="0">
                            <a:latin typeface="Cambria Math" panose="02040503050406030204" pitchFamily="18" charset="0"/>
                          </a:rPr>
                        </m:ctrlPr>
                      </m:sSubPr>
                      <m:e>
                        <m:r>
                          <a:rPr lang="en-US" b="0" i="1" smtClean="0">
                            <a:latin typeface="Cambria Math" panose="02040503050406030204" pitchFamily="18" charset="0"/>
                          </a:rPr>
                          <m:t>𝑋</m:t>
                        </m:r>
                      </m:e>
                      <m:sub>
                        <m:r>
                          <a:rPr lang="en-US" b="0" i="1" smtClean="0">
                            <a:latin typeface="Cambria Math" panose="02040503050406030204" pitchFamily="18" charset="0"/>
                          </a:rPr>
                          <m:t>𝑖</m:t>
                        </m:r>
                      </m:sub>
                    </m:sSub>
                  </m:oMath>
                </a14:m>
                <a:r>
                  <a:rPr lang="en-US" b="0" dirty="0"/>
                  <a:t> is RV with Exp distribution for</a:t>
                </a:r>
              </a:p>
              <a:p>
                <a:pPr lvl="2">
                  <a:buFont typeface="Wingdings" panose="05000000000000000000" pitchFamily="2" charset="2"/>
                  <a:buChar char="q"/>
                </a:pPr>
                <a:r>
                  <a:rPr lang="en-US" sz="1800" b="0" dirty="0"/>
                  <a:t>Each Mean value: </a:t>
                </a:r>
                <a14:m>
                  <m:oMath xmlns:m="http://schemas.openxmlformats.org/officeDocument/2006/math">
                    <m:acc>
                      <m:accPr>
                        <m:chr m:val="̅"/>
                        <m:ctrlPr>
                          <a:rPr lang="en-US" sz="1800" b="0" i="1" smtClean="0">
                            <a:latin typeface="Cambria Math" panose="02040503050406030204" pitchFamily="18" charset="0"/>
                          </a:rPr>
                        </m:ctrlPr>
                      </m:accPr>
                      <m:e>
                        <m:sSub>
                          <m:sSubPr>
                            <m:ctrlPr>
                              <a:rPr lang="en-US" sz="1800" i="1">
                                <a:latin typeface="Cambria Math" panose="02040503050406030204" pitchFamily="18" charset="0"/>
                              </a:rPr>
                            </m:ctrlPr>
                          </m:sSubPr>
                          <m:e>
                            <m:r>
                              <a:rPr lang="en-US" sz="1800" i="1">
                                <a:latin typeface="Cambria Math" panose="02040503050406030204" pitchFamily="18" charset="0"/>
                              </a:rPr>
                              <m:t>𝑋</m:t>
                            </m:r>
                          </m:e>
                          <m:sub>
                            <m:r>
                              <a:rPr lang="en-US" sz="1800" i="1">
                                <a:latin typeface="Cambria Math" panose="02040503050406030204" pitchFamily="18" charset="0"/>
                              </a:rPr>
                              <m:t>𝑖</m:t>
                            </m:r>
                          </m:sub>
                        </m:sSub>
                      </m:e>
                    </m:acc>
                    <m:r>
                      <a:rPr lang="en-US" sz="1800" b="0" i="1" smtClean="0">
                        <a:latin typeface="Cambria Math" panose="02040503050406030204" pitchFamily="18" charset="0"/>
                      </a:rPr>
                      <m:t>=</m:t>
                    </m:r>
                    <m:r>
                      <a:rPr lang="en-US" sz="1800" b="0" i="1" smtClean="0">
                        <a:latin typeface="Cambria Math" panose="02040503050406030204" pitchFamily="18" charset="0"/>
                        <a:ea typeface="Cambria Math" panose="02040503050406030204" pitchFamily="18" charset="0"/>
                      </a:rPr>
                      <m:t>𝛼</m:t>
                    </m:r>
                    <m:r>
                      <a:rPr lang="en-US" sz="1800" b="0" i="1" smtClean="0">
                        <a:latin typeface="Cambria Math" panose="02040503050406030204" pitchFamily="18" charset="0"/>
                        <a:ea typeface="Cambria Math" panose="02040503050406030204" pitchFamily="18" charset="0"/>
                      </a:rPr>
                      <m:t>=</m:t>
                    </m:r>
                    <m:f>
                      <m:fPr>
                        <m:ctrlPr>
                          <a:rPr lang="en-US" sz="1800" b="0" i="1" smtClean="0">
                            <a:latin typeface="Cambria Math" panose="02040503050406030204" pitchFamily="18" charset="0"/>
                            <a:ea typeface="Cambria Math" panose="02040503050406030204" pitchFamily="18" charset="0"/>
                          </a:rPr>
                        </m:ctrlPr>
                      </m:fPr>
                      <m:num>
                        <m:sSub>
                          <m:sSubPr>
                            <m:ctrlPr>
                              <a:rPr lang="en-US" sz="1800" b="0" i="1" smtClean="0">
                                <a:latin typeface="Cambria Math" panose="02040503050406030204" pitchFamily="18" charset="0"/>
                                <a:ea typeface="Cambria Math" panose="02040503050406030204" pitchFamily="18" charset="0"/>
                              </a:rPr>
                            </m:ctrlPr>
                          </m:sSubPr>
                          <m:e>
                            <m:r>
                              <a:rPr lang="en-US" sz="1800" b="0" i="1" smtClean="0">
                                <a:latin typeface="Cambria Math" panose="02040503050406030204" pitchFamily="18" charset="0"/>
                                <a:ea typeface="Cambria Math" panose="02040503050406030204" pitchFamily="18" charset="0"/>
                              </a:rPr>
                              <m:t>𝑇</m:t>
                            </m:r>
                          </m:e>
                          <m:sub>
                            <m:r>
                              <a:rPr lang="en-US" sz="1800" b="0" i="1" smtClean="0">
                                <a:latin typeface="Cambria Math" panose="02040503050406030204" pitchFamily="18" charset="0"/>
                                <a:ea typeface="Cambria Math" panose="02040503050406030204" pitchFamily="18" charset="0"/>
                              </a:rPr>
                              <m:t>𝐸</m:t>
                            </m:r>
                          </m:sub>
                        </m:sSub>
                      </m:num>
                      <m:den>
                        <m:r>
                          <a:rPr lang="en-US" sz="1800" b="0" i="1" smtClean="0">
                            <a:latin typeface="Cambria Math" panose="02040503050406030204" pitchFamily="18" charset="0"/>
                            <a:ea typeface="Cambria Math" panose="02040503050406030204" pitchFamily="18" charset="0"/>
                          </a:rPr>
                          <m:t>𝐾</m:t>
                        </m:r>
                      </m:den>
                    </m:f>
                    <m:r>
                      <a:rPr lang="en-US" sz="1800" b="0" i="1" smtClean="0">
                        <a:latin typeface="Cambria Math" panose="02040503050406030204" pitchFamily="18" charset="0"/>
                        <a:ea typeface="Cambria Math" panose="02040503050406030204" pitchFamily="18" charset="0"/>
                      </a:rPr>
                      <m:t>, 1≤</m:t>
                    </m:r>
                    <m:r>
                      <a:rPr lang="en-US" sz="1800" b="0" i="1" smtClean="0">
                        <a:latin typeface="Cambria Math" panose="02040503050406030204" pitchFamily="18" charset="0"/>
                        <a:ea typeface="Cambria Math" panose="02040503050406030204" pitchFamily="18" charset="0"/>
                      </a:rPr>
                      <m:t>𝑖</m:t>
                    </m:r>
                    <m:r>
                      <a:rPr lang="en-US" sz="1800" b="0" i="1" smtClean="0">
                        <a:latin typeface="Cambria Math" panose="02040503050406030204" pitchFamily="18" charset="0"/>
                        <a:ea typeface="Cambria Math" panose="02040503050406030204" pitchFamily="18" charset="0"/>
                      </a:rPr>
                      <m:t>≤</m:t>
                    </m:r>
                    <m:r>
                      <a:rPr lang="en-US" sz="1800" b="0" i="1" smtClean="0">
                        <a:latin typeface="Cambria Math" panose="02040503050406030204" pitchFamily="18" charset="0"/>
                        <a:ea typeface="Cambria Math" panose="02040503050406030204" pitchFamily="18" charset="0"/>
                      </a:rPr>
                      <m:t>𝑘</m:t>
                    </m:r>
                    <m:r>
                      <a:rPr lang="en-US" sz="1800" b="0" i="1" smtClean="0">
                        <a:latin typeface="Cambria Math" panose="02040503050406030204" pitchFamily="18" charset="0"/>
                        <a:ea typeface="Cambria Math" panose="02040503050406030204" pitchFamily="18" charset="0"/>
                      </a:rPr>
                      <m:t>−1</m:t>
                    </m:r>
                  </m:oMath>
                </a14:m>
                <a:endParaRPr lang="en-US" b="0" dirty="0"/>
              </a:p>
              <a:p>
                <a:pPr lvl="3">
                  <a:buFont typeface="Wingdings" panose="05000000000000000000" pitchFamily="2" charset="2"/>
                  <a:buChar char="q"/>
                </a:pPr>
                <a:r>
                  <a:rPr lang="en-US" sz="1800" dirty="0"/>
                  <a:t>Waiting time</a:t>
                </a:r>
                <a:endParaRPr lang="en-US" sz="1800" b="0" dirty="0"/>
              </a:p>
              <a:p>
                <a:pPr lvl="2">
                  <a:buFont typeface="Wingdings" panose="05000000000000000000" pitchFamily="2" charset="2"/>
                  <a:buChar char="q"/>
                </a:pPr>
                <a:r>
                  <a:rPr lang="en-US" sz="1800" dirty="0"/>
                  <a:t>For new task </a:t>
                </a:r>
                <a14:m>
                  <m:oMath xmlns:m="http://schemas.openxmlformats.org/officeDocument/2006/math">
                    <m:acc>
                      <m:accPr>
                        <m:chr m:val="̅"/>
                        <m:ctrlPr>
                          <a:rPr lang="en-US" sz="1800" i="1">
                            <a:latin typeface="Cambria Math" panose="02040503050406030204" pitchFamily="18" charset="0"/>
                          </a:rPr>
                        </m:ctrlPr>
                      </m:accPr>
                      <m:e>
                        <m:sSub>
                          <m:sSubPr>
                            <m:ctrlPr>
                              <a:rPr lang="en-US" sz="1800" i="1">
                                <a:latin typeface="Cambria Math" panose="02040503050406030204" pitchFamily="18" charset="0"/>
                              </a:rPr>
                            </m:ctrlPr>
                          </m:sSubPr>
                          <m:e>
                            <m:r>
                              <a:rPr lang="en-US" sz="1800" i="1">
                                <a:latin typeface="Cambria Math" panose="02040503050406030204" pitchFamily="18" charset="0"/>
                              </a:rPr>
                              <m:t>𝑋</m:t>
                            </m:r>
                          </m:e>
                          <m:sub>
                            <m:r>
                              <a:rPr lang="en-US" sz="1800" b="0" i="1" smtClean="0">
                                <a:latin typeface="Cambria Math" panose="02040503050406030204" pitchFamily="18" charset="0"/>
                              </a:rPr>
                              <m:t>𝑘</m:t>
                            </m:r>
                          </m:sub>
                        </m:sSub>
                      </m:e>
                    </m:acc>
                    <m:r>
                      <a:rPr lang="en-US" sz="1800" b="0" i="1" smtClean="0">
                        <a:latin typeface="Cambria Math" panose="02040503050406030204" pitchFamily="18" charset="0"/>
                      </a:rPr>
                      <m:t>=</m:t>
                    </m:r>
                    <m:r>
                      <a:rPr lang="en-US" sz="1800" i="1" smtClean="0">
                        <a:latin typeface="Cambria Math" panose="02040503050406030204" pitchFamily="18" charset="0"/>
                        <a:ea typeface="Cambria Math" panose="02040503050406030204" pitchFamily="18" charset="0"/>
                      </a:rPr>
                      <m:t>𝛽</m:t>
                    </m:r>
                    <m:r>
                      <a:rPr lang="en-US" sz="1800" b="0" i="1" smtClean="0">
                        <a:latin typeface="Cambria Math" panose="02040503050406030204" pitchFamily="18" charset="0"/>
                        <a:ea typeface="Cambria Math" panose="02040503050406030204" pitchFamily="18" charset="0"/>
                      </a:rPr>
                      <m:t>=</m:t>
                    </m:r>
                    <m:sSub>
                      <m:sSubPr>
                        <m:ctrlPr>
                          <a:rPr lang="en-US" sz="1800" b="0" i="1" smtClean="0">
                            <a:latin typeface="Cambria Math" panose="02040503050406030204" pitchFamily="18" charset="0"/>
                            <a:ea typeface="Cambria Math" panose="02040503050406030204" pitchFamily="18" charset="0"/>
                          </a:rPr>
                        </m:ctrlPr>
                      </m:sSubPr>
                      <m:e>
                        <m:r>
                          <a:rPr lang="en-US" sz="1800" b="0" i="1" smtClean="0">
                            <a:latin typeface="Cambria Math" panose="02040503050406030204" pitchFamily="18" charset="0"/>
                            <a:ea typeface="Cambria Math" panose="02040503050406030204" pitchFamily="18" charset="0"/>
                          </a:rPr>
                          <m:t>𝑇</m:t>
                        </m:r>
                      </m:e>
                      <m:sub>
                        <m:r>
                          <a:rPr lang="en-US" sz="1800" b="0" i="1" smtClean="0">
                            <a:latin typeface="Cambria Math" panose="02040503050406030204" pitchFamily="18" charset="0"/>
                            <a:ea typeface="Cambria Math" panose="02040503050406030204" pitchFamily="18" charset="0"/>
                          </a:rPr>
                          <m:t>𝐸</m:t>
                        </m:r>
                      </m:sub>
                    </m:sSub>
                  </m:oMath>
                </a14:m>
                <a:endParaRPr lang="en-US" b="0" dirty="0"/>
              </a:p>
              <a:p>
                <a:pPr lvl="3">
                  <a:buFont typeface="Wingdings" panose="05000000000000000000" pitchFamily="2" charset="2"/>
                  <a:buChar char="q"/>
                </a:pPr>
                <a:r>
                  <a:rPr lang="en-US" sz="1800" dirty="0"/>
                  <a:t>Service time</a:t>
                </a:r>
                <a:endParaRPr lang="en-US" sz="1800" b="0" dirty="0"/>
              </a:p>
              <a:p>
                <a:pPr>
                  <a:buFont typeface="Wingdings" panose="05000000000000000000" pitchFamily="2" charset="2"/>
                  <a:buChar char="q"/>
                </a:pPr>
                <a:r>
                  <a:rPr lang="en-US" b="0" dirty="0"/>
                  <a:t>The problem:</a:t>
                </a:r>
              </a:p>
              <a:p>
                <a:pPr lvl="1">
                  <a:buFont typeface="Wingdings" panose="05000000000000000000" pitchFamily="2" charset="2"/>
                  <a:buChar char="q"/>
                </a:pPr>
                <a:r>
                  <a:rPr lang="en-US" dirty="0"/>
                  <a:t>Betha and alpha previously said to be mean</a:t>
                </a:r>
              </a:p>
              <a:p>
                <a:pPr lvl="1">
                  <a:buFont typeface="Wingdings" panose="05000000000000000000" pitchFamily="2" charset="2"/>
                  <a:buChar char="q"/>
                </a:pPr>
                <a:r>
                  <a:rPr lang="en-US" b="0" dirty="0"/>
                  <a:t>Betha and alpha should be rate not mean</a:t>
                </a:r>
              </a:p>
              <a:p>
                <a:pPr lvl="1">
                  <a:buFont typeface="Wingdings" panose="05000000000000000000" pitchFamily="2" charset="2"/>
                  <a:buChar char="q"/>
                </a:pPr>
                <a:endParaRPr lang="en-US" dirty="0"/>
              </a:p>
              <a:p>
                <a:pPr>
                  <a:buFont typeface="Wingdings" panose="05000000000000000000" pitchFamily="2" charset="2"/>
                  <a:buChar char="q"/>
                </a:pPr>
                <a:endParaRPr lang="en-US" dirty="0"/>
              </a:p>
            </p:txBody>
          </p:sp>
        </mc:Choice>
        <mc:Fallback xmlns="">
          <p:sp>
            <p:nvSpPr>
              <p:cNvPr id="3" name="Content Placeholder 2">
                <a:extLst>
                  <a:ext uri="{FF2B5EF4-FFF2-40B4-BE49-F238E27FC236}">
                    <a16:creationId xmlns:a16="http://schemas.microsoft.com/office/drawing/2014/main" id="{4611B6CD-5CCE-4CE9-88B5-58344930AD5A}"/>
                  </a:ext>
                </a:extLst>
              </p:cNvPr>
              <p:cNvSpPr>
                <a:spLocks noGrp="1" noRot="1" noChangeAspect="1" noMove="1" noResize="1" noEditPoints="1" noAdjustHandles="1" noChangeArrowheads="1" noChangeShapeType="1" noTextEdit="1"/>
              </p:cNvSpPr>
              <p:nvPr>
                <p:ph idx="1"/>
              </p:nvPr>
            </p:nvSpPr>
            <p:spPr>
              <a:xfrm>
                <a:off x="1097280" y="1845734"/>
                <a:ext cx="4998720" cy="4023360"/>
              </a:xfrm>
              <a:blipFill>
                <a:blip r:embed="rId3"/>
                <a:stretch>
                  <a:fillRect l="-2927" t="-1667"/>
                </a:stretch>
              </a:blipFill>
            </p:spPr>
            <p:txBody>
              <a:bodyPr/>
              <a:lstStyle/>
              <a:p>
                <a:r>
                  <a:rPr lang="en-US">
                    <a:noFill/>
                  </a:rPr>
                  <a:t> </a:t>
                </a:r>
              </a:p>
            </p:txBody>
          </p:sp>
        </mc:Fallback>
      </mc:AlternateContent>
      <p:sp>
        <p:nvSpPr>
          <p:cNvPr id="4" name="Slide Number Placeholder 3">
            <a:extLst>
              <a:ext uri="{FF2B5EF4-FFF2-40B4-BE49-F238E27FC236}">
                <a16:creationId xmlns:a16="http://schemas.microsoft.com/office/drawing/2014/main" id="{1E1410C8-2264-494D-9997-4A84D9042AAC}"/>
              </a:ext>
            </a:extLst>
          </p:cNvPr>
          <p:cNvSpPr>
            <a:spLocks noGrp="1"/>
          </p:cNvSpPr>
          <p:nvPr>
            <p:ph type="sldNum" sz="quarter" idx="12"/>
          </p:nvPr>
        </p:nvSpPr>
        <p:spPr/>
        <p:txBody>
          <a:bodyPr/>
          <a:lstStyle/>
          <a:p>
            <a:fld id="{DC4CAFB8-3EF6-4FAF-BDFA-EA2F8D8834E4}" type="slidenum">
              <a:rPr lang="en-US" smtClean="0"/>
              <a:t>13</a:t>
            </a:fld>
            <a:endParaRPr lang="en-US"/>
          </a:p>
        </p:txBody>
      </p:sp>
      <mc:AlternateContent xmlns:mc="http://schemas.openxmlformats.org/markup-compatibility/2006" xmlns:a14="http://schemas.microsoft.com/office/drawing/2010/main">
        <mc:Choice Requires="a14">
          <p:sp>
            <p:nvSpPr>
              <p:cNvPr id="5" name="TextBox 4">
                <a:extLst>
                  <a:ext uri="{FF2B5EF4-FFF2-40B4-BE49-F238E27FC236}">
                    <a16:creationId xmlns:a16="http://schemas.microsoft.com/office/drawing/2014/main" id="{DAD3A6F9-9030-41E1-8D8B-3284AD5D5E9D}"/>
                  </a:ext>
                </a:extLst>
              </p:cNvPr>
              <p:cNvSpPr txBox="1"/>
              <p:nvPr/>
            </p:nvSpPr>
            <p:spPr>
              <a:xfrm>
                <a:off x="6028146" y="2081095"/>
                <a:ext cx="2261873" cy="1138260"/>
              </a:xfrm>
              <a:prstGeom prst="rect">
                <a:avLst/>
              </a:prstGeom>
              <a:noFill/>
            </p:spPr>
            <p:txBody>
              <a:bodyPr wrap="square" rtlCol="0">
                <a:spAutoFit/>
              </a:bodyPr>
              <a:lstStyle/>
              <a:p>
                <a:pPr/>
                <a14:m>
                  <m:oMathPara xmlns:m="http://schemas.openxmlformats.org/officeDocument/2006/math">
                    <m:oMathParaPr>
                      <m:jc m:val="centerGroup"/>
                    </m:oMathParaPr>
                    <m:oMath xmlns:m="http://schemas.openxmlformats.org/officeDocument/2006/math">
                      <m:r>
                        <a:rPr lang="en-US" sz="2400" b="0" i="1" smtClean="0">
                          <a:latin typeface="Cambria Math" panose="02040503050406030204" pitchFamily="18" charset="0"/>
                        </a:rPr>
                        <m:t>𝑇</m:t>
                      </m:r>
                      <m:r>
                        <a:rPr lang="en-US" sz="2400" b="0" i="1" smtClean="0">
                          <a:latin typeface="Cambria Math" panose="02040503050406030204" pitchFamily="18" charset="0"/>
                        </a:rPr>
                        <m:t>=</m:t>
                      </m:r>
                      <m:nary>
                        <m:naryPr>
                          <m:chr m:val="∑"/>
                          <m:ctrlPr>
                            <a:rPr lang="en-US" sz="2400" b="0" i="1" smtClean="0">
                              <a:latin typeface="Cambria Math" panose="02040503050406030204" pitchFamily="18" charset="0"/>
                            </a:rPr>
                          </m:ctrlPr>
                        </m:naryPr>
                        <m:sub>
                          <m:r>
                            <m:rPr>
                              <m:brk m:alnAt="23"/>
                            </m:rPr>
                            <a:rPr lang="en-US" sz="2400" b="0" i="1" smtClean="0">
                              <a:latin typeface="Cambria Math" panose="02040503050406030204" pitchFamily="18" charset="0"/>
                            </a:rPr>
                            <m:t>𝑖</m:t>
                          </m:r>
                          <m:r>
                            <a:rPr lang="en-US" sz="2400" b="0" i="1" smtClean="0">
                              <a:latin typeface="Cambria Math" panose="02040503050406030204" pitchFamily="18" charset="0"/>
                            </a:rPr>
                            <m:t>=1</m:t>
                          </m:r>
                        </m:sub>
                        <m:sup>
                          <m:r>
                            <a:rPr lang="en-US" sz="2400" b="0" i="1" smtClean="0">
                              <a:latin typeface="Cambria Math" panose="02040503050406030204" pitchFamily="18" charset="0"/>
                            </a:rPr>
                            <m:t>𝑘</m:t>
                          </m:r>
                        </m:sup>
                        <m:e>
                          <m:sSub>
                            <m:sSubPr>
                              <m:ctrlPr>
                                <a:rPr lang="en-US" sz="2400" b="0" i="1" smtClean="0">
                                  <a:latin typeface="Cambria Math" panose="02040503050406030204" pitchFamily="18" charset="0"/>
                                </a:rPr>
                              </m:ctrlPr>
                            </m:sSubPr>
                            <m:e>
                              <m:r>
                                <a:rPr lang="en-US" sz="2400" b="0" i="1" smtClean="0">
                                  <a:latin typeface="Cambria Math" panose="02040503050406030204" pitchFamily="18" charset="0"/>
                                </a:rPr>
                                <m:t>𝑋</m:t>
                              </m:r>
                            </m:e>
                            <m:sub>
                              <m:r>
                                <a:rPr lang="en-US" sz="2400" b="0" i="1" smtClean="0">
                                  <a:latin typeface="Cambria Math" panose="02040503050406030204" pitchFamily="18" charset="0"/>
                                </a:rPr>
                                <m:t>𝑖</m:t>
                              </m:r>
                            </m:sub>
                          </m:sSub>
                        </m:e>
                      </m:nary>
                      <m:r>
                        <a:rPr lang="en-US" sz="2400" b="0" i="1" smtClean="0">
                          <a:latin typeface="Cambria Math" panose="02040503050406030204" pitchFamily="18" charset="0"/>
                        </a:rPr>
                        <m:t>, </m:t>
                      </m:r>
                    </m:oMath>
                  </m:oMathPara>
                </a14:m>
                <a:endParaRPr lang="en-US" sz="2400" dirty="0"/>
              </a:p>
            </p:txBody>
          </p:sp>
        </mc:Choice>
        <mc:Fallback xmlns="">
          <p:sp>
            <p:nvSpPr>
              <p:cNvPr id="5" name="TextBox 4">
                <a:extLst>
                  <a:ext uri="{FF2B5EF4-FFF2-40B4-BE49-F238E27FC236}">
                    <a16:creationId xmlns:a16="http://schemas.microsoft.com/office/drawing/2014/main" id="{DAD3A6F9-9030-41E1-8D8B-3284AD5D5E9D}"/>
                  </a:ext>
                </a:extLst>
              </p:cNvPr>
              <p:cNvSpPr txBox="1">
                <a:spLocks noRot="1" noChangeAspect="1" noMove="1" noResize="1" noEditPoints="1" noAdjustHandles="1" noChangeArrowheads="1" noChangeShapeType="1" noTextEdit="1"/>
              </p:cNvSpPr>
              <p:nvPr/>
            </p:nvSpPr>
            <p:spPr>
              <a:xfrm>
                <a:off x="6028146" y="2081095"/>
                <a:ext cx="2261873" cy="1138260"/>
              </a:xfrm>
              <a:prstGeom prst="rect">
                <a:avLst/>
              </a:prstGeom>
              <a:blipFill>
                <a:blip r:embed="rId4"/>
                <a:stretch>
                  <a:fillRect/>
                </a:stretch>
              </a:blipFill>
            </p:spPr>
            <p:txBody>
              <a:bodyPr/>
              <a:lstStyle/>
              <a:p>
                <a:r>
                  <a:rPr lang="en-US">
                    <a:noFill/>
                  </a:rPr>
                  <a:t> </a:t>
                </a:r>
              </a:p>
            </p:txBody>
          </p:sp>
        </mc:Fallback>
      </mc:AlternateContent>
      <p:pic>
        <p:nvPicPr>
          <p:cNvPr id="7" name="Picture 6">
            <a:extLst>
              <a:ext uri="{FF2B5EF4-FFF2-40B4-BE49-F238E27FC236}">
                <a16:creationId xmlns:a16="http://schemas.microsoft.com/office/drawing/2014/main" id="{2BA0EF13-C61F-46E3-B7B4-4C9B63B930F6}"/>
              </a:ext>
            </a:extLst>
          </p:cNvPr>
          <p:cNvPicPr>
            <a:picLocks noChangeAspect="1"/>
          </p:cNvPicPr>
          <p:nvPr/>
        </p:nvPicPr>
        <p:blipFill>
          <a:blip r:embed="rId5"/>
          <a:stretch>
            <a:fillRect/>
          </a:stretch>
        </p:blipFill>
        <p:spPr>
          <a:xfrm>
            <a:off x="5068078" y="4145752"/>
            <a:ext cx="6598622" cy="925803"/>
          </a:xfrm>
          <a:prstGeom prst="rect">
            <a:avLst/>
          </a:prstGeom>
        </p:spPr>
      </p:pic>
      <p:sp>
        <p:nvSpPr>
          <p:cNvPr id="8" name="TextBox 7">
            <a:extLst>
              <a:ext uri="{FF2B5EF4-FFF2-40B4-BE49-F238E27FC236}">
                <a16:creationId xmlns:a16="http://schemas.microsoft.com/office/drawing/2014/main" id="{BFC37F18-2D31-4F6C-9A0E-3535904B7ED5}"/>
              </a:ext>
            </a:extLst>
          </p:cNvPr>
          <p:cNvSpPr txBox="1"/>
          <p:nvPr/>
        </p:nvSpPr>
        <p:spPr>
          <a:xfrm>
            <a:off x="7080426" y="5132407"/>
            <a:ext cx="3735659" cy="369332"/>
          </a:xfrm>
          <a:prstGeom prst="rect">
            <a:avLst/>
          </a:prstGeom>
          <a:noFill/>
        </p:spPr>
        <p:txBody>
          <a:bodyPr wrap="square" rtlCol="0">
            <a:spAutoFit/>
          </a:bodyPr>
          <a:lstStyle/>
          <a:p>
            <a:r>
              <a:rPr lang="en-US" dirty="0"/>
              <a:t>PDF of T (Erlang Distribution)</a:t>
            </a:r>
          </a:p>
        </p:txBody>
      </p:sp>
      <mc:AlternateContent xmlns:mc="http://schemas.openxmlformats.org/markup-compatibility/2006" xmlns:a14="http://schemas.microsoft.com/office/drawing/2010/main">
        <mc:Choice Requires="a14">
          <p:sp>
            <p:nvSpPr>
              <p:cNvPr id="9" name="TextBox 8">
                <a:extLst>
                  <a:ext uri="{FF2B5EF4-FFF2-40B4-BE49-F238E27FC236}">
                    <a16:creationId xmlns:a16="http://schemas.microsoft.com/office/drawing/2014/main" id="{1408D2EF-7810-4EDC-B472-272D11B9A191}"/>
                  </a:ext>
                </a:extLst>
              </p:cNvPr>
              <p:cNvSpPr txBox="1"/>
              <p:nvPr/>
            </p:nvSpPr>
            <p:spPr>
              <a:xfrm>
                <a:off x="7980308" y="2187025"/>
                <a:ext cx="3686392" cy="904094"/>
              </a:xfrm>
              <a:prstGeom prst="rect">
                <a:avLst/>
              </a:prstGeom>
              <a:noFill/>
            </p:spPr>
            <p:txBody>
              <a:bodyPr wrap="square" rtlCol="0">
                <a:spAutoFit/>
              </a:bodyPr>
              <a:lstStyle/>
              <a:p>
                <a:pPr/>
                <a14:m>
                  <m:oMathPara xmlns:m="http://schemas.openxmlformats.org/officeDocument/2006/math">
                    <m:oMathParaPr>
                      <m:jc m:val="centerGroup"/>
                    </m:oMathParaPr>
                    <m:oMath xmlns:m="http://schemas.openxmlformats.org/officeDocument/2006/math">
                      <m:sSub>
                        <m:sSubPr>
                          <m:ctrlPr>
                            <a:rPr lang="en-US" sz="2400" b="0" i="1" smtClean="0">
                              <a:latin typeface="Cambria Math" panose="02040503050406030204" pitchFamily="18" charset="0"/>
                            </a:rPr>
                          </m:ctrlPr>
                        </m:sSubPr>
                        <m:e>
                          <m:r>
                            <a:rPr lang="en-US" sz="2400" i="1">
                              <a:latin typeface="Cambria Math" panose="02040503050406030204" pitchFamily="18" charset="0"/>
                            </a:rPr>
                            <m:t>𝑃𝐷𝐹</m:t>
                          </m:r>
                        </m:e>
                        <m:sub>
                          <m:r>
                            <a:rPr lang="en-US" sz="2400" b="0" i="1" smtClean="0">
                              <a:latin typeface="Cambria Math" panose="02040503050406030204" pitchFamily="18" charset="0"/>
                            </a:rPr>
                            <m:t>𝑒𝑟𝑙𝑎𝑛𝑔</m:t>
                          </m:r>
                        </m:sub>
                      </m:sSub>
                      <m:r>
                        <a:rPr lang="en-US" sz="2400" b="0" i="1" smtClean="0">
                          <a:latin typeface="Cambria Math" panose="02040503050406030204" pitchFamily="18" charset="0"/>
                        </a:rPr>
                        <m:t>=</m:t>
                      </m:r>
                      <m:f>
                        <m:fPr>
                          <m:ctrlPr>
                            <a:rPr lang="en-US" sz="2400" i="1" smtClean="0">
                              <a:latin typeface="Cambria Math" panose="02040503050406030204" pitchFamily="18" charset="0"/>
                            </a:rPr>
                          </m:ctrlPr>
                        </m:fPr>
                        <m:num>
                          <m:sSup>
                            <m:sSupPr>
                              <m:ctrlPr>
                                <a:rPr lang="en-US" sz="2400" i="1" smtClean="0">
                                  <a:latin typeface="Cambria Math" panose="02040503050406030204" pitchFamily="18" charset="0"/>
                                </a:rPr>
                              </m:ctrlPr>
                            </m:sSupPr>
                            <m:e>
                              <m:r>
                                <a:rPr lang="en-US" sz="2400" i="1" smtClean="0">
                                  <a:latin typeface="Cambria Math" panose="02040503050406030204" pitchFamily="18" charset="0"/>
                                  <a:ea typeface="Cambria Math" panose="02040503050406030204" pitchFamily="18" charset="0"/>
                                </a:rPr>
                                <m:t>𝜆</m:t>
                              </m:r>
                            </m:e>
                            <m:sup>
                              <m:r>
                                <a:rPr lang="en-US" sz="2400" b="0" i="1" smtClean="0">
                                  <a:latin typeface="Cambria Math" panose="02040503050406030204" pitchFamily="18" charset="0"/>
                                </a:rPr>
                                <m:t>𝑘</m:t>
                              </m:r>
                            </m:sup>
                          </m:sSup>
                          <m:sSup>
                            <m:sSupPr>
                              <m:ctrlPr>
                                <a:rPr lang="en-US" sz="2400" i="1" smtClean="0">
                                  <a:latin typeface="Cambria Math" panose="02040503050406030204" pitchFamily="18" charset="0"/>
                                </a:rPr>
                              </m:ctrlPr>
                            </m:sSupPr>
                            <m:e>
                              <m:r>
                                <a:rPr lang="en-US" sz="2400" b="0" i="1" smtClean="0">
                                  <a:latin typeface="Cambria Math" panose="02040503050406030204" pitchFamily="18" charset="0"/>
                                </a:rPr>
                                <m:t>𝑥</m:t>
                              </m:r>
                            </m:e>
                            <m:sup>
                              <m:r>
                                <a:rPr lang="en-US" sz="2400" b="0" i="1" smtClean="0">
                                  <a:latin typeface="Cambria Math" panose="02040503050406030204" pitchFamily="18" charset="0"/>
                                </a:rPr>
                                <m:t>𝑘</m:t>
                              </m:r>
                              <m:r>
                                <a:rPr lang="en-US" sz="2400" b="0" i="1" smtClean="0">
                                  <a:latin typeface="Cambria Math" panose="02040503050406030204" pitchFamily="18" charset="0"/>
                                </a:rPr>
                                <m:t>−1</m:t>
                              </m:r>
                            </m:sup>
                          </m:sSup>
                          <m:sSup>
                            <m:sSupPr>
                              <m:ctrlPr>
                                <a:rPr lang="en-US" sz="2400" i="1" smtClean="0">
                                  <a:latin typeface="Cambria Math" panose="02040503050406030204" pitchFamily="18" charset="0"/>
                                </a:rPr>
                              </m:ctrlPr>
                            </m:sSupPr>
                            <m:e>
                              <m:r>
                                <a:rPr lang="en-US" sz="2400" b="0" i="1" smtClean="0">
                                  <a:latin typeface="Cambria Math" panose="02040503050406030204" pitchFamily="18" charset="0"/>
                                </a:rPr>
                                <m:t>𝑒</m:t>
                              </m:r>
                            </m:e>
                            <m:sup>
                              <m:r>
                                <a:rPr lang="en-US" sz="2400" b="0" i="1" smtClean="0">
                                  <a:latin typeface="Cambria Math" panose="02040503050406030204" pitchFamily="18" charset="0"/>
                                </a:rPr>
                                <m:t>−</m:t>
                              </m:r>
                              <m:r>
                                <a:rPr lang="en-US" sz="2400" b="0" i="1" smtClean="0">
                                  <a:latin typeface="Cambria Math" panose="02040503050406030204" pitchFamily="18" charset="0"/>
                                  <a:ea typeface="Cambria Math" panose="02040503050406030204" pitchFamily="18" charset="0"/>
                                </a:rPr>
                                <m:t>𝜆</m:t>
                              </m:r>
                              <m:r>
                                <a:rPr lang="en-US" sz="2400" b="0" i="1" smtClean="0">
                                  <a:latin typeface="Cambria Math" panose="02040503050406030204" pitchFamily="18" charset="0"/>
                                  <a:ea typeface="Cambria Math" panose="02040503050406030204" pitchFamily="18" charset="0"/>
                                </a:rPr>
                                <m:t>𝑥</m:t>
                              </m:r>
                            </m:sup>
                          </m:sSup>
                        </m:num>
                        <m:den>
                          <m:d>
                            <m:dPr>
                              <m:ctrlPr>
                                <a:rPr lang="en-US" sz="2400" b="0" i="1" smtClean="0">
                                  <a:latin typeface="Cambria Math" panose="02040503050406030204" pitchFamily="18" charset="0"/>
                                </a:rPr>
                              </m:ctrlPr>
                            </m:dPr>
                            <m:e>
                              <m:r>
                                <a:rPr lang="en-US" sz="2400" b="0" i="1" smtClean="0">
                                  <a:latin typeface="Cambria Math" panose="02040503050406030204" pitchFamily="18" charset="0"/>
                                </a:rPr>
                                <m:t>𝑘</m:t>
                              </m:r>
                              <m:r>
                                <a:rPr lang="en-US" sz="2400" b="0" i="1" smtClean="0">
                                  <a:latin typeface="Cambria Math" panose="02040503050406030204" pitchFamily="18" charset="0"/>
                                </a:rPr>
                                <m:t>−1</m:t>
                              </m:r>
                            </m:e>
                          </m:d>
                          <m:r>
                            <a:rPr lang="en-US" sz="2400" b="0" i="1" smtClean="0">
                              <a:latin typeface="Cambria Math" panose="02040503050406030204" pitchFamily="18" charset="0"/>
                            </a:rPr>
                            <m:t>!</m:t>
                          </m:r>
                        </m:den>
                      </m:f>
                    </m:oMath>
                  </m:oMathPara>
                </a14:m>
                <a:endParaRPr lang="en-US" sz="2400" dirty="0"/>
              </a:p>
            </p:txBody>
          </p:sp>
        </mc:Choice>
        <mc:Fallback xmlns="">
          <p:sp>
            <p:nvSpPr>
              <p:cNvPr id="9" name="TextBox 8">
                <a:extLst>
                  <a:ext uri="{FF2B5EF4-FFF2-40B4-BE49-F238E27FC236}">
                    <a16:creationId xmlns:a16="http://schemas.microsoft.com/office/drawing/2014/main" id="{1408D2EF-7810-4EDC-B472-272D11B9A191}"/>
                  </a:ext>
                </a:extLst>
              </p:cNvPr>
              <p:cNvSpPr txBox="1">
                <a:spLocks noRot="1" noChangeAspect="1" noMove="1" noResize="1" noEditPoints="1" noAdjustHandles="1" noChangeArrowheads="1" noChangeShapeType="1" noTextEdit="1"/>
              </p:cNvSpPr>
              <p:nvPr/>
            </p:nvSpPr>
            <p:spPr>
              <a:xfrm>
                <a:off x="7980308" y="2187025"/>
                <a:ext cx="3686392" cy="904094"/>
              </a:xfrm>
              <a:prstGeom prst="rect">
                <a:avLst/>
              </a:prstGeom>
              <a:blipFill>
                <a:blip r:embed="rId6"/>
                <a:stretch>
                  <a:fillRect/>
                </a:stretch>
              </a:blipFill>
            </p:spPr>
            <p:txBody>
              <a:bodyPr/>
              <a:lstStyle/>
              <a:p>
                <a:r>
                  <a:rPr lang="en-US">
                    <a:noFill/>
                  </a:rPr>
                  <a:t> </a:t>
                </a:r>
              </a:p>
            </p:txBody>
          </p:sp>
        </mc:Fallback>
      </mc:AlternateContent>
      <p:sp>
        <p:nvSpPr>
          <p:cNvPr id="10" name="TextBox 9">
            <a:extLst>
              <a:ext uri="{FF2B5EF4-FFF2-40B4-BE49-F238E27FC236}">
                <a16:creationId xmlns:a16="http://schemas.microsoft.com/office/drawing/2014/main" id="{BF4597CE-7899-4327-9993-42B31EB25880}"/>
              </a:ext>
            </a:extLst>
          </p:cNvPr>
          <p:cNvSpPr txBox="1"/>
          <p:nvPr/>
        </p:nvSpPr>
        <p:spPr>
          <a:xfrm>
            <a:off x="189571" y="6447755"/>
            <a:ext cx="3579542" cy="369332"/>
          </a:xfrm>
          <a:prstGeom prst="rect">
            <a:avLst/>
          </a:prstGeom>
          <a:noFill/>
        </p:spPr>
        <p:txBody>
          <a:bodyPr wrap="square" rtlCol="0">
            <a:spAutoFit/>
          </a:bodyPr>
          <a:lstStyle/>
          <a:p>
            <a:r>
              <a:rPr lang="en-US" dirty="0">
                <a:solidFill>
                  <a:schemeClr val="bg1"/>
                </a:solidFill>
              </a:rPr>
              <a:t>Mohammad Mahdi Manafi</a:t>
            </a:r>
          </a:p>
        </p:txBody>
      </p:sp>
    </p:spTree>
    <p:extLst>
      <p:ext uri="{BB962C8B-B14F-4D97-AF65-F5344CB8AC3E}">
        <p14:creationId xmlns:p14="http://schemas.microsoft.com/office/powerpoint/2010/main" val="430196874"/>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DBEB5DF-2E9C-49AF-A32B-D6C4957897F9}"/>
              </a:ext>
            </a:extLst>
          </p:cNvPr>
          <p:cNvSpPr>
            <a:spLocks noGrp="1"/>
          </p:cNvSpPr>
          <p:nvPr>
            <p:ph type="title"/>
          </p:nvPr>
        </p:nvSpPr>
        <p:spPr/>
        <p:txBody>
          <a:bodyPr/>
          <a:lstStyle/>
          <a:p>
            <a:r>
              <a:rPr lang="en-US" dirty="0"/>
              <a:t>How PDF derived</a:t>
            </a:r>
          </a:p>
        </p:txBody>
      </p:sp>
      <p:sp>
        <p:nvSpPr>
          <p:cNvPr id="4" name="Slide Number Placeholder 3">
            <a:extLst>
              <a:ext uri="{FF2B5EF4-FFF2-40B4-BE49-F238E27FC236}">
                <a16:creationId xmlns:a16="http://schemas.microsoft.com/office/drawing/2014/main" id="{F3FAC001-2571-4B5C-B1E7-E457F3539E90}"/>
              </a:ext>
            </a:extLst>
          </p:cNvPr>
          <p:cNvSpPr>
            <a:spLocks noGrp="1"/>
          </p:cNvSpPr>
          <p:nvPr>
            <p:ph type="sldNum" sz="quarter" idx="12"/>
          </p:nvPr>
        </p:nvSpPr>
        <p:spPr/>
        <p:txBody>
          <a:bodyPr/>
          <a:lstStyle/>
          <a:p>
            <a:fld id="{DC4CAFB8-3EF6-4FAF-BDFA-EA2F8D8834E4}" type="slidenum">
              <a:rPr lang="en-US" smtClean="0"/>
              <a:t>14</a:t>
            </a:fld>
            <a:endParaRPr lang="en-US"/>
          </a:p>
        </p:txBody>
      </p:sp>
      <mc:AlternateContent xmlns:mc="http://schemas.openxmlformats.org/markup-compatibility/2006" xmlns:a14="http://schemas.microsoft.com/office/drawing/2010/main">
        <mc:Choice Requires="a14">
          <p:sp>
            <p:nvSpPr>
              <p:cNvPr id="5" name="TextBox 4">
                <a:extLst>
                  <a:ext uri="{FF2B5EF4-FFF2-40B4-BE49-F238E27FC236}">
                    <a16:creationId xmlns:a16="http://schemas.microsoft.com/office/drawing/2014/main" id="{34204134-0F99-431F-94A3-C9078025D5EF}"/>
                  </a:ext>
                </a:extLst>
              </p:cNvPr>
              <p:cNvSpPr txBox="1"/>
              <p:nvPr/>
            </p:nvSpPr>
            <p:spPr>
              <a:xfrm>
                <a:off x="2391941" y="1867830"/>
                <a:ext cx="2380782" cy="923843"/>
              </a:xfrm>
              <a:prstGeom prst="rect">
                <a:avLst/>
              </a:prstGeom>
              <a:noFill/>
            </p:spPr>
            <p:txBody>
              <a:bodyPr wrap="square" lIns="0" tIns="0" rIns="0" bIns="0" rtlCol="0">
                <a:spAutoFit/>
              </a:bodyPr>
              <a:lstStyle/>
              <a:p>
                <a:pPr/>
                <a14:m>
                  <m:oMathPara xmlns:m="http://schemas.openxmlformats.org/officeDocument/2006/math">
                    <m:oMathParaPr>
                      <m:jc m:val="centerGroup"/>
                    </m:oMathParaPr>
                    <m:oMath xmlns:m="http://schemas.openxmlformats.org/officeDocument/2006/math">
                      <m:nary>
                        <m:naryPr>
                          <m:limLoc m:val="undOvr"/>
                          <m:ctrlPr>
                            <a:rPr lang="en-US" sz="2000" i="1" smtClean="0">
                              <a:latin typeface="Cambria Math" panose="02040503050406030204" pitchFamily="18" charset="0"/>
                            </a:rPr>
                          </m:ctrlPr>
                        </m:naryPr>
                        <m:sub>
                          <m:r>
                            <m:rPr>
                              <m:brk m:alnAt="24"/>
                            </m:rPr>
                            <a:rPr lang="en-US" sz="2000" b="0" i="1" smtClean="0">
                              <a:latin typeface="Cambria Math" panose="02040503050406030204" pitchFamily="18" charset="0"/>
                            </a:rPr>
                            <m:t>0</m:t>
                          </m:r>
                        </m:sub>
                        <m:sup>
                          <m:r>
                            <a:rPr lang="en-US" sz="2000" b="0" i="1" smtClean="0">
                              <a:latin typeface="Cambria Math" panose="02040503050406030204" pitchFamily="18" charset="0"/>
                            </a:rPr>
                            <m:t>𝑡</m:t>
                          </m:r>
                        </m:sup>
                        <m:e>
                          <m:sSub>
                            <m:sSubPr>
                              <m:ctrlPr>
                                <a:rPr lang="en-US" sz="2000" i="1" smtClean="0">
                                  <a:latin typeface="Cambria Math" panose="02040503050406030204" pitchFamily="18" charset="0"/>
                                </a:rPr>
                              </m:ctrlPr>
                            </m:sSubPr>
                            <m:e>
                              <m:r>
                                <a:rPr lang="en-US" sz="2000" b="0" i="1" smtClean="0">
                                  <a:latin typeface="Cambria Math" panose="02040503050406030204" pitchFamily="18" charset="0"/>
                                </a:rPr>
                                <m:t>𝑇</m:t>
                              </m:r>
                            </m:e>
                            <m:sub>
                              <m:r>
                                <a:rPr lang="en-US" sz="2000" b="0" i="1" smtClean="0">
                                  <a:latin typeface="Cambria Math" panose="02040503050406030204" pitchFamily="18" charset="0"/>
                                </a:rPr>
                                <m:t>𝑋</m:t>
                              </m:r>
                            </m:sub>
                          </m:sSub>
                          <m:d>
                            <m:dPr>
                              <m:ctrlPr>
                                <a:rPr lang="en-US" sz="2000" b="0" i="1" smtClean="0">
                                  <a:latin typeface="Cambria Math" panose="02040503050406030204" pitchFamily="18" charset="0"/>
                                </a:rPr>
                              </m:ctrlPr>
                            </m:dPr>
                            <m:e>
                              <m:r>
                                <a:rPr lang="en-US" sz="2000" b="0" i="1" smtClean="0">
                                  <a:latin typeface="Cambria Math" panose="02040503050406030204" pitchFamily="18" charset="0"/>
                                </a:rPr>
                                <m:t>𝑡</m:t>
                              </m:r>
                              <m:r>
                                <a:rPr lang="en-US" sz="2000" b="0" i="1" smtClean="0">
                                  <a:latin typeface="Cambria Math" panose="02040503050406030204" pitchFamily="18" charset="0"/>
                                </a:rPr>
                                <m:t>−</m:t>
                              </m:r>
                              <m:r>
                                <a:rPr lang="en-US" sz="2000" b="0" i="1" smtClean="0">
                                  <a:latin typeface="Cambria Math" panose="02040503050406030204" pitchFamily="18" charset="0"/>
                                  <a:ea typeface="Cambria Math" panose="02040503050406030204" pitchFamily="18" charset="0"/>
                                </a:rPr>
                                <m:t>𝜏</m:t>
                              </m:r>
                            </m:e>
                          </m:d>
                          <m:r>
                            <a:rPr lang="en-US" sz="2000" b="0" i="1" smtClean="0">
                              <a:latin typeface="Cambria Math" panose="02040503050406030204" pitchFamily="18" charset="0"/>
                              <a:ea typeface="Cambria Math" panose="02040503050406030204" pitchFamily="18" charset="0"/>
                            </a:rPr>
                            <m:t> </m:t>
                          </m:r>
                          <m:r>
                            <a:rPr lang="en-US" sz="2000" b="0" i="1" smtClean="0">
                              <a:latin typeface="Cambria Math" panose="02040503050406030204" pitchFamily="18" charset="0"/>
                              <a:ea typeface="Cambria Math" panose="02040503050406030204" pitchFamily="18" charset="0"/>
                            </a:rPr>
                            <m:t>𝛽</m:t>
                          </m:r>
                          <m:d>
                            <m:dPr>
                              <m:ctrlPr>
                                <a:rPr lang="en-US" sz="2000" b="0" i="1" smtClean="0">
                                  <a:latin typeface="Cambria Math" panose="02040503050406030204" pitchFamily="18" charset="0"/>
                                  <a:ea typeface="Cambria Math" panose="02040503050406030204" pitchFamily="18" charset="0"/>
                                </a:rPr>
                              </m:ctrlPr>
                            </m:dPr>
                            <m:e>
                              <m:r>
                                <a:rPr lang="en-US" sz="2000" b="0" i="1" smtClean="0">
                                  <a:latin typeface="Cambria Math" panose="02040503050406030204" pitchFamily="18" charset="0"/>
                                  <a:ea typeface="Cambria Math" panose="02040503050406030204" pitchFamily="18" charset="0"/>
                                </a:rPr>
                                <m:t>𝜏</m:t>
                              </m:r>
                            </m:e>
                          </m:d>
                          <m:r>
                            <a:rPr lang="en-US" sz="2000" b="0" i="1" smtClean="0">
                              <a:latin typeface="Cambria Math" panose="02040503050406030204" pitchFamily="18" charset="0"/>
                              <a:ea typeface="Cambria Math" panose="02040503050406030204" pitchFamily="18" charset="0"/>
                            </a:rPr>
                            <m:t> </m:t>
                          </m:r>
                          <m:r>
                            <a:rPr lang="en-US" sz="2000" b="0" i="1" smtClean="0">
                              <a:latin typeface="Cambria Math" panose="02040503050406030204" pitchFamily="18" charset="0"/>
                              <a:ea typeface="Cambria Math" panose="02040503050406030204" pitchFamily="18" charset="0"/>
                            </a:rPr>
                            <m:t>𝑑</m:t>
                          </m:r>
                          <m:r>
                            <a:rPr lang="en-US" sz="2000" b="0" i="1" smtClean="0">
                              <a:latin typeface="Cambria Math" panose="02040503050406030204" pitchFamily="18" charset="0"/>
                              <a:ea typeface="Cambria Math" panose="02040503050406030204" pitchFamily="18" charset="0"/>
                            </a:rPr>
                            <m:t>𝜏</m:t>
                          </m:r>
                        </m:e>
                      </m:nary>
                      <m:r>
                        <a:rPr lang="en-US" sz="2000" b="0" i="1" smtClean="0">
                          <a:latin typeface="Cambria Math" panose="02040503050406030204" pitchFamily="18" charset="0"/>
                        </a:rPr>
                        <m:t>,</m:t>
                      </m:r>
                    </m:oMath>
                  </m:oMathPara>
                </a14:m>
                <a:endParaRPr lang="en-US" sz="2000" dirty="0"/>
              </a:p>
            </p:txBody>
          </p:sp>
        </mc:Choice>
        <mc:Fallback xmlns="">
          <p:sp>
            <p:nvSpPr>
              <p:cNvPr id="5" name="TextBox 4">
                <a:extLst>
                  <a:ext uri="{FF2B5EF4-FFF2-40B4-BE49-F238E27FC236}">
                    <a16:creationId xmlns:a16="http://schemas.microsoft.com/office/drawing/2014/main" id="{34204134-0F99-431F-94A3-C9078025D5EF}"/>
                  </a:ext>
                </a:extLst>
              </p:cNvPr>
              <p:cNvSpPr txBox="1">
                <a:spLocks noRot="1" noChangeAspect="1" noMove="1" noResize="1" noEditPoints="1" noAdjustHandles="1" noChangeArrowheads="1" noChangeShapeType="1" noTextEdit="1"/>
              </p:cNvSpPr>
              <p:nvPr/>
            </p:nvSpPr>
            <p:spPr>
              <a:xfrm>
                <a:off x="2391941" y="1867830"/>
                <a:ext cx="2380782" cy="923843"/>
              </a:xfrm>
              <a:prstGeom prst="rect">
                <a:avLst/>
              </a:prstGeom>
              <a:blipFill>
                <a:blip r:embed="rId3"/>
                <a:stretch>
                  <a:fillRect/>
                </a:stretch>
              </a:blipFill>
            </p:spPr>
            <p:txBody>
              <a:bodyPr/>
              <a:lstStyle/>
              <a:p>
                <a:r>
                  <a:rPr lang="en-US">
                    <a:noFill/>
                  </a:rPr>
                  <a:t> </a:t>
                </a:r>
              </a:p>
            </p:txBody>
          </p:sp>
        </mc:Fallback>
      </mc:AlternateContent>
      <p:sp>
        <p:nvSpPr>
          <p:cNvPr id="6" name="TextBox 5">
            <a:extLst>
              <a:ext uri="{FF2B5EF4-FFF2-40B4-BE49-F238E27FC236}">
                <a16:creationId xmlns:a16="http://schemas.microsoft.com/office/drawing/2014/main" id="{B26E5B7F-5BEF-4AD6-941B-6B3B0EB1DBD1}"/>
              </a:ext>
            </a:extLst>
          </p:cNvPr>
          <p:cNvSpPr txBox="1"/>
          <p:nvPr/>
        </p:nvSpPr>
        <p:spPr>
          <a:xfrm>
            <a:off x="1193185" y="2137379"/>
            <a:ext cx="1432932" cy="369332"/>
          </a:xfrm>
          <a:prstGeom prst="rect">
            <a:avLst/>
          </a:prstGeom>
          <a:noFill/>
        </p:spPr>
        <p:txBody>
          <a:bodyPr wrap="square" rtlCol="0">
            <a:spAutoFit/>
          </a:bodyPr>
          <a:lstStyle/>
          <a:p>
            <a:r>
              <a:rPr lang="en-US" dirty="0"/>
              <a:t>Convolution:</a:t>
            </a:r>
          </a:p>
        </p:txBody>
      </p:sp>
      <mc:AlternateContent xmlns:mc="http://schemas.openxmlformats.org/markup-compatibility/2006" xmlns:a14="http://schemas.microsoft.com/office/drawing/2010/main">
        <mc:Choice Requires="a14">
          <p:sp>
            <p:nvSpPr>
              <p:cNvPr id="7" name="TextBox 6">
                <a:extLst>
                  <a:ext uri="{FF2B5EF4-FFF2-40B4-BE49-F238E27FC236}">
                    <a16:creationId xmlns:a16="http://schemas.microsoft.com/office/drawing/2014/main" id="{736A8E79-FDDF-4EB1-8221-B9119B3D0DFE}"/>
                  </a:ext>
                </a:extLst>
              </p:cNvPr>
              <p:cNvSpPr txBox="1"/>
              <p:nvPr/>
            </p:nvSpPr>
            <p:spPr>
              <a:xfrm>
                <a:off x="4728116" y="1932504"/>
                <a:ext cx="3992137" cy="767133"/>
              </a:xfrm>
              <a:prstGeom prst="rect">
                <a:avLst/>
              </a:prstGeom>
              <a:noFill/>
            </p:spPr>
            <p:txBody>
              <a:bodyPr wrap="square" rtlCol="0">
                <a:spAutoFit/>
              </a:bodyPr>
              <a:lstStyle/>
              <a:p>
                <a:pPr/>
                <a14:m>
                  <m:oMathPara xmlns:m="http://schemas.openxmlformats.org/officeDocument/2006/math">
                    <m:oMathParaPr>
                      <m:jc m:val="centerGroup"/>
                    </m:oMathParaPr>
                    <m:oMath xmlns:m="http://schemas.openxmlformats.org/officeDocument/2006/math">
                      <m:sSub>
                        <m:sSubPr>
                          <m:ctrlPr>
                            <a:rPr lang="en-US" sz="2000" i="1" smtClean="0">
                              <a:latin typeface="Cambria Math" panose="02040503050406030204" pitchFamily="18" charset="0"/>
                            </a:rPr>
                          </m:ctrlPr>
                        </m:sSubPr>
                        <m:e>
                          <m:r>
                            <a:rPr lang="en-US" sz="2000" i="1">
                              <a:latin typeface="Cambria Math" panose="02040503050406030204" pitchFamily="18" charset="0"/>
                            </a:rPr>
                            <m:t>𝑇</m:t>
                          </m:r>
                        </m:e>
                        <m:sub>
                          <m:r>
                            <a:rPr lang="en-US" sz="2000" i="1">
                              <a:latin typeface="Cambria Math" panose="02040503050406030204" pitchFamily="18" charset="0"/>
                            </a:rPr>
                            <m:t>𝑋</m:t>
                          </m:r>
                        </m:sub>
                      </m:sSub>
                      <m:d>
                        <m:dPr>
                          <m:ctrlPr>
                            <a:rPr lang="en-US" sz="2000" i="1">
                              <a:latin typeface="Cambria Math" panose="02040503050406030204" pitchFamily="18" charset="0"/>
                            </a:rPr>
                          </m:ctrlPr>
                        </m:dPr>
                        <m:e>
                          <m:r>
                            <a:rPr lang="en-US" sz="2000" b="0" i="1" smtClean="0">
                              <a:latin typeface="Cambria Math" panose="02040503050406030204" pitchFamily="18" charset="0"/>
                            </a:rPr>
                            <m:t>𝑡</m:t>
                          </m:r>
                          <m:r>
                            <a:rPr lang="en-US" sz="2000" b="0" i="1" smtClean="0">
                              <a:latin typeface="Cambria Math" panose="02040503050406030204" pitchFamily="18" charset="0"/>
                            </a:rPr>
                            <m:t>−</m:t>
                          </m:r>
                          <m:r>
                            <a:rPr lang="en-US" sz="2000" i="1">
                              <a:latin typeface="Cambria Math" panose="02040503050406030204" pitchFamily="18" charset="0"/>
                              <a:ea typeface="Cambria Math" panose="02040503050406030204" pitchFamily="18" charset="0"/>
                            </a:rPr>
                            <m:t>𝜏</m:t>
                          </m:r>
                        </m:e>
                      </m:d>
                      <m:r>
                        <a:rPr lang="en-US" sz="2000" b="0" i="1" smtClean="0">
                          <a:latin typeface="Cambria Math" panose="02040503050406030204" pitchFamily="18" charset="0"/>
                          <a:ea typeface="Cambria Math" panose="02040503050406030204" pitchFamily="18" charset="0"/>
                        </a:rPr>
                        <m:t>=</m:t>
                      </m:r>
                      <m:f>
                        <m:fPr>
                          <m:ctrlPr>
                            <a:rPr lang="en-US" sz="2000" i="1">
                              <a:latin typeface="Cambria Math" panose="02040503050406030204" pitchFamily="18" charset="0"/>
                            </a:rPr>
                          </m:ctrlPr>
                        </m:fPr>
                        <m:num>
                          <m:sSup>
                            <m:sSupPr>
                              <m:ctrlPr>
                                <a:rPr lang="en-US" sz="2000" i="1">
                                  <a:latin typeface="Cambria Math" panose="02040503050406030204" pitchFamily="18" charset="0"/>
                                </a:rPr>
                              </m:ctrlPr>
                            </m:sSupPr>
                            <m:e>
                              <m:sSup>
                                <m:sSupPr>
                                  <m:ctrlPr>
                                    <a:rPr lang="en-US" sz="2000" i="1" smtClean="0">
                                      <a:latin typeface="Cambria Math" panose="02040503050406030204" pitchFamily="18" charset="0"/>
                                    </a:rPr>
                                  </m:ctrlPr>
                                </m:sSupPr>
                                <m:e>
                                  <m:r>
                                    <a:rPr lang="en-US" sz="2000" i="1" smtClean="0">
                                      <a:latin typeface="Cambria Math" panose="02040503050406030204" pitchFamily="18" charset="0"/>
                                      <a:ea typeface="Cambria Math" panose="02040503050406030204" pitchFamily="18" charset="0"/>
                                    </a:rPr>
                                    <m:t>𝛼</m:t>
                                  </m:r>
                                </m:e>
                                <m:sup>
                                  <m:r>
                                    <a:rPr lang="en-US" sz="2000" b="0" i="1" smtClean="0">
                                      <a:latin typeface="Cambria Math" panose="02040503050406030204" pitchFamily="18" charset="0"/>
                                    </a:rPr>
                                    <m:t>𝑘</m:t>
                                  </m:r>
                                </m:sup>
                              </m:sSup>
                              <m:r>
                                <a:rPr lang="en-US" sz="2000" b="0" i="1" smtClean="0">
                                  <a:latin typeface="Cambria Math" panose="02040503050406030204" pitchFamily="18" charset="0"/>
                                </a:rPr>
                                <m:t>(</m:t>
                              </m:r>
                              <m:r>
                                <a:rPr lang="en-US" sz="2000" b="0" i="1" smtClean="0">
                                  <a:latin typeface="Cambria Math" panose="02040503050406030204" pitchFamily="18" charset="0"/>
                                </a:rPr>
                                <m:t>𝑡</m:t>
                              </m:r>
                              <m:r>
                                <a:rPr lang="en-US" sz="2000" b="0" i="1" smtClean="0">
                                  <a:latin typeface="Cambria Math" panose="02040503050406030204" pitchFamily="18" charset="0"/>
                                </a:rPr>
                                <m:t>−</m:t>
                              </m:r>
                              <m:r>
                                <a:rPr lang="en-US" sz="2000" i="1" smtClean="0">
                                  <a:latin typeface="Cambria Math" panose="02040503050406030204" pitchFamily="18" charset="0"/>
                                  <a:ea typeface="Cambria Math" panose="02040503050406030204" pitchFamily="18" charset="0"/>
                                </a:rPr>
                                <m:t>𝜏</m:t>
                              </m:r>
                              <m:r>
                                <a:rPr lang="en-US" sz="2000" b="0" i="1" smtClean="0">
                                  <a:latin typeface="Cambria Math" panose="02040503050406030204" pitchFamily="18" charset="0"/>
                                  <a:ea typeface="Cambria Math" panose="02040503050406030204" pitchFamily="18" charset="0"/>
                                </a:rPr>
                                <m:t>)</m:t>
                              </m:r>
                            </m:e>
                            <m:sup>
                              <m:r>
                                <a:rPr lang="en-US" sz="2000" i="1">
                                  <a:latin typeface="Cambria Math" panose="02040503050406030204" pitchFamily="18" charset="0"/>
                                </a:rPr>
                                <m:t>𝑘</m:t>
                              </m:r>
                              <m:r>
                                <a:rPr lang="en-US" sz="2000" i="1">
                                  <a:latin typeface="Cambria Math" panose="02040503050406030204" pitchFamily="18" charset="0"/>
                                </a:rPr>
                                <m:t>−1</m:t>
                              </m:r>
                            </m:sup>
                          </m:sSup>
                          <m:sSup>
                            <m:sSupPr>
                              <m:ctrlPr>
                                <a:rPr lang="en-US" sz="2000" i="1">
                                  <a:latin typeface="Cambria Math" panose="02040503050406030204" pitchFamily="18" charset="0"/>
                                </a:rPr>
                              </m:ctrlPr>
                            </m:sSupPr>
                            <m:e>
                              <m:r>
                                <a:rPr lang="en-US" sz="2000" i="1">
                                  <a:latin typeface="Cambria Math" panose="02040503050406030204" pitchFamily="18" charset="0"/>
                                </a:rPr>
                                <m:t>𝑒</m:t>
                              </m:r>
                            </m:e>
                            <m:sup>
                              <m:r>
                                <a:rPr lang="en-US" sz="2000" i="1">
                                  <a:latin typeface="Cambria Math" panose="02040503050406030204" pitchFamily="18" charset="0"/>
                                </a:rPr>
                                <m:t>−</m:t>
                              </m:r>
                              <m:r>
                                <a:rPr lang="en-US" sz="2000" b="0" i="1" smtClean="0">
                                  <a:latin typeface="Cambria Math" panose="02040503050406030204" pitchFamily="18" charset="0"/>
                                </a:rPr>
                                <m:t>(</m:t>
                              </m:r>
                              <m:r>
                                <a:rPr lang="en-US" sz="2000" b="0" i="1" smtClean="0">
                                  <a:latin typeface="Cambria Math" panose="02040503050406030204" pitchFamily="18" charset="0"/>
                                </a:rPr>
                                <m:t>𝑡</m:t>
                              </m:r>
                              <m:r>
                                <a:rPr lang="en-US" sz="2000" b="0" i="1" smtClean="0">
                                  <a:latin typeface="Cambria Math" panose="02040503050406030204" pitchFamily="18" charset="0"/>
                                </a:rPr>
                                <m:t>−</m:t>
                              </m:r>
                              <m:r>
                                <a:rPr lang="en-US" sz="2000" i="1" smtClean="0">
                                  <a:latin typeface="Cambria Math" panose="02040503050406030204" pitchFamily="18" charset="0"/>
                                  <a:ea typeface="Cambria Math" panose="02040503050406030204" pitchFamily="18" charset="0"/>
                                </a:rPr>
                                <m:t>𝜏</m:t>
                              </m:r>
                              <m:r>
                                <a:rPr lang="en-US" sz="2000" b="0" i="1" smtClean="0">
                                  <a:latin typeface="Cambria Math" panose="02040503050406030204" pitchFamily="18" charset="0"/>
                                  <a:ea typeface="Cambria Math" panose="02040503050406030204" pitchFamily="18" charset="0"/>
                                </a:rPr>
                                <m:t>)</m:t>
                              </m:r>
                              <m:r>
                                <a:rPr lang="en-US" sz="2000" i="1" smtClean="0">
                                  <a:latin typeface="Cambria Math" panose="02040503050406030204" pitchFamily="18" charset="0"/>
                                  <a:ea typeface="Cambria Math" panose="02040503050406030204" pitchFamily="18" charset="0"/>
                                </a:rPr>
                                <m:t>𝛼</m:t>
                              </m:r>
                            </m:sup>
                          </m:sSup>
                        </m:num>
                        <m:den>
                          <m:d>
                            <m:dPr>
                              <m:ctrlPr>
                                <a:rPr lang="en-US" sz="2000" i="1">
                                  <a:latin typeface="Cambria Math" panose="02040503050406030204" pitchFamily="18" charset="0"/>
                                </a:rPr>
                              </m:ctrlPr>
                            </m:dPr>
                            <m:e>
                              <m:r>
                                <a:rPr lang="en-US" sz="2000" i="1">
                                  <a:latin typeface="Cambria Math" panose="02040503050406030204" pitchFamily="18" charset="0"/>
                                </a:rPr>
                                <m:t>𝑘</m:t>
                              </m:r>
                              <m:r>
                                <a:rPr lang="en-US" sz="2000" i="1">
                                  <a:latin typeface="Cambria Math" panose="02040503050406030204" pitchFamily="18" charset="0"/>
                                </a:rPr>
                                <m:t>−1</m:t>
                              </m:r>
                            </m:e>
                          </m:d>
                          <m:r>
                            <a:rPr lang="en-US" sz="2000" i="1">
                              <a:latin typeface="Cambria Math" panose="02040503050406030204" pitchFamily="18" charset="0"/>
                            </a:rPr>
                            <m:t>!</m:t>
                          </m:r>
                        </m:den>
                      </m:f>
                      <m:r>
                        <a:rPr lang="en-US" sz="2000" b="0" i="1" smtClean="0">
                          <a:latin typeface="Cambria Math" panose="02040503050406030204" pitchFamily="18" charset="0"/>
                        </a:rPr>
                        <m:t>,</m:t>
                      </m:r>
                    </m:oMath>
                  </m:oMathPara>
                </a14:m>
                <a:endParaRPr lang="en-US" sz="2000" dirty="0"/>
              </a:p>
            </p:txBody>
          </p:sp>
        </mc:Choice>
        <mc:Fallback xmlns="">
          <p:sp>
            <p:nvSpPr>
              <p:cNvPr id="7" name="TextBox 6">
                <a:extLst>
                  <a:ext uri="{FF2B5EF4-FFF2-40B4-BE49-F238E27FC236}">
                    <a16:creationId xmlns:a16="http://schemas.microsoft.com/office/drawing/2014/main" id="{736A8E79-FDDF-4EB1-8221-B9119B3D0DFE}"/>
                  </a:ext>
                </a:extLst>
              </p:cNvPr>
              <p:cNvSpPr txBox="1">
                <a:spLocks noRot="1" noChangeAspect="1" noMove="1" noResize="1" noEditPoints="1" noAdjustHandles="1" noChangeArrowheads="1" noChangeShapeType="1" noTextEdit="1"/>
              </p:cNvSpPr>
              <p:nvPr/>
            </p:nvSpPr>
            <p:spPr>
              <a:xfrm>
                <a:off x="4728116" y="1932504"/>
                <a:ext cx="3992137" cy="767133"/>
              </a:xfrm>
              <a:prstGeom prst="rect">
                <a:avLst/>
              </a:prstGeom>
              <a:blipFill>
                <a:blip r:embed="rId4"/>
                <a:stretch>
                  <a:fillRect/>
                </a:stretch>
              </a:blipFill>
            </p:spPr>
            <p:txBody>
              <a:bodyPr/>
              <a:lstStyle/>
              <a:p>
                <a:r>
                  <a:rPr lang="en-US">
                    <a:noFill/>
                  </a:rPr>
                  <a:t> </a:t>
                </a:r>
              </a:p>
            </p:txBody>
          </p:sp>
        </mc:Fallback>
      </mc:AlternateContent>
      <mc:AlternateContent xmlns:mc="http://schemas.openxmlformats.org/markup-compatibility/2006" xmlns:a14="http://schemas.microsoft.com/office/drawing/2010/main">
        <mc:Choice Requires="a14">
          <p:sp>
            <p:nvSpPr>
              <p:cNvPr id="8" name="TextBox 7">
                <a:extLst>
                  <a:ext uri="{FF2B5EF4-FFF2-40B4-BE49-F238E27FC236}">
                    <a16:creationId xmlns:a16="http://schemas.microsoft.com/office/drawing/2014/main" id="{A0A52839-B87B-4BE0-88BE-6512C0F7802A}"/>
                  </a:ext>
                </a:extLst>
              </p:cNvPr>
              <p:cNvSpPr txBox="1"/>
              <p:nvPr/>
            </p:nvSpPr>
            <p:spPr>
              <a:xfrm>
                <a:off x="8619888" y="2092110"/>
                <a:ext cx="3016403" cy="414601"/>
              </a:xfrm>
              <a:prstGeom prst="rect">
                <a:avLst/>
              </a:prstGeom>
              <a:noFill/>
            </p:spPr>
            <p:txBody>
              <a:bodyPr wrap="square" rtlCol="0">
                <a:spAutoFit/>
              </a:bodyPr>
              <a:lstStyle/>
              <a:p>
                <a:pPr/>
                <a14:m>
                  <m:oMathPara xmlns:m="http://schemas.openxmlformats.org/officeDocument/2006/math">
                    <m:oMathParaPr>
                      <m:jc m:val="centerGroup"/>
                    </m:oMathParaPr>
                    <m:oMath xmlns:m="http://schemas.openxmlformats.org/officeDocument/2006/math">
                      <m:r>
                        <a:rPr lang="en-US" sz="2000" b="0" i="1" smtClean="0">
                          <a:latin typeface="Cambria Math" panose="02040503050406030204" pitchFamily="18" charset="0"/>
                          <a:ea typeface="Cambria Math" panose="02040503050406030204" pitchFamily="18" charset="0"/>
                        </a:rPr>
                        <m:t>𝛽</m:t>
                      </m:r>
                      <m:d>
                        <m:dPr>
                          <m:ctrlPr>
                            <a:rPr lang="en-US" sz="2000" b="0" i="1" smtClean="0">
                              <a:latin typeface="Cambria Math" panose="02040503050406030204" pitchFamily="18" charset="0"/>
                              <a:ea typeface="Cambria Math" panose="02040503050406030204" pitchFamily="18" charset="0"/>
                            </a:rPr>
                          </m:ctrlPr>
                        </m:dPr>
                        <m:e>
                          <m:r>
                            <a:rPr lang="en-US" sz="2000" b="0" i="1" smtClean="0">
                              <a:latin typeface="Cambria Math" panose="02040503050406030204" pitchFamily="18" charset="0"/>
                              <a:ea typeface="Cambria Math" panose="02040503050406030204" pitchFamily="18" charset="0"/>
                            </a:rPr>
                            <m:t>𝜏</m:t>
                          </m:r>
                        </m:e>
                      </m:d>
                      <m:r>
                        <a:rPr lang="en-US" sz="2000" b="0" i="0" smtClean="0">
                          <a:latin typeface="Cambria Math" panose="02040503050406030204" pitchFamily="18" charset="0"/>
                          <a:ea typeface="Cambria Math" panose="02040503050406030204" pitchFamily="18" charset="0"/>
                        </a:rPr>
                        <m:t>=</m:t>
                      </m:r>
                      <m:r>
                        <m:rPr>
                          <m:sty m:val="p"/>
                        </m:rPr>
                        <a:rPr lang="el-GR" sz="2000" b="0" i="1" smtClean="0">
                          <a:latin typeface="Cambria Math" panose="02040503050406030204" pitchFamily="18" charset="0"/>
                          <a:ea typeface="Cambria Math" panose="02040503050406030204" pitchFamily="18" charset="0"/>
                        </a:rPr>
                        <m:t>λ</m:t>
                      </m:r>
                      <m:sSup>
                        <m:sSupPr>
                          <m:ctrlPr>
                            <a:rPr lang="el-GR" sz="2000" b="0" i="1" smtClean="0">
                              <a:latin typeface="Cambria Math" panose="02040503050406030204" pitchFamily="18" charset="0"/>
                              <a:ea typeface="Cambria Math" panose="02040503050406030204" pitchFamily="18" charset="0"/>
                            </a:rPr>
                          </m:ctrlPr>
                        </m:sSupPr>
                        <m:e>
                          <m:r>
                            <a:rPr lang="en-US" sz="2000" b="0" i="1" smtClean="0">
                              <a:latin typeface="Cambria Math" panose="02040503050406030204" pitchFamily="18" charset="0"/>
                              <a:ea typeface="Cambria Math" panose="02040503050406030204" pitchFamily="18" charset="0"/>
                            </a:rPr>
                            <m:t>𝑒</m:t>
                          </m:r>
                        </m:e>
                        <m:sup>
                          <m:r>
                            <a:rPr lang="en-US" sz="2000" b="0" i="1" smtClean="0">
                              <a:latin typeface="Cambria Math" panose="02040503050406030204" pitchFamily="18" charset="0"/>
                              <a:ea typeface="Cambria Math" panose="02040503050406030204" pitchFamily="18" charset="0"/>
                            </a:rPr>
                            <m:t>−</m:t>
                          </m:r>
                          <m:r>
                            <m:rPr>
                              <m:sty m:val="p"/>
                            </m:rPr>
                            <a:rPr lang="el-GR" sz="2000" i="1">
                              <a:latin typeface="Cambria Math" panose="02040503050406030204" pitchFamily="18" charset="0"/>
                              <a:ea typeface="Cambria Math" panose="02040503050406030204" pitchFamily="18" charset="0"/>
                            </a:rPr>
                            <m:t>λ</m:t>
                          </m:r>
                          <m:r>
                            <a:rPr lang="en-US" sz="2000" b="0" i="1" smtClean="0">
                              <a:latin typeface="Cambria Math" panose="02040503050406030204" pitchFamily="18" charset="0"/>
                              <a:ea typeface="Cambria Math" panose="02040503050406030204" pitchFamily="18" charset="0"/>
                            </a:rPr>
                            <m:t>(</m:t>
                          </m:r>
                          <m:r>
                            <a:rPr lang="en-US" sz="2000" b="0" i="1" smtClean="0">
                              <a:latin typeface="Cambria Math" panose="02040503050406030204" pitchFamily="18" charset="0"/>
                              <a:ea typeface="Cambria Math" panose="02040503050406030204" pitchFamily="18" charset="0"/>
                            </a:rPr>
                            <m:t>𝜏</m:t>
                          </m:r>
                          <m:r>
                            <a:rPr lang="en-US" sz="2000" b="0" i="1" smtClean="0">
                              <a:latin typeface="Cambria Math" panose="02040503050406030204" pitchFamily="18" charset="0"/>
                              <a:ea typeface="Cambria Math" panose="02040503050406030204" pitchFamily="18" charset="0"/>
                            </a:rPr>
                            <m:t>)</m:t>
                          </m:r>
                        </m:sup>
                      </m:sSup>
                      <m:r>
                        <a:rPr lang="en-US" sz="2000" b="0" i="1" smtClean="0">
                          <a:latin typeface="Cambria Math" panose="02040503050406030204" pitchFamily="18" charset="0"/>
                          <a:ea typeface="Cambria Math" panose="02040503050406030204" pitchFamily="18" charset="0"/>
                        </a:rPr>
                        <m:t>=</m:t>
                      </m:r>
                      <m:r>
                        <a:rPr lang="en-US" sz="2000" i="1">
                          <a:latin typeface="Cambria Math" panose="02040503050406030204" pitchFamily="18" charset="0"/>
                          <a:ea typeface="Cambria Math" panose="02040503050406030204" pitchFamily="18" charset="0"/>
                        </a:rPr>
                        <m:t>𝛽</m:t>
                      </m:r>
                      <m:sSup>
                        <m:sSupPr>
                          <m:ctrlPr>
                            <a:rPr lang="el-GR" sz="2000" i="1">
                              <a:latin typeface="Cambria Math" panose="02040503050406030204" pitchFamily="18" charset="0"/>
                              <a:ea typeface="Cambria Math" panose="02040503050406030204" pitchFamily="18" charset="0"/>
                            </a:rPr>
                          </m:ctrlPr>
                        </m:sSupPr>
                        <m:e>
                          <m:r>
                            <a:rPr lang="en-US" sz="2000" i="1">
                              <a:latin typeface="Cambria Math" panose="02040503050406030204" pitchFamily="18" charset="0"/>
                              <a:ea typeface="Cambria Math" panose="02040503050406030204" pitchFamily="18" charset="0"/>
                            </a:rPr>
                            <m:t>𝑒</m:t>
                          </m:r>
                        </m:e>
                        <m:sup>
                          <m:r>
                            <a:rPr lang="en-US" sz="2000" i="1">
                              <a:latin typeface="Cambria Math" panose="02040503050406030204" pitchFamily="18" charset="0"/>
                              <a:ea typeface="Cambria Math" panose="02040503050406030204" pitchFamily="18" charset="0"/>
                            </a:rPr>
                            <m:t>−</m:t>
                          </m:r>
                          <m:r>
                            <a:rPr lang="en-US" sz="2000" i="1">
                              <a:latin typeface="Cambria Math" panose="02040503050406030204" pitchFamily="18" charset="0"/>
                              <a:ea typeface="Cambria Math" panose="02040503050406030204" pitchFamily="18" charset="0"/>
                            </a:rPr>
                            <m:t>𝛽</m:t>
                          </m:r>
                          <m:r>
                            <a:rPr lang="en-US" sz="2000" b="0" i="1" smtClean="0">
                              <a:latin typeface="Cambria Math" panose="02040503050406030204" pitchFamily="18" charset="0"/>
                              <a:ea typeface="Cambria Math" panose="02040503050406030204" pitchFamily="18" charset="0"/>
                            </a:rPr>
                            <m:t>(</m:t>
                          </m:r>
                          <m:r>
                            <a:rPr lang="en-US" sz="2000" b="0" i="1" smtClean="0">
                              <a:latin typeface="Cambria Math" panose="02040503050406030204" pitchFamily="18" charset="0"/>
                              <a:ea typeface="Cambria Math" panose="02040503050406030204" pitchFamily="18" charset="0"/>
                            </a:rPr>
                            <m:t>𝜏</m:t>
                          </m:r>
                          <m:r>
                            <a:rPr lang="en-US" sz="2000" b="0" i="1" smtClean="0">
                              <a:latin typeface="Cambria Math" panose="02040503050406030204" pitchFamily="18" charset="0"/>
                              <a:ea typeface="Cambria Math" panose="02040503050406030204" pitchFamily="18" charset="0"/>
                            </a:rPr>
                            <m:t>)</m:t>
                          </m:r>
                        </m:sup>
                      </m:sSup>
                    </m:oMath>
                  </m:oMathPara>
                </a14:m>
                <a:endParaRPr lang="en-US" sz="2000" dirty="0"/>
              </a:p>
            </p:txBody>
          </p:sp>
        </mc:Choice>
        <mc:Fallback xmlns="">
          <p:sp>
            <p:nvSpPr>
              <p:cNvPr id="8" name="TextBox 7">
                <a:extLst>
                  <a:ext uri="{FF2B5EF4-FFF2-40B4-BE49-F238E27FC236}">
                    <a16:creationId xmlns:a16="http://schemas.microsoft.com/office/drawing/2014/main" id="{A0A52839-B87B-4BE0-88BE-6512C0F7802A}"/>
                  </a:ext>
                </a:extLst>
              </p:cNvPr>
              <p:cNvSpPr txBox="1">
                <a:spLocks noRot="1" noChangeAspect="1" noMove="1" noResize="1" noEditPoints="1" noAdjustHandles="1" noChangeArrowheads="1" noChangeShapeType="1" noTextEdit="1"/>
              </p:cNvSpPr>
              <p:nvPr/>
            </p:nvSpPr>
            <p:spPr>
              <a:xfrm>
                <a:off x="8619888" y="2092110"/>
                <a:ext cx="3016403" cy="414601"/>
              </a:xfrm>
              <a:prstGeom prst="rect">
                <a:avLst/>
              </a:prstGeom>
              <a:blipFill>
                <a:blip r:embed="rId5"/>
                <a:stretch>
                  <a:fillRect b="-14706"/>
                </a:stretch>
              </a:blipFill>
            </p:spPr>
            <p:txBody>
              <a:bodyPr/>
              <a:lstStyle/>
              <a:p>
                <a:r>
                  <a:rPr lang="en-US">
                    <a:noFill/>
                  </a:rPr>
                  <a:t> </a:t>
                </a:r>
              </a:p>
            </p:txBody>
          </p:sp>
        </mc:Fallback>
      </mc:AlternateContent>
      <mc:AlternateContent xmlns:mc="http://schemas.openxmlformats.org/markup-compatibility/2006" xmlns:a14="http://schemas.microsoft.com/office/drawing/2010/main">
        <mc:Choice Requires="a14">
          <p:sp>
            <p:nvSpPr>
              <p:cNvPr id="9" name="TextBox 8">
                <a:extLst>
                  <a:ext uri="{FF2B5EF4-FFF2-40B4-BE49-F238E27FC236}">
                    <a16:creationId xmlns:a16="http://schemas.microsoft.com/office/drawing/2014/main" id="{B3DF74C0-8253-45C0-AF8C-C3EB340A4D43}"/>
                  </a:ext>
                </a:extLst>
              </p:cNvPr>
              <p:cNvSpPr txBox="1"/>
              <p:nvPr/>
            </p:nvSpPr>
            <p:spPr>
              <a:xfrm>
                <a:off x="461660" y="2986817"/>
                <a:ext cx="11329639" cy="1200842"/>
              </a:xfrm>
              <a:prstGeom prst="rect">
                <a:avLst/>
              </a:prstGeom>
              <a:noFill/>
            </p:spPr>
            <p:txBody>
              <a:bodyPr wrap="square" rtlCol="0">
                <a:spAutoFit/>
              </a:bodyPr>
              <a:lstStyle/>
              <a:p>
                <a:pPr/>
                <a14:m>
                  <m:oMathPara xmlns:m="http://schemas.openxmlformats.org/officeDocument/2006/math">
                    <m:oMathParaPr>
                      <m:jc m:val="centerGroup"/>
                    </m:oMathParaPr>
                    <m:oMath xmlns:m="http://schemas.openxmlformats.org/officeDocument/2006/math">
                      <m:nary>
                        <m:naryPr>
                          <m:limLoc m:val="undOvr"/>
                          <m:ctrlPr>
                            <a:rPr lang="en-US" sz="2400" i="1" smtClean="0">
                              <a:latin typeface="Cambria Math" panose="02040503050406030204" pitchFamily="18" charset="0"/>
                            </a:rPr>
                          </m:ctrlPr>
                        </m:naryPr>
                        <m:sub>
                          <m:r>
                            <m:rPr>
                              <m:brk m:alnAt="24"/>
                            </m:rPr>
                            <a:rPr lang="en-US" sz="2400" b="0" i="1" smtClean="0">
                              <a:latin typeface="Cambria Math" panose="02040503050406030204" pitchFamily="18" charset="0"/>
                            </a:rPr>
                            <m:t>0</m:t>
                          </m:r>
                        </m:sub>
                        <m:sup>
                          <m:r>
                            <a:rPr lang="en-US" sz="2400" b="0" i="1" smtClean="0">
                              <a:latin typeface="Cambria Math" panose="02040503050406030204" pitchFamily="18" charset="0"/>
                            </a:rPr>
                            <m:t>𝑡</m:t>
                          </m:r>
                        </m:sup>
                        <m:e>
                          <m:f>
                            <m:fPr>
                              <m:ctrlPr>
                                <a:rPr lang="en-US" sz="2400" i="1">
                                  <a:latin typeface="Cambria Math" panose="02040503050406030204" pitchFamily="18" charset="0"/>
                                </a:rPr>
                              </m:ctrlPr>
                            </m:fPr>
                            <m:num>
                              <m:sSup>
                                <m:sSupPr>
                                  <m:ctrlPr>
                                    <a:rPr lang="en-US" sz="2400" i="1">
                                      <a:latin typeface="Cambria Math" panose="02040503050406030204" pitchFamily="18" charset="0"/>
                                    </a:rPr>
                                  </m:ctrlPr>
                                </m:sSupPr>
                                <m:e>
                                  <m:sSup>
                                    <m:sSupPr>
                                      <m:ctrlPr>
                                        <a:rPr lang="en-US" sz="2400" i="1">
                                          <a:latin typeface="Cambria Math" panose="02040503050406030204" pitchFamily="18" charset="0"/>
                                        </a:rPr>
                                      </m:ctrlPr>
                                    </m:sSupPr>
                                    <m:e>
                                      <m:r>
                                        <a:rPr lang="en-US" sz="2400" i="1">
                                          <a:latin typeface="Cambria Math" panose="02040503050406030204" pitchFamily="18" charset="0"/>
                                          <a:ea typeface="Cambria Math" panose="02040503050406030204" pitchFamily="18" charset="0"/>
                                        </a:rPr>
                                        <m:t>𝛼</m:t>
                                      </m:r>
                                    </m:e>
                                    <m:sup>
                                      <m:r>
                                        <a:rPr lang="en-US" sz="2400" i="1">
                                          <a:latin typeface="Cambria Math" panose="02040503050406030204" pitchFamily="18" charset="0"/>
                                        </a:rPr>
                                        <m:t>𝑘</m:t>
                                      </m:r>
                                    </m:sup>
                                  </m:sSup>
                                  <m:r>
                                    <a:rPr lang="en-US" sz="2400" i="1">
                                      <a:latin typeface="Cambria Math" panose="02040503050406030204" pitchFamily="18" charset="0"/>
                                    </a:rPr>
                                    <m:t>(</m:t>
                                  </m:r>
                                  <m:r>
                                    <a:rPr lang="en-US" sz="2400" i="1">
                                      <a:latin typeface="Cambria Math" panose="02040503050406030204" pitchFamily="18" charset="0"/>
                                    </a:rPr>
                                    <m:t>𝑡</m:t>
                                  </m:r>
                                  <m:r>
                                    <a:rPr lang="en-US" sz="2400" i="1">
                                      <a:latin typeface="Cambria Math" panose="02040503050406030204" pitchFamily="18" charset="0"/>
                                    </a:rPr>
                                    <m:t>−</m:t>
                                  </m:r>
                                  <m:r>
                                    <a:rPr lang="en-US" sz="2400" i="1">
                                      <a:latin typeface="Cambria Math" panose="02040503050406030204" pitchFamily="18" charset="0"/>
                                      <a:ea typeface="Cambria Math" panose="02040503050406030204" pitchFamily="18" charset="0"/>
                                    </a:rPr>
                                    <m:t>𝜏</m:t>
                                  </m:r>
                                  <m:r>
                                    <a:rPr lang="en-US" sz="2400" i="1">
                                      <a:latin typeface="Cambria Math" panose="02040503050406030204" pitchFamily="18" charset="0"/>
                                      <a:ea typeface="Cambria Math" panose="02040503050406030204" pitchFamily="18" charset="0"/>
                                    </a:rPr>
                                    <m:t>)</m:t>
                                  </m:r>
                                </m:e>
                                <m:sup>
                                  <m:r>
                                    <a:rPr lang="en-US" sz="2400" i="1">
                                      <a:latin typeface="Cambria Math" panose="02040503050406030204" pitchFamily="18" charset="0"/>
                                    </a:rPr>
                                    <m:t>𝑘</m:t>
                                  </m:r>
                                  <m:r>
                                    <a:rPr lang="en-US" sz="2400" i="1">
                                      <a:latin typeface="Cambria Math" panose="02040503050406030204" pitchFamily="18" charset="0"/>
                                    </a:rPr>
                                    <m:t>−1</m:t>
                                  </m:r>
                                </m:sup>
                              </m:sSup>
                              <m:sSup>
                                <m:sSupPr>
                                  <m:ctrlPr>
                                    <a:rPr lang="en-US" sz="2400" i="1">
                                      <a:latin typeface="Cambria Math" panose="02040503050406030204" pitchFamily="18" charset="0"/>
                                    </a:rPr>
                                  </m:ctrlPr>
                                </m:sSupPr>
                                <m:e>
                                  <m:r>
                                    <a:rPr lang="en-US" sz="2400" i="1">
                                      <a:latin typeface="Cambria Math" panose="02040503050406030204" pitchFamily="18" charset="0"/>
                                    </a:rPr>
                                    <m:t>𝑒</m:t>
                                  </m:r>
                                </m:e>
                                <m:sup>
                                  <m:r>
                                    <a:rPr lang="en-US" sz="2400" i="1">
                                      <a:latin typeface="Cambria Math" panose="02040503050406030204" pitchFamily="18" charset="0"/>
                                    </a:rPr>
                                    <m:t>−(</m:t>
                                  </m:r>
                                  <m:r>
                                    <a:rPr lang="en-US" sz="2400" i="1">
                                      <a:latin typeface="Cambria Math" panose="02040503050406030204" pitchFamily="18" charset="0"/>
                                    </a:rPr>
                                    <m:t>𝑡</m:t>
                                  </m:r>
                                  <m:r>
                                    <a:rPr lang="en-US" sz="2400" i="1">
                                      <a:latin typeface="Cambria Math" panose="02040503050406030204" pitchFamily="18" charset="0"/>
                                    </a:rPr>
                                    <m:t>−</m:t>
                                  </m:r>
                                  <m:r>
                                    <a:rPr lang="en-US" sz="2400" i="1">
                                      <a:latin typeface="Cambria Math" panose="02040503050406030204" pitchFamily="18" charset="0"/>
                                      <a:ea typeface="Cambria Math" panose="02040503050406030204" pitchFamily="18" charset="0"/>
                                    </a:rPr>
                                    <m:t>𝜏</m:t>
                                  </m:r>
                                  <m:r>
                                    <a:rPr lang="en-US" sz="2400" i="1">
                                      <a:latin typeface="Cambria Math" panose="02040503050406030204" pitchFamily="18" charset="0"/>
                                      <a:ea typeface="Cambria Math" panose="02040503050406030204" pitchFamily="18" charset="0"/>
                                    </a:rPr>
                                    <m:t>)</m:t>
                                  </m:r>
                                  <m:r>
                                    <a:rPr lang="en-US" sz="2400" i="1">
                                      <a:latin typeface="Cambria Math" panose="02040503050406030204" pitchFamily="18" charset="0"/>
                                      <a:ea typeface="Cambria Math" panose="02040503050406030204" pitchFamily="18" charset="0"/>
                                    </a:rPr>
                                    <m:t>𝛼</m:t>
                                  </m:r>
                                </m:sup>
                              </m:sSup>
                            </m:num>
                            <m:den>
                              <m:d>
                                <m:dPr>
                                  <m:ctrlPr>
                                    <a:rPr lang="en-US" sz="2400" i="1">
                                      <a:latin typeface="Cambria Math" panose="02040503050406030204" pitchFamily="18" charset="0"/>
                                    </a:rPr>
                                  </m:ctrlPr>
                                </m:dPr>
                                <m:e>
                                  <m:r>
                                    <a:rPr lang="en-US" sz="2400" i="1">
                                      <a:latin typeface="Cambria Math" panose="02040503050406030204" pitchFamily="18" charset="0"/>
                                    </a:rPr>
                                    <m:t>𝑘</m:t>
                                  </m:r>
                                  <m:r>
                                    <a:rPr lang="en-US" sz="2400" i="1">
                                      <a:latin typeface="Cambria Math" panose="02040503050406030204" pitchFamily="18" charset="0"/>
                                    </a:rPr>
                                    <m:t>−1</m:t>
                                  </m:r>
                                </m:e>
                              </m:d>
                              <m:r>
                                <a:rPr lang="en-US" sz="2400" i="1">
                                  <a:latin typeface="Cambria Math" panose="02040503050406030204" pitchFamily="18" charset="0"/>
                                </a:rPr>
                                <m:t>!</m:t>
                              </m:r>
                            </m:den>
                          </m:f>
                          <m:r>
                            <a:rPr lang="en-US" sz="2400" b="0" i="1" smtClean="0">
                              <a:latin typeface="Cambria Math" panose="02040503050406030204" pitchFamily="18" charset="0"/>
                            </a:rPr>
                            <m:t>∗</m:t>
                          </m:r>
                          <m:r>
                            <a:rPr lang="en-US" sz="2400" i="1">
                              <a:latin typeface="Cambria Math" panose="02040503050406030204" pitchFamily="18" charset="0"/>
                              <a:ea typeface="Cambria Math" panose="02040503050406030204" pitchFamily="18" charset="0"/>
                            </a:rPr>
                            <m:t>𝛽</m:t>
                          </m:r>
                          <m:sSup>
                            <m:sSupPr>
                              <m:ctrlPr>
                                <a:rPr lang="el-GR" sz="2400" i="1">
                                  <a:latin typeface="Cambria Math" panose="02040503050406030204" pitchFamily="18" charset="0"/>
                                  <a:ea typeface="Cambria Math" panose="02040503050406030204" pitchFamily="18" charset="0"/>
                                </a:rPr>
                              </m:ctrlPr>
                            </m:sSupPr>
                            <m:e>
                              <m:r>
                                <a:rPr lang="en-US" sz="2400" i="1">
                                  <a:latin typeface="Cambria Math" panose="02040503050406030204" pitchFamily="18" charset="0"/>
                                  <a:ea typeface="Cambria Math" panose="02040503050406030204" pitchFamily="18" charset="0"/>
                                </a:rPr>
                                <m:t>𝑒</m:t>
                              </m:r>
                            </m:e>
                            <m:sup>
                              <m:r>
                                <a:rPr lang="en-US" sz="2400" i="1">
                                  <a:latin typeface="Cambria Math" panose="02040503050406030204" pitchFamily="18" charset="0"/>
                                  <a:ea typeface="Cambria Math" panose="02040503050406030204" pitchFamily="18" charset="0"/>
                                </a:rPr>
                                <m:t>−</m:t>
                              </m:r>
                              <m:r>
                                <a:rPr lang="en-US" sz="2400" i="1">
                                  <a:latin typeface="Cambria Math" panose="02040503050406030204" pitchFamily="18" charset="0"/>
                                  <a:ea typeface="Cambria Math" panose="02040503050406030204" pitchFamily="18" charset="0"/>
                                </a:rPr>
                                <m:t>𝛽</m:t>
                              </m:r>
                              <m:r>
                                <a:rPr lang="en-US" sz="2400" i="1">
                                  <a:latin typeface="Cambria Math" panose="02040503050406030204" pitchFamily="18" charset="0"/>
                                  <a:ea typeface="Cambria Math" panose="02040503050406030204" pitchFamily="18" charset="0"/>
                                </a:rPr>
                                <m:t>(</m:t>
                              </m:r>
                              <m:r>
                                <a:rPr lang="en-US" sz="2400" i="1">
                                  <a:latin typeface="Cambria Math" panose="02040503050406030204" pitchFamily="18" charset="0"/>
                                  <a:ea typeface="Cambria Math" panose="02040503050406030204" pitchFamily="18" charset="0"/>
                                </a:rPr>
                                <m:t>𝑡</m:t>
                              </m:r>
                              <m:r>
                                <a:rPr lang="en-US" sz="2400" i="1">
                                  <a:latin typeface="Cambria Math" panose="02040503050406030204" pitchFamily="18" charset="0"/>
                                  <a:ea typeface="Cambria Math" panose="02040503050406030204" pitchFamily="18" charset="0"/>
                                </a:rPr>
                                <m:t>−</m:t>
                              </m:r>
                              <m:r>
                                <a:rPr lang="en-US" sz="2400" i="1">
                                  <a:latin typeface="Cambria Math" panose="02040503050406030204" pitchFamily="18" charset="0"/>
                                  <a:ea typeface="Cambria Math" panose="02040503050406030204" pitchFamily="18" charset="0"/>
                                </a:rPr>
                                <m:t>𝜏</m:t>
                              </m:r>
                              <m:r>
                                <a:rPr lang="en-US" sz="2400" i="1">
                                  <a:latin typeface="Cambria Math" panose="02040503050406030204" pitchFamily="18" charset="0"/>
                                  <a:ea typeface="Cambria Math" panose="02040503050406030204" pitchFamily="18" charset="0"/>
                                </a:rPr>
                                <m:t>)</m:t>
                              </m:r>
                            </m:sup>
                          </m:sSup>
                        </m:e>
                      </m:nary>
                      <m:r>
                        <a:rPr lang="en-US" sz="2400" b="0" i="1" smtClean="0">
                          <a:latin typeface="Cambria Math" panose="02040503050406030204" pitchFamily="18" charset="0"/>
                        </a:rPr>
                        <m:t>=</m:t>
                      </m:r>
                      <m:f>
                        <m:fPr>
                          <m:ctrlPr>
                            <a:rPr lang="en-US" sz="2400" b="0" i="1" smtClean="0">
                              <a:latin typeface="Cambria Math" panose="02040503050406030204" pitchFamily="18" charset="0"/>
                            </a:rPr>
                          </m:ctrlPr>
                        </m:fPr>
                        <m:num>
                          <m:sSup>
                            <m:sSupPr>
                              <m:ctrlPr>
                                <a:rPr lang="en-US" sz="2400" i="1">
                                  <a:latin typeface="Cambria Math" panose="02040503050406030204" pitchFamily="18" charset="0"/>
                                </a:rPr>
                              </m:ctrlPr>
                            </m:sSupPr>
                            <m:e>
                              <m:r>
                                <a:rPr lang="en-US" sz="2400" i="1">
                                  <a:latin typeface="Cambria Math" panose="02040503050406030204" pitchFamily="18" charset="0"/>
                                  <a:ea typeface="Cambria Math" panose="02040503050406030204" pitchFamily="18" charset="0"/>
                                </a:rPr>
                                <m:t>𝛼</m:t>
                              </m:r>
                            </m:e>
                            <m:sup>
                              <m:r>
                                <a:rPr lang="en-US" sz="2400" i="1">
                                  <a:latin typeface="Cambria Math" panose="02040503050406030204" pitchFamily="18" charset="0"/>
                                </a:rPr>
                                <m:t>𝑘</m:t>
                              </m:r>
                            </m:sup>
                          </m:sSup>
                          <m:r>
                            <a:rPr lang="en-US" sz="2400" i="1">
                              <a:latin typeface="Cambria Math" panose="02040503050406030204" pitchFamily="18" charset="0"/>
                              <a:ea typeface="Cambria Math" panose="02040503050406030204" pitchFamily="18" charset="0"/>
                            </a:rPr>
                            <m:t>𝛽</m:t>
                          </m:r>
                        </m:num>
                        <m:den>
                          <m:d>
                            <m:dPr>
                              <m:ctrlPr>
                                <a:rPr lang="en-US" sz="2400" i="1">
                                  <a:latin typeface="Cambria Math" panose="02040503050406030204" pitchFamily="18" charset="0"/>
                                </a:rPr>
                              </m:ctrlPr>
                            </m:dPr>
                            <m:e>
                              <m:r>
                                <a:rPr lang="en-US" sz="2400" i="1">
                                  <a:latin typeface="Cambria Math" panose="02040503050406030204" pitchFamily="18" charset="0"/>
                                </a:rPr>
                                <m:t>𝑘</m:t>
                              </m:r>
                              <m:r>
                                <a:rPr lang="en-US" sz="2400" i="1">
                                  <a:latin typeface="Cambria Math" panose="02040503050406030204" pitchFamily="18" charset="0"/>
                                </a:rPr>
                                <m:t>−1</m:t>
                              </m:r>
                            </m:e>
                          </m:d>
                          <m:r>
                            <a:rPr lang="en-US" sz="2400" i="1">
                              <a:latin typeface="Cambria Math" panose="02040503050406030204" pitchFamily="18" charset="0"/>
                            </a:rPr>
                            <m:t>!</m:t>
                          </m:r>
                        </m:den>
                      </m:f>
                      <m:sSup>
                        <m:sSupPr>
                          <m:ctrlPr>
                            <a:rPr lang="en-US" sz="2400" i="1">
                              <a:latin typeface="Cambria Math" panose="02040503050406030204" pitchFamily="18" charset="0"/>
                            </a:rPr>
                          </m:ctrlPr>
                        </m:sSupPr>
                        <m:e>
                          <m:r>
                            <a:rPr lang="en-US" sz="2400" i="1">
                              <a:latin typeface="Cambria Math" panose="02040503050406030204" pitchFamily="18" charset="0"/>
                            </a:rPr>
                            <m:t>𝑒</m:t>
                          </m:r>
                        </m:e>
                        <m:sup>
                          <m:r>
                            <a:rPr lang="en-US" sz="2400" i="1">
                              <a:latin typeface="Cambria Math" panose="02040503050406030204" pitchFamily="18" charset="0"/>
                            </a:rPr>
                            <m:t>−</m:t>
                          </m:r>
                          <m:r>
                            <a:rPr lang="en-US" sz="2400" i="1">
                              <a:latin typeface="Cambria Math" panose="02040503050406030204" pitchFamily="18" charset="0"/>
                            </a:rPr>
                            <m:t>𝑡</m:t>
                          </m:r>
                          <m:r>
                            <a:rPr lang="en-US" sz="2400" i="1">
                              <a:latin typeface="Cambria Math" panose="02040503050406030204" pitchFamily="18" charset="0"/>
                              <a:ea typeface="Cambria Math" panose="02040503050406030204" pitchFamily="18" charset="0"/>
                            </a:rPr>
                            <m:t>𝛼</m:t>
                          </m:r>
                        </m:sup>
                      </m:sSup>
                      <m:nary>
                        <m:naryPr>
                          <m:ctrlPr>
                            <a:rPr lang="en-US" sz="2400" b="0" i="1" smtClean="0">
                              <a:latin typeface="Cambria Math" panose="02040503050406030204" pitchFamily="18" charset="0"/>
                            </a:rPr>
                          </m:ctrlPr>
                        </m:naryPr>
                        <m:sub>
                          <m:r>
                            <m:rPr>
                              <m:brk m:alnAt="23"/>
                            </m:rPr>
                            <a:rPr lang="en-US" sz="2400" b="0" i="1" smtClean="0">
                              <a:latin typeface="Cambria Math" panose="02040503050406030204" pitchFamily="18" charset="0"/>
                            </a:rPr>
                            <m:t>0</m:t>
                          </m:r>
                        </m:sub>
                        <m:sup>
                          <m:r>
                            <a:rPr lang="en-US" sz="2400" b="0" i="1" smtClean="0">
                              <a:latin typeface="Cambria Math" panose="02040503050406030204" pitchFamily="18" charset="0"/>
                            </a:rPr>
                            <m:t>𝑡</m:t>
                          </m:r>
                        </m:sup>
                        <m:e>
                          <m:sSup>
                            <m:sSupPr>
                              <m:ctrlPr>
                                <a:rPr lang="en-US" sz="2400" b="0" i="1" smtClean="0">
                                  <a:latin typeface="Cambria Math" panose="02040503050406030204" pitchFamily="18" charset="0"/>
                                </a:rPr>
                              </m:ctrlPr>
                            </m:sSupPr>
                            <m:e>
                              <m:r>
                                <a:rPr lang="en-US" sz="2400" b="0" i="1" smtClean="0">
                                  <a:latin typeface="Cambria Math" panose="02040503050406030204" pitchFamily="18" charset="0"/>
                                </a:rPr>
                                <m:t>(</m:t>
                              </m:r>
                              <m:r>
                                <a:rPr lang="en-US" sz="2400" b="0" i="1" smtClean="0">
                                  <a:latin typeface="Cambria Math" panose="02040503050406030204" pitchFamily="18" charset="0"/>
                                </a:rPr>
                                <m:t>𝑡</m:t>
                              </m:r>
                              <m:r>
                                <a:rPr lang="en-US" sz="2400" b="0" i="1" smtClean="0">
                                  <a:latin typeface="Cambria Math" panose="02040503050406030204" pitchFamily="18" charset="0"/>
                                </a:rPr>
                                <m:t>−</m:t>
                              </m:r>
                              <m:r>
                                <a:rPr lang="en-US" sz="2400" b="0" i="1" smtClean="0">
                                  <a:latin typeface="Cambria Math" panose="02040503050406030204" pitchFamily="18" charset="0"/>
                                  <a:ea typeface="Cambria Math" panose="02040503050406030204" pitchFamily="18" charset="0"/>
                                </a:rPr>
                                <m:t>𝜏</m:t>
                              </m:r>
                              <m:r>
                                <a:rPr lang="en-US" sz="2400" b="0" i="1" smtClean="0">
                                  <a:latin typeface="Cambria Math" panose="02040503050406030204" pitchFamily="18" charset="0"/>
                                  <a:ea typeface="Cambria Math" panose="02040503050406030204" pitchFamily="18" charset="0"/>
                                </a:rPr>
                                <m:t>)</m:t>
                              </m:r>
                            </m:e>
                            <m:sup>
                              <m:r>
                                <a:rPr lang="en-US" sz="2400" b="0" i="1" smtClean="0">
                                  <a:latin typeface="Cambria Math" panose="02040503050406030204" pitchFamily="18" charset="0"/>
                                </a:rPr>
                                <m:t>𝑘</m:t>
                              </m:r>
                              <m:r>
                                <a:rPr lang="en-US" sz="2400" b="0" i="1" smtClean="0">
                                  <a:latin typeface="Cambria Math" panose="02040503050406030204" pitchFamily="18" charset="0"/>
                                </a:rPr>
                                <m:t>−1</m:t>
                              </m:r>
                            </m:sup>
                          </m:sSup>
                          <m:sSup>
                            <m:sSupPr>
                              <m:ctrlPr>
                                <a:rPr lang="el-GR" sz="2400" i="1">
                                  <a:latin typeface="Cambria Math" panose="02040503050406030204" pitchFamily="18" charset="0"/>
                                  <a:ea typeface="Cambria Math" panose="02040503050406030204" pitchFamily="18" charset="0"/>
                                </a:rPr>
                              </m:ctrlPr>
                            </m:sSupPr>
                            <m:e>
                              <m:sSup>
                                <m:sSupPr>
                                  <m:ctrlPr>
                                    <a:rPr lang="el-GR" sz="2400" i="1" smtClean="0">
                                      <a:latin typeface="Cambria Math" panose="02040503050406030204" pitchFamily="18" charset="0"/>
                                      <a:ea typeface="Cambria Math" panose="02040503050406030204" pitchFamily="18" charset="0"/>
                                    </a:rPr>
                                  </m:ctrlPr>
                                </m:sSupPr>
                                <m:e>
                                  <m:r>
                                    <a:rPr lang="en-US" sz="2400" b="0" i="1" smtClean="0">
                                      <a:latin typeface="Cambria Math" panose="02040503050406030204" pitchFamily="18" charset="0"/>
                                      <a:ea typeface="Cambria Math" panose="02040503050406030204" pitchFamily="18" charset="0"/>
                                    </a:rPr>
                                    <m:t>𝑒</m:t>
                                  </m:r>
                                </m:e>
                                <m:sup>
                                  <m:r>
                                    <a:rPr lang="el-GR" sz="2400" i="1" smtClean="0">
                                      <a:latin typeface="Cambria Math" panose="02040503050406030204" pitchFamily="18" charset="0"/>
                                      <a:ea typeface="Cambria Math" panose="02040503050406030204" pitchFamily="18" charset="0"/>
                                    </a:rPr>
                                    <m:t>𝛼𝜏</m:t>
                                  </m:r>
                                </m:sup>
                              </m:sSup>
                              <m:r>
                                <a:rPr lang="en-US" sz="2400" i="1">
                                  <a:latin typeface="Cambria Math" panose="02040503050406030204" pitchFamily="18" charset="0"/>
                                  <a:ea typeface="Cambria Math" panose="02040503050406030204" pitchFamily="18" charset="0"/>
                                </a:rPr>
                                <m:t>𝑒</m:t>
                              </m:r>
                            </m:e>
                            <m:sup>
                              <m:r>
                                <a:rPr lang="en-US" sz="2400" i="1">
                                  <a:latin typeface="Cambria Math" panose="02040503050406030204" pitchFamily="18" charset="0"/>
                                  <a:ea typeface="Cambria Math" panose="02040503050406030204" pitchFamily="18" charset="0"/>
                                </a:rPr>
                                <m:t>−</m:t>
                              </m:r>
                              <m:r>
                                <a:rPr lang="en-US" sz="2400" i="1">
                                  <a:latin typeface="Cambria Math" panose="02040503050406030204" pitchFamily="18" charset="0"/>
                                  <a:ea typeface="Cambria Math" panose="02040503050406030204" pitchFamily="18" charset="0"/>
                                </a:rPr>
                                <m:t>𝛽𝜏</m:t>
                              </m:r>
                            </m:sup>
                          </m:sSup>
                        </m:e>
                      </m:nary>
                    </m:oMath>
                  </m:oMathPara>
                </a14:m>
                <a:endParaRPr lang="en-US" sz="2400" dirty="0"/>
              </a:p>
            </p:txBody>
          </p:sp>
        </mc:Choice>
        <mc:Fallback xmlns="">
          <p:sp>
            <p:nvSpPr>
              <p:cNvPr id="9" name="TextBox 8">
                <a:extLst>
                  <a:ext uri="{FF2B5EF4-FFF2-40B4-BE49-F238E27FC236}">
                    <a16:creationId xmlns:a16="http://schemas.microsoft.com/office/drawing/2014/main" id="{B3DF74C0-8253-45C0-AF8C-C3EB340A4D43}"/>
                  </a:ext>
                </a:extLst>
              </p:cNvPr>
              <p:cNvSpPr txBox="1">
                <a:spLocks noRot="1" noChangeAspect="1" noMove="1" noResize="1" noEditPoints="1" noAdjustHandles="1" noChangeArrowheads="1" noChangeShapeType="1" noTextEdit="1"/>
              </p:cNvSpPr>
              <p:nvPr/>
            </p:nvSpPr>
            <p:spPr>
              <a:xfrm>
                <a:off x="461660" y="2986817"/>
                <a:ext cx="11329639" cy="1200842"/>
              </a:xfrm>
              <a:prstGeom prst="rect">
                <a:avLst/>
              </a:prstGeom>
              <a:blipFill>
                <a:blip r:embed="rId6"/>
                <a:stretch>
                  <a:fillRect/>
                </a:stretch>
              </a:blipFill>
            </p:spPr>
            <p:txBody>
              <a:bodyPr/>
              <a:lstStyle/>
              <a:p>
                <a:r>
                  <a:rPr lang="en-US">
                    <a:noFill/>
                  </a:rPr>
                  <a:t> </a:t>
                </a:r>
              </a:p>
            </p:txBody>
          </p:sp>
        </mc:Fallback>
      </mc:AlternateContent>
      <p:sp>
        <p:nvSpPr>
          <p:cNvPr id="10" name="TextBox 9">
            <a:extLst>
              <a:ext uri="{FF2B5EF4-FFF2-40B4-BE49-F238E27FC236}">
                <a16:creationId xmlns:a16="http://schemas.microsoft.com/office/drawing/2014/main" id="{E675C530-7EB5-48C6-A6CB-45FBB668FA75}"/>
              </a:ext>
            </a:extLst>
          </p:cNvPr>
          <p:cNvSpPr txBox="1"/>
          <p:nvPr/>
        </p:nvSpPr>
        <p:spPr>
          <a:xfrm>
            <a:off x="189571" y="6447755"/>
            <a:ext cx="3579542" cy="369332"/>
          </a:xfrm>
          <a:prstGeom prst="rect">
            <a:avLst/>
          </a:prstGeom>
          <a:noFill/>
        </p:spPr>
        <p:txBody>
          <a:bodyPr wrap="square" rtlCol="0">
            <a:spAutoFit/>
          </a:bodyPr>
          <a:lstStyle/>
          <a:p>
            <a:r>
              <a:rPr lang="en-US" dirty="0">
                <a:solidFill>
                  <a:schemeClr val="bg1"/>
                </a:solidFill>
              </a:rPr>
              <a:t>Mohammad Mahdi Manafi</a:t>
            </a:r>
          </a:p>
        </p:txBody>
      </p:sp>
    </p:spTree>
    <p:extLst>
      <p:ext uri="{BB962C8B-B14F-4D97-AF65-F5344CB8AC3E}">
        <p14:creationId xmlns:p14="http://schemas.microsoft.com/office/powerpoint/2010/main" val="803124169"/>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C86D13B-2987-4E3D-8F3E-A8861DC40D12}"/>
              </a:ext>
            </a:extLst>
          </p:cNvPr>
          <p:cNvSpPr>
            <a:spLocks noGrp="1"/>
          </p:cNvSpPr>
          <p:nvPr>
            <p:ph type="title"/>
          </p:nvPr>
        </p:nvSpPr>
        <p:spPr/>
        <p:txBody>
          <a:bodyPr/>
          <a:lstStyle/>
          <a:p>
            <a:r>
              <a:rPr lang="en-US" dirty="0"/>
              <a:t>Edge subsystem analysis</a:t>
            </a:r>
          </a:p>
        </p:txBody>
      </p:sp>
      <mc:AlternateContent xmlns:mc="http://schemas.openxmlformats.org/markup-compatibility/2006" xmlns:a14="http://schemas.microsoft.com/office/drawing/2010/main">
        <mc:Choice Requires="a14">
          <p:sp>
            <p:nvSpPr>
              <p:cNvPr id="3" name="Content Placeholder 2">
                <a:extLst>
                  <a:ext uri="{FF2B5EF4-FFF2-40B4-BE49-F238E27FC236}">
                    <a16:creationId xmlns:a16="http://schemas.microsoft.com/office/drawing/2014/main" id="{26FBB883-4A30-4B6F-A802-31AAAD154FE6}"/>
                  </a:ext>
                </a:extLst>
              </p:cNvPr>
              <p:cNvSpPr>
                <a:spLocks noGrp="1"/>
              </p:cNvSpPr>
              <p:nvPr>
                <p:ph idx="1"/>
              </p:nvPr>
            </p:nvSpPr>
            <p:spPr>
              <a:xfrm>
                <a:off x="1097280" y="1845734"/>
                <a:ext cx="6106408" cy="4023360"/>
              </a:xfrm>
            </p:spPr>
            <p:txBody>
              <a:bodyPr/>
              <a:lstStyle/>
              <a:p>
                <a:pPr>
                  <a:buFont typeface="Wingdings" panose="05000000000000000000" pitchFamily="2" charset="2"/>
                  <a:buChar char="q"/>
                </a:pPr>
                <a:r>
                  <a:rPr lang="en-US" dirty="0"/>
                  <a:t>E is a RV that shows time deadline of tasks in H-position</a:t>
                </a:r>
              </a:p>
              <a:p>
                <a:pPr lvl="1">
                  <a:buFont typeface="Wingdings" panose="05000000000000000000" pitchFamily="2" charset="2"/>
                  <a:buChar char="q"/>
                </a:pPr>
                <a:r>
                  <a:rPr lang="en-US" dirty="0"/>
                  <a:t>Exponentially distributed</a:t>
                </a:r>
              </a:p>
              <a:p>
                <a:pPr lvl="1">
                  <a:buFont typeface="Wingdings" panose="05000000000000000000" pitchFamily="2" charset="2"/>
                  <a:buChar char="q"/>
                </a:pPr>
                <a:r>
                  <a:rPr lang="en-US" dirty="0"/>
                  <a:t>Mean </a:t>
                </a:r>
                <a14:m>
                  <m:oMath xmlns:m="http://schemas.openxmlformats.org/officeDocument/2006/math">
                    <m:f>
                      <m:fPr>
                        <m:ctrlPr>
                          <a:rPr lang="en-US" sz="2000" i="1" smtClean="0">
                            <a:latin typeface="Cambria Math" panose="02040503050406030204" pitchFamily="18" charset="0"/>
                          </a:rPr>
                        </m:ctrlPr>
                      </m:fPr>
                      <m:num>
                        <m:r>
                          <a:rPr lang="en-US" sz="2000" b="0" i="1" smtClean="0">
                            <a:latin typeface="Cambria Math" panose="02040503050406030204" pitchFamily="18" charset="0"/>
                          </a:rPr>
                          <m:t>1</m:t>
                        </m:r>
                      </m:num>
                      <m:den>
                        <m:sSub>
                          <m:sSubPr>
                            <m:ctrlPr>
                              <a:rPr lang="en-US" sz="2000" i="1" smtClean="0">
                                <a:latin typeface="Cambria Math" panose="02040503050406030204" pitchFamily="18" charset="0"/>
                              </a:rPr>
                            </m:ctrlPr>
                          </m:sSubPr>
                          <m:e>
                            <m:r>
                              <a:rPr lang="en-US" sz="2000" i="1" smtClean="0">
                                <a:latin typeface="Cambria Math" panose="02040503050406030204" pitchFamily="18" charset="0"/>
                                <a:ea typeface="Cambria Math" panose="02040503050406030204" pitchFamily="18" charset="0"/>
                              </a:rPr>
                              <m:t>𝜇</m:t>
                            </m:r>
                          </m:e>
                          <m:sub>
                            <m:r>
                              <a:rPr lang="en-US" sz="2000" b="0" i="1" smtClean="0">
                                <a:latin typeface="Cambria Math" panose="02040503050406030204" pitchFamily="18" charset="0"/>
                              </a:rPr>
                              <m:t>𝐷</m:t>
                            </m:r>
                          </m:sub>
                        </m:sSub>
                      </m:den>
                    </m:f>
                  </m:oMath>
                </a14:m>
                <a:r>
                  <a:rPr lang="en-US" dirty="0"/>
                  <a:t> so </a:t>
                </a:r>
                <a14:m>
                  <m:oMath xmlns:m="http://schemas.openxmlformats.org/officeDocument/2006/math">
                    <m:sSub>
                      <m:sSubPr>
                        <m:ctrlPr>
                          <a:rPr lang="en-US" i="1">
                            <a:latin typeface="Cambria Math" panose="02040503050406030204" pitchFamily="18" charset="0"/>
                          </a:rPr>
                        </m:ctrlPr>
                      </m:sSubPr>
                      <m:e>
                        <m:r>
                          <a:rPr lang="en-US" i="1">
                            <a:latin typeface="Cambria Math" panose="02040503050406030204" pitchFamily="18" charset="0"/>
                            <a:ea typeface="Cambria Math" panose="02040503050406030204" pitchFamily="18" charset="0"/>
                          </a:rPr>
                          <m:t>𝜇</m:t>
                        </m:r>
                      </m:e>
                      <m:sub>
                        <m:r>
                          <a:rPr lang="en-US" i="1">
                            <a:latin typeface="Cambria Math" panose="02040503050406030204" pitchFamily="18" charset="0"/>
                          </a:rPr>
                          <m:t>𝐷</m:t>
                        </m:r>
                      </m:sub>
                    </m:sSub>
                  </m:oMath>
                </a14:m>
                <a:r>
                  <a:rPr lang="en-US" dirty="0"/>
                  <a:t> is rate</a:t>
                </a:r>
              </a:p>
              <a:p>
                <a:pPr lvl="1">
                  <a:buFont typeface="Wingdings" panose="05000000000000000000" pitchFamily="2" charset="2"/>
                  <a:buChar char="q"/>
                </a:pPr>
                <a14:m>
                  <m:oMath xmlns:m="http://schemas.openxmlformats.org/officeDocument/2006/math">
                    <m:r>
                      <a:rPr lang="en-US" b="0" i="1" smtClean="0">
                        <a:latin typeface="Cambria Math" panose="02040503050406030204" pitchFamily="18" charset="0"/>
                      </a:rPr>
                      <m:t>𝐸</m:t>
                    </m:r>
                    <m:r>
                      <a:rPr lang="en-US" b="0" i="1" smtClean="0">
                        <a:latin typeface="Cambria Math" panose="02040503050406030204" pitchFamily="18" charset="0"/>
                      </a:rPr>
                      <m:t>=</m:t>
                    </m:r>
                    <m:r>
                      <a:rPr lang="en-US" b="0" i="1" smtClean="0">
                        <a:latin typeface="Cambria Math" panose="02040503050406030204" pitchFamily="18" charset="0"/>
                        <a:ea typeface="Cambria Math" panose="02040503050406030204" pitchFamily="18" charset="0"/>
                      </a:rPr>
                      <m:t>𝜏</m:t>
                    </m:r>
                    <m:r>
                      <a:rPr lang="en-US" b="0" i="1" smtClean="0">
                        <a:latin typeface="Cambria Math" panose="02040503050406030204" pitchFamily="18" charset="0"/>
                        <a:ea typeface="Cambria Math" panose="02040503050406030204" pitchFamily="18" charset="0"/>
                      </a:rPr>
                      <m:t>,</m:t>
                    </m:r>
                  </m:oMath>
                </a14:m>
                <a:r>
                  <a:rPr lang="en-US" dirty="0"/>
                  <a:t> tat is not fixed value also it is time</a:t>
                </a:r>
              </a:p>
              <a:p>
                <a:pPr>
                  <a:buFont typeface="Wingdings" panose="05000000000000000000" pitchFamily="2" charset="2"/>
                  <a:buChar char="q"/>
                </a:pPr>
                <a14:m>
                  <m:oMath xmlns:m="http://schemas.openxmlformats.org/officeDocument/2006/math">
                    <m:sSub>
                      <m:sSubPr>
                        <m:ctrlPr>
                          <a:rPr lang="en-US" i="1" smtClean="0">
                            <a:latin typeface="Cambria Math" panose="02040503050406030204" pitchFamily="18" charset="0"/>
                          </a:rPr>
                        </m:ctrlPr>
                      </m:sSubPr>
                      <m:e>
                        <m:r>
                          <a:rPr lang="en-US" b="0" i="1" smtClean="0">
                            <a:latin typeface="Cambria Math" panose="02040503050406030204" pitchFamily="18" charset="0"/>
                          </a:rPr>
                          <m:t>𝑃</m:t>
                        </m:r>
                      </m:e>
                      <m:sub>
                        <m:r>
                          <a:rPr lang="en-US" b="0" i="1" smtClean="0">
                            <a:latin typeface="Cambria Math" panose="02040503050406030204" pitchFamily="18" charset="0"/>
                          </a:rPr>
                          <m:t>𝐸𝑂𝑈𝑇</m:t>
                        </m:r>
                      </m:sub>
                    </m:sSub>
                    <m:r>
                      <a:rPr lang="en-US" b="0" i="1" smtClean="0">
                        <a:latin typeface="Cambria Math" panose="02040503050406030204" pitchFamily="18" charset="0"/>
                      </a:rPr>
                      <m:t>=</m:t>
                    </m:r>
                    <m:sSub>
                      <m:sSubPr>
                        <m:ctrlPr>
                          <a:rPr lang="en-US" b="0" i="1" smtClean="0">
                            <a:latin typeface="Cambria Math" panose="02040503050406030204" pitchFamily="18" charset="0"/>
                          </a:rPr>
                        </m:ctrlPr>
                      </m:sSubPr>
                      <m:e>
                        <m:r>
                          <a:rPr lang="en-US" b="0" i="1" smtClean="0">
                            <a:latin typeface="Cambria Math" panose="02040503050406030204" pitchFamily="18" charset="0"/>
                          </a:rPr>
                          <m:t>𝑃</m:t>
                        </m:r>
                      </m:e>
                      <m:sub>
                        <m:r>
                          <a:rPr lang="en-US" b="0" i="1" smtClean="0">
                            <a:latin typeface="Cambria Math" panose="02040503050406030204" pitchFamily="18" charset="0"/>
                          </a:rPr>
                          <m:t>𝐸𝑂𝑈𝑇</m:t>
                        </m:r>
                      </m:sub>
                    </m:sSub>
                    <m:d>
                      <m:dPr>
                        <m:ctrlPr>
                          <a:rPr lang="en-US" b="0" i="1" smtClean="0">
                            <a:latin typeface="Cambria Math" panose="02040503050406030204" pitchFamily="18" charset="0"/>
                          </a:rPr>
                        </m:ctrlPr>
                      </m:dPr>
                      <m:e>
                        <m:r>
                          <a:rPr lang="en-US" b="0" i="1" smtClean="0">
                            <a:latin typeface="Cambria Math" panose="02040503050406030204" pitchFamily="18" charset="0"/>
                          </a:rPr>
                          <m:t>𝐾</m:t>
                        </m:r>
                        <m:r>
                          <a:rPr lang="en-US" b="0" i="1" smtClean="0">
                            <a:latin typeface="Cambria Math" panose="02040503050406030204" pitchFamily="18" charset="0"/>
                          </a:rPr>
                          <m:t>,</m:t>
                        </m:r>
                        <m:r>
                          <a:rPr lang="en-US" b="0" i="1" smtClean="0">
                            <a:latin typeface="Cambria Math" panose="02040503050406030204" pitchFamily="18" charset="0"/>
                          </a:rPr>
                          <m:t>𝐻</m:t>
                        </m:r>
                      </m:e>
                    </m:d>
                  </m:oMath>
                </a14:m>
                <a:endParaRPr lang="en-US" b="0" dirty="0"/>
              </a:p>
              <a:p>
                <a:pPr>
                  <a:buFont typeface="Wingdings" panose="05000000000000000000" pitchFamily="2" charset="2"/>
                  <a:buChar char="q"/>
                </a:pPr>
                <a14:m>
                  <m:oMath xmlns:m="http://schemas.openxmlformats.org/officeDocument/2006/math">
                    <m:r>
                      <a:rPr lang="en-US" b="0" i="1" smtClean="0">
                        <a:latin typeface="Cambria Math" panose="02040503050406030204" pitchFamily="18" charset="0"/>
                      </a:rPr>
                      <m:t>𝑃</m:t>
                    </m:r>
                    <m:d>
                      <m:dPr>
                        <m:begChr m:val="{"/>
                        <m:endChr m:val="}"/>
                        <m:ctrlPr>
                          <a:rPr lang="en-US" b="0" i="1" smtClean="0">
                            <a:latin typeface="Cambria Math" panose="02040503050406030204" pitchFamily="18" charset="0"/>
                          </a:rPr>
                        </m:ctrlPr>
                      </m:dPr>
                      <m:e>
                        <m:r>
                          <a:rPr lang="en-US" b="0" i="1" smtClean="0">
                            <a:latin typeface="Cambria Math" panose="02040503050406030204" pitchFamily="18" charset="0"/>
                          </a:rPr>
                          <m:t>𝑇</m:t>
                        </m:r>
                        <m:r>
                          <a:rPr lang="en-US" b="0" i="1" smtClean="0">
                            <a:latin typeface="Cambria Math" panose="02040503050406030204" pitchFamily="18" charset="0"/>
                          </a:rPr>
                          <m:t>&gt;</m:t>
                        </m:r>
                        <m:r>
                          <a:rPr lang="en-US" b="0" i="1" smtClean="0">
                            <a:latin typeface="Cambria Math" panose="02040503050406030204" pitchFamily="18" charset="0"/>
                          </a:rPr>
                          <m:t>𝐸</m:t>
                        </m:r>
                      </m:e>
                    </m:d>
                  </m:oMath>
                </a14:m>
                <a:endParaRPr lang="en-US" b="0" dirty="0"/>
              </a:p>
              <a:p>
                <a:pPr lvl="1">
                  <a:buFont typeface="Wingdings" panose="05000000000000000000" pitchFamily="2" charset="2"/>
                  <a:buChar char="q"/>
                </a:pPr>
                <a:r>
                  <a:rPr lang="en-US" dirty="0"/>
                  <a:t>P (service time greater than deadline)</a:t>
                </a:r>
              </a:p>
              <a:p>
                <a:pPr>
                  <a:buFont typeface="Wingdings" panose="05000000000000000000" pitchFamily="2" charset="2"/>
                  <a:buChar char="q"/>
                </a:pPr>
                <a:endParaRPr lang="en-US" dirty="0"/>
              </a:p>
            </p:txBody>
          </p:sp>
        </mc:Choice>
        <mc:Fallback xmlns="">
          <p:sp>
            <p:nvSpPr>
              <p:cNvPr id="3" name="Content Placeholder 2">
                <a:extLst>
                  <a:ext uri="{FF2B5EF4-FFF2-40B4-BE49-F238E27FC236}">
                    <a16:creationId xmlns:a16="http://schemas.microsoft.com/office/drawing/2014/main" id="{26FBB883-4A30-4B6F-A802-31AAAD154FE6}"/>
                  </a:ext>
                </a:extLst>
              </p:cNvPr>
              <p:cNvSpPr>
                <a:spLocks noGrp="1" noRot="1" noChangeAspect="1" noMove="1" noResize="1" noEditPoints="1" noAdjustHandles="1" noChangeArrowheads="1" noChangeShapeType="1" noTextEdit="1"/>
              </p:cNvSpPr>
              <p:nvPr>
                <p:ph idx="1"/>
              </p:nvPr>
            </p:nvSpPr>
            <p:spPr>
              <a:xfrm>
                <a:off x="1097280" y="1845734"/>
                <a:ext cx="6106408" cy="4023360"/>
              </a:xfrm>
              <a:blipFill>
                <a:blip r:embed="rId3"/>
                <a:stretch>
                  <a:fillRect l="-2395" t="-1667" r="-299"/>
                </a:stretch>
              </a:blipFill>
            </p:spPr>
            <p:txBody>
              <a:bodyPr/>
              <a:lstStyle/>
              <a:p>
                <a:r>
                  <a:rPr lang="en-US">
                    <a:noFill/>
                  </a:rPr>
                  <a:t> </a:t>
                </a:r>
              </a:p>
            </p:txBody>
          </p:sp>
        </mc:Fallback>
      </mc:AlternateContent>
      <p:sp>
        <p:nvSpPr>
          <p:cNvPr id="4" name="Slide Number Placeholder 3">
            <a:extLst>
              <a:ext uri="{FF2B5EF4-FFF2-40B4-BE49-F238E27FC236}">
                <a16:creationId xmlns:a16="http://schemas.microsoft.com/office/drawing/2014/main" id="{E751DF1F-FB1E-470B-80DC-223BB391E869}"/>
              </a:ext>
            </a:extLst>
          </p:cNvPr>
          <p:cNvSpPr>
            <a:spLocks noGrp="1"/>
          </p:cNvSpPr>
          <p:nvPr>
            <p:ph type="sldNum" sz="quarter" idx="12"/>
          </p:nvPr>
        </p:nvSpPr>
        <p:spPr/>
        <p:txBody>
          <a:bodyPr/>
          <a:lstStyle/>
          <a:p>
            <a:fld id="{DC4CAFB8-3EF6-4FAF-BDFA-EA2F8D8834E4}" type="slidenum">
              <a:rPr lang="en-US" smtClean="0"/>
              <a:t>15</a:t>
            </a:fld>
            <a:endParaRPr lang="en-US"/>
          </a:p>
        </p:txBody>
      </p:sp>
      <p:pic>
        <p:nvPicPr>
          <p:cNvPr id="6" name="Picture 5">
            <a:extLst>
              <a:ext uri="{FF2B5EF4-FFF2-40B4-BE49-F238E27FC236}">
                <a16:creationId xmlns:a16="http://schemas.microsoft.com/office/drawing/2014/main" id="{48B9D8CB-9057-4128-B234-468FD9854FFF}"/>
              </a:ext>
            </a:extLst>
          </p:cNvPr>
          <p:cNvPicPr>
            <a:picLocks noChangeAspect="1"/>
          </p:cNvPicPr>
          <p:nvPr/>
        </p:nvPicPr>
        <p:blipFill>
          <a:blip r:embed="rId4"/>
          <a:stretch>
            <a:fillRect/>
          </a:stretch>
        </p:blipFill>
        <p:spPr>
          <a:xfrm>
            <a:off x="5852497" y="2736627"/>
            <a:ext cx="5869957" cy="2241574"/>
          </a:xfrm>
          <a:prstGeom prst="rect">
            <a:avLst/>
          </a:prstGeom>
        </p:spPr>
      </p:pic>
      <p:sp>
        <p:nvSpPr>
          <p:cNvPr id="12" name="TextBox 11">
            <a:extLst>
              <a:ext uri="{FF2B5EF4-FFF2-40B4-BE49-F238E27FC236}">
                <a16:creationId xmlns:a16="http://schemas.microsoft.com/office/drawing/2014/main" id="{2F39D1E7-3779-4158-8F7D-D0928419824F}"/>
              </a:ext>
            </a:extLst>
          </p:cNvPr>
          <p:cNvSpPr txBox="1"/>
          <p:nvPr/>
        </p:nvSpPr>
        <p:spPr>
          <a:xfrm>
            <a:off x="8631045" y="4978201"/>
            <a:ext cx="635619" cy="369332"/>
          </a:xfrm>
          <a:prstGeom prst="rect">
            <a:avLst/>
          </a:prstGeom>
          <a:noFill/>
        </p:spPr>
        <p:txBody>
          <a:bodyPr wrap="square" rtlCol="0">
            <a:spAutoFit/>
          </a:bodyPr>
          <a:lstStyle/>
          <a:p>
            <a:r>
              <a:rPr lang="en-US" dirty="0"/>
              <a:t>(2)</a:t>
            </a:r>
          </a:p>
        </p:txBody>
      </p:sp>
      <p:sp>
        <p:nvSpPr>
          <p:cNvPr id="7" name="TextBox 6">
            <a:extLst>
              <a:ext uri="{FF2B5EF4-FFF2-40B4-BE49-F238E27FC236}">
                <a16:creationId xmlns:a16="http://schemas.microsoft.com/office/drawing/2014/main" id="{EC8F57F2-C35B-4421-A3B8-AC07338ADC3E}"/>
              </a:ext>
            </a:extLst>
          </p:cNvPr>
          <p:cNvSpPr txBox="1"/>
          <p:nvPr/>
        </p:nvSpPr>
        <p:spPr>
          <a:xfrm>
            <a:off x="189571" y="6447755"/>
            <a:ext cx="3579542" cy="369332"/>
          </a:xfrm>
          <a:prstGeom prst="rect">
            <a:avLst/>
          </a:prstGeom>
          <a:noFill/>
        </p:spPr>
        <p:txBody>
          <a:bodyPr wrap="square" rtlCol="0">
            <a:spAutoFit/>
          </a:bodyPr>
          <a:lstStyle/>
          <a:p>
            <a:r>
              <a:rPr lang="en-US" dirty="0">
                <a:solidFill>
                  <a:schemeClr val="bg1"/>
                </a:solidFill>
              </a:rPr>
              <a:t>Mohammad Mahdi Manafi</a:t>
            </a:r>
          </a:p>
        </p:txBody>
      </p:sp>
    </p:spTree>
    <p:extLst>
      <p:ext uri="{BB962C8B-B14F-4D97-AF65-F5344CB8AC3E}">
        <p14:creationId xmlns:p14="http://schemas.microsoft.com/office/powerpoint/2010/main" val="444044868"/>
      </p:ext>
    </p:extLst>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B4869AE-6EB0-4D7F-90FC-5862FDE9B576}"/>
              </a:ext>
            </a:extLst>
          </p:cNvPr>
          <p:cNvSpPr>
            <a:spLocks noGrp="1"/>
          </p:cNvSpPr>
          <p:nvPr>
            <p:ph type="title"/>
          </p:nvPr>
        </p:nvSpPr>
        <p:spPr/>
        <p:txBody>
          <a:bodyPr/>
          <a:lstStyle/>
          <a:p>
            <a:r>
              <a:rPr lang="en-US" dirty="0"/>
              <a:t>How PDF derived</a:t>
            </a:r>
          </a:p>
        </p:txBody>
      </p:sp>
      <p:sp>
        <p:nvSpPr>
          <p:cNvPr id="4" name="Slide Number Placeholder 3">
            <a:extLst>
              <a:ext uri="{FF2B5EF4-FFF2-40B4-BE49-F238E27FC236}">
                <a16:creationId xmlns:a16="http://schemas.microsoft.com/office/drawing/2014/main" id="{10ED50F5-4079-4592-AFE9-0FDA0F28C2E6}"/>
              </a:ext>
            </a:extLst>
          </p:cNvPr>
          <p:cNvSpPr>
            <a:spLocks noGrp="1"/>
          </p:cNvSpPr>
          <p:nvPr>
            <p:ph type="sldNum" sz="quarter" idx="12"/>
          </p:nvPr>
        </p:nvSpPr>
        <p:spPr/>
        <p:txBody>
          <a:bodyPr/>
          <a:lstStyle/>
          <a:p>
            <a:fld id="{DC4CAFB8-3EF6-4FAF-BDFA-EA2F8D8834E4}" type="slidenum">
              <a:rPr lang="en-US" smtClean="0"/>
              <a:t>16</a:t>
            </a:fld>
            <a:endParaRPr lang="en-US"/>
          </a:p>
        </p:txBody>
      </p:sp>
      <mc:AlternateContent xmlns:mc="http://schemas.openxmlformats.org/markup-compatibility/2006" xmlns:a14="http://schemas.microsoft.com/office/drawing/2010/main">
        <mc:Choice Requires="a14">
          <p:sp>
            <p:nvSpPr>
              <p:cNvPr id="5" name="TextBox 4">
                <a:extLst>
                  <a:ext uri="{FF2B5EF4-FFF2-40B4-BE49-F238E27FC236}">
                    <a16:creationId xmlns:a16="http://schemas.microsoft.com/office/drawing/2014/main" id="{79A5B922-B0E0-40D1-B0DB-39ABA2829713}"/>
                  </a:ext>
                </a:extLst>
              </p:cNvPr>
              <p:cNvSpPr txBox="1"/>
              <p:nvPr/>
            </p:nvSpPr>
            <p:spPr>
              <a:xfrm>
                <a:off x="833976" y="2139504"/>
                <a:ext cx="3052845" cy="698140"/>
              </a:xfrm>
              <a:prstGeom prst="rect">
                <a:avLst/>
              </a:prstGeom>
              <a:noFill/>
            </p:spPr>
            <p:txBody>
              <a:bodyPr wrap="square" lIns="0" tIns="0" rIns="0" bIns="0" rtlCol="0">
                <a:spAutoFit/>
              </a:bodyPr>
              <a:lstStyle/>
              <a:p>
                <a:pPr/>
                <a14:m>
                  <m:oMathPara xmlns:m="http://schemas.openxmlformats.org/officeDocument/2006/math">
                    <m:oMathParaPr>
                      <m:jc m:val="centerGroup"/>
                    </m:oMathParaPr>
                    <m:oMath xmlns:m="http://schemas.openxmlformats.org/officeDocument/2006/math">
                      <m:r>
                        <a:rPr lang="en-US" sz="2000" b="0" i="1" smtClean="0">
                          <a:latin typeface="Cambria Math" panose="02040503050406030204" pitchFamily="18" charset="0"/>
                        </a:rPr>
                        <m:t>𝑃</m:t>
                      </m:r>
                      <m:d>
                        <m:dPr>
                          <m:ctrlPr>
                            <a:rPr lang="en-US" sz="2000" b="0" i="1" smtClean="0">
                              <a:latin typeface="Cambria Math" panose="02040503050406030204" pitchFamily="18" charset="0"/>
                            </a:rPr>
                          </m:ctrlPr>
                        </m:dPr>
                        <m:e>
                          <m:r>
                            <a:rPr lang="en-US" sz="2000" b="0" i="1" smtClean="0">
                              <a:latin typeface="Cambria Math" panose="02040503050406030204" pitchFamily="18" charset="0"/>
                            </a:rPr>
                            <m:t>𝑎</m:t>
                          </m:r>
                          <m:r>
                            <a:rPr lang="en-US" sz="2000" b="0" i="1" smtClean="0">
                              <a:latin typeface="Cambria Math" panose="02040503050406030204" pitchFamily="18" charset="0"/>
                            </a:rPr>
                            <m:t>≤</m:t>
                          </m:r>
                          <m:r>
                            <a:rPr lang="en-US" sz="2000" b="0" i="1" smtClean="0">
                              <a:latin typeface="Cambria Math" panose="02040503050406030204" pitchFamily="18" charset="0"/>
                            </a:rPr>
                            <m:t>𝑥</m:t>
                          </m:r>
                          <m:r>
                            <a:rPr lang="en-US" sz="2000" b="0" i="1" smtClean="0">
                              <a:latin typeface="Cambria Math" panose="02040503050406030204" pitchFamily="18" charset="0"/>
                            </a:rPr>
                            <m:t>≤</m:t>
                          </m:r>
                          <m:r>
                            <a:rPr lang="en-US" sz="2000" b="0" i="1" smtClean="0">
                              <a:latin typeface="Cambria Math" panose="02040503050406030204" pitchFamily="18" charset="0"/>
                            </a:rPr>
                            <m:t>𝑏</m:t>
                          </m:r>
                        </m:e>
                      </m:d>
                      <m:r>
                        <a:rPr lang="en-US" sz="2000" b="0" i="1" smtClean="0">
                          <a:latin typeface="Cambria Math" panose="02040503050406030204" pitchFamily="18" charset="0"/>
                        </a:rPr>
                        <m:t>=</m:t>
                      </m:r>
                      <m:nary>
                        <m:naryPr>
                          <m:ctrlPr>
                            <a:rPr lang="en-US" sz="2000" b="0" i="1" smtClean="0">
                              <a:latin typeface="Cambria Math" panose="02040503050406030204" pitchFamily="18" charset="0"/>
                            </a:rPr>
                          </m:ctrlPr>
                        </m:naryPr>
                        <m:sub>
                          <m:r>
                            <m:rPr>
                              <m:brk m:alnAt="23"/>
                            </m:rPr>
                            <a:rPr lang="en-US" sz="2000" b="0" i="1" smtClean="0">
                              <a:latin typeface="Cambria Math" panose="02040503050406030204" pitchFamily="18" charset="0"/>
                            </a:rPr>
                            <m:t>𝑎</m:t>
                          </m:r>
                        </m:sub>
                        <m:sup>
                          <m:r>
                            <a:rPr lang="en-US" sz="2000" b="0" i="1" smtClean="0">
                              <a:latin typeface="Cambria Math" panose="02040503050406030204" pitchFamily="18" charset="0"/>
                            </a:rPr>
                            <m:t>𝑏</m:t>
                          </m:r>
                        </m:sup>
                        <m:e>
                          <m:r>
                            <a:rPr lang="en-US" sz="2000" b="0" i="1" smtClean="0">
                              <a:latin typeface="Cambria Math" panose="02040503050406030204" pitchFamily="18" charset="0"/>
                            </a:rPr>
                            <m:t>𝑓</m:t>
                          </m:r>
                          <m:d>
                            <m:dPr>
                              <m:ctrlPr>
                                <a:rPr lang="en-US" sz="2000" b="0" i="1" smtClean="0">
                                  <a:latin typeface="Cambria Math" panose="02040503050406030204" pitchFamily="18" charset="0"/>
                                </a:rPr>
                              </m:ctrlPr>
                            </m:dPr>
                            <m:e>
                              <m:r>
                                <a:rPr lang="en-US" sz="2000" b="0" i="1" smtClean="0">
                                  <a:latin typeface="Cambria Math" panose="02040503050406030204" pitchFamily="18" charset="0"/>
                                </a:rPr>
                                <m:t>𝑥</m:t>
                              </m:r>
                            </m:e>
                          </m:d>
                          <m:r>
                            <a:rPr lang="en-US" sz="2000" b="0" i="1" smtClean="0">
                              <a:latin typeface="Cambria Math" panose="02040503050406030204" pitchFamily="18" charset="0"/>
                            </a:rPr>
                            <m:t>𝑑𝑥</m:t>
                          </m:r>
                        </m:e>
                      </m:nary>
                      <m:r>
                        <a:rPr lang="en-US" sz="2000" b="0" i="1" smtClean="0">
                          <a:latin typeface="Cambria Math" panose="02040503050406030204" pitchFamily="18" charset="0"/>
                        </a:rPr>
                        <m:t>,</m:t>
                      </m:r>
                    </m:oMath>
                  </m:oMathPara>
                </a14:m>
                <a:endParaRPr lang="en-US" sz="2000" dirty="0"/>
              </a:p>
            </p:txBody>
          </p:sp>
        </mc:Choice>
        <mc:Fallback xmlns="">
          <p:sp>
            <p:nvSpPr>
              <p:cNvPr id="5" name="TextBox 4">
                <a:extLst>
                  <a:ext uri="{FF2B5EF4-FFF2-40B4-BE49-F238E27FC236}">
                    <a16:creationId xmlns:a16="http://schemas.microsoft.com/office/drawing/2014/main" id="{79A5B922-B0E0-40D1-B0DB-39ABA2829713}"/>
                  </a:ext>
                </a:extLst>
              </p:cNvPr>
              <p:cNvSpPr txBox="1">
                <a:spLocks noRot="1" noChangeAspect="1" noMove="1" noResize="1" noEditPoints="1" noAdjustHandles="1" noChangeArrowheads="1" noChangeShapeType="1" noTextEdit="1"/>
              </p:cNvSpPr>
              <p:nvPr/>
            </p:nvSpPr>
            <p:spPr>
              <a:xfrm>
                <a:off x="833976" y="2139504"/>
                <a:ext cx="3052845" cy="698140"/>
              </a:xfrm>
              <a:prstGeom prst="rect">
                <a:avLst/>
              </a:prstGeom>
              <a:blipFill>
                <a:blip r:embed="rId2"/>
                <a:stretch>
                  <a:fillRect/>
                </a:stretch>
              </a:blipFill>
            </p:spPr>
            <p:txBody>
              <a:bodyPr/>
              <a:lstStyle/>
              <a:p>
                <a:r>
                  <a:rPr lang="en-US">
                    <a:noFill/>
                  </a:rPr>
                  <a:t> </a:t>
                </a:r>
              </a:p>
            </p:txBody>
          </p:sp>
        </mc:Fallback>
      </mc:AlternateContent>
      <mc:AlternateContent xmlns:mc="http://schemas.openxmlformats.org/markup-compatibility/2006" xmlns:a14="http://schemas.microsoft.com/office/drawing/2010/main">
        <mc:Choice Requires="a14">
          <p:sp>
            <p:nvSpPr>
              <p:cNvPr id="6" name="TextBox 5">
                <a:extLst>
                  <a:ext uri="{FF2B5EF4-FFF2-40B4-BE49-F238E27FC236}">
                    <a16:creationId xmlns:a16="http://schemas.microsoft.com/office/drawing/2014/main" id="{8E247F23-3FB7-4B14-B04D-2ACC8E5A389B}"/>
                  </a:ext>
                </a:extLst>
              </p:cNvPr>
              <p:cNvSpPr txBox="1"/>
              <p:nvPr/>
            </p:nvSpPr>
            <p:spPr>
              <a:xfrm>
                <a:off x="7231176" y="1936752"/>
                <a:ext cx="2323242" cy="412934"/>
              </a:xfrm>
              <a:prstGeom prst="rect">
                <a:avLst/>
              </a:prstGeom>
              <a:noFill/>
            </p:spPr>
            <p:txBody>
              <a:bodyPr wrap="square" rtlCol="0">
                <a:spAutoFit/>
              </a:bodyPr>
              <a:lstStyle/>
              <a:p>
                <a:pPr/>
                <a14:m>
                  <m:oMathPara xmlns:m="http://schemas.openxmlformats.org/officeDocument/2006/math">
                    <m:oMathParaPr>
                      <m:jc m:val="centerGroup"/>
                    </m:oMathParaPr>
                    <m:oMath xmlns:m="http://schemas.openxmlformats.org/officeDocument/2006/math">
                      <m:sSub>
                        <m:sSubPr>
                          <m:ctrlPr>
                            <a:rPr lang="en-US" sz="2000" b="0" i="1" smtClean="0">
                              <a:latin typeface="Cambria Math" panose="02040503050406030204" pitchFamily="18" charset="0"/>
                              <a:ea typeface="Cambria Math" panose="02040503050406030204" pitchFamily="18" charset="0"/>
                            </a:rPr>
                          </m:ctrlPr>
                        </m:sSubPr>
                        <m:e>
                          <m:r>
                            <a:rPr lang="en-US" sz="2000" b="0" i="1" smtClean="0">
                              <a:latin typeface="Cambria Math" panose="02040503050406030204" pitchFamily="18" charset="0"/>
                              <a:ea typeface="Cambria Math" panose="02040503050406030204" pitchFamily="18" charset="0"/>
                            </a:rPr>
                            <m:t>𝑓</m:t>
                          </m:r>
                        </m:e>
                        <m:sub>
                          <m:r>
                            <a:rPr lang="en-US" sz="2000" b="0" i="1" smtClean="0">
                              <a:latin typeface="Cambria Math" panose="02040503050406030204" pitchFamily="18" charset="0"/>
                              <a:ea typeface="Cambria Math" panose="02040503050406030204" pitchFamily="18" charset="0"/>
                            </a:rPr>
                            <m:t>𝐸</m:t>
                          </m:r>
                        </m:sub>
                      </m:sSub>
                      <m:r>
                        <a:rPr lang="en-US" sz="2000" b="0" i="1" smtClean="0">
                          <a:latin typeface="Cambria Math" panose="02040503050406030204" pitchFamily="18" charset="0"/>
                          <a:ea typeface="Cambria Math" panose="02040503050406030204" pitchFamily="18" charset="0"/>
                        </a:rPr>
                        <m:t>(</m:t>
                      </m:r>
                      <m:r>
                        <a:rPr lang="en-US" sz="2000" b="0" i="1" smtClean="0">
                          <a:latin typeface="Cambria Math" panose="02040503050406030204" pitchFamily="18" charset="0"/>
                          <a:ea typeface="Cambria Math" panose="02040503050406030204" pitchFamily="18" charset="0"/>
                        </a:rPr>
                        <m:t>𝜎</m:t>
                      </m:r>
                      <m:r>
                        <a:rPr lang="en-US" sz="2000" b="0" i="1" smtClean="0">
                          <a:latin typeface="Cambria Math" panose="02040503050406030204" pitchFamily="18" charset="0"/>
                          <a:ea typeface="Cambria Math" panose="02040503050406030204" pitchFamily="18" charset="0"/>
                        </a:rPr>
                        <m:t>)=</m:t>
                      </m:r>
                      <m:sSub>
                        <m:sSubPr>
                          <m:ctrlPr>
                            <a:rPr lang="en-US" sz="2000" i="1">
                              <a:latin typeface="Cambria Math" panose="02040503050406030204" pitchFamily="18" charset="0"/>
                            </a:rPr>
                          </m:ctrlPr>
                        </m:sSubPr>
                        <m:e>
                          <m:r>
                            <a:rPr lang="en-US" sz="2000" i="1">
                              <a:latin typeface="Cambria Math" panose="02040503050406030204" pitchFamily="18" charset="0"/>
                              <a:ea typeface="Cambria Math" panose="02040503050406030204" pitchFamily="18" charset="0"/>
                            </a:rPr>
                            <m:t>𝜇</m:t>
                          </m:r>
                        </m:e>
                        <m:sub>
                          <m:r>
                            <a:rPr lang="en-US" sz="2000" i="1">
                              <a:latin typeface="Cambria Math" panose="02040503050406030204" pitchFamily="18" charset="0"/>
                            </a:rPr>
                            <m:t>𝐷</m:t>
                          </m:r>
                        </m:sub>
                      </m:sSub>
                      <m:sSup>
                        <m:sSupPr>
                          <m:ctrlPr>
                            <a:rPr lang="el-GR" sz="2000" b="0" i="1" smtClean="0">
                              <a:latin typeface="Cambria Math" panose="02040503050406030204" pitchFamily="18" charset="0"/>
                              <a:ea typeface="Cambria Math" panose="02040503050406030204" pitchFamily="18" charset="0"/>
                            </a:rPr>
                          </m:ctrlPr>
                        </m:sSupPr>
                        <m:e>
                          <m:r>
                            <a:rPr lang="en-US" sz="2000" b="0" i="1" smtClean="0">
                              <a:latin typeface="Cambria Math" panose="02040503050406030204" pitchFamily="18" charset="0"/>
                              <a:ea typeface="Cambria Math" panose="02040503050406030204" pitchFamily="18" charset="0"/>
                            </a:rPr>
                            <m:t>𝑒</m:t>
                          </m:r>
                        </m:e>
                        <m:sup>
                          <m:r>
                            <a:rPr lang="en-US" sz="2000" b="0" i="1" smtClean="0">
                              <a:latin typeface="Cambria Math" panose="02040503050406030204" pitchFamily="18" charset="0"/>
                              <a:ea typeface="Cambria Math" panose="02040503050406030204" pitchFamily="18" charset="0"/>
                            </a:rPr>
                            <m:t>−</m:t>
                          </m:r>
                          <m:sSub>
                            <m:sSubPr>
                              <m:ctrlPr>
                                <a:rPr lang="en-US" sz="2000" i="1">
                                  <a:latin typeface="Cambria Math" panose="02040503050406030204" pitchFamily="18" charset="0"/>
                                </a:rPr>
                              </m:ctrlPr>
                            </m:sSubPr>
                            <m:e>
                              <m:r>
                                <a:rPr lang="en-US" sz="2000" i="1">
                                  <a:latin typeface="Cambria Math" panose="02040503050406030204" pitchFamily="18" charset="0"/>
                                  <a:ea typeface="Cambria Math" panose="02040503050406030204" pitchFamily="18" charset="0"/>
                                </a:rPr>
                                <m:t>𝜇</m:t>
                              </m:r>
                            </m:e>
                            <m:sub>
                              <m:r>
                                <a:rPr lang="en-US" sz="2000" i="1">
                                  <a:latin typeface="Cambria Math" panose="02040503050406030204" pitchFamily="18" charset="0"/>
                                </a:rPr>
                                <m:t>𝐷</m:t>
                              </m:r>
                            </m:sub>
                          </m:sSub>
                          <m:r>
                            <a:rPr lang="en-US" sz="2000" b="0" i="1" smtClean="0">
                              <a:latin typeface="Cambria Math" panose="02040503050406030204" pitchFamily="18" charset="0"/>
                              <a:ea typeface="Cambria Math" panose="02040503050406030204" pitchFamily="18" charset="0"/>
                            </a:rPr>
                            <m:t>(</m:t>
                          </m:r>
                          <m:r>
                            <a:rPr lang="en-US" sz="2000" b="0" i="1" smtClean="0">
                              <a:latin typeface="Cambria Math" panose="02040503050406030204" pitchFamily="18" charset="0"/>
                              <a:ea typeface="Cambria Math" panose="02040503050406030204" pitchFamily="18" charset="0"/>
                            </a:rPr>
                            <m:t>𝜎</m:t>
                          </m:r>
                          <m:r>
                            <a:rPr lang="en-US" sz="2000" b="0" i="1" smtClean="0">
                              <a:latin typeface="Cambria Math" panose="02040503050406030204" pitchFamily="18" charset="0"/>
                              <a:ea typeface="Cambria Math" panose="02040503050406030204" pitchFamily="18" charset="0"/>
                            </a:rPr>
                            <m:t>)</m:t>
                          </m:r>
                        </m:sup>
                      </m:sSup>
                    </m:oMath>
                  </m:oMathPara>
                </a14:m>
                <a:endParaRPr lang="en-US" sz="2000" dirty="0"/>
              </a:p>
            </p:txBody>
          </p:sp>
        </mc:Choice>
        <mc:Fallback xmlns="">
          <p:sp>
            <p:nvSpPr>
              <p:cNvPr id="6" name="TextBox 5">
                <a:extLst>
                  <a:ext uri="{FF2B5EF4-FFF2-40B4-BE49-F238E27FC236}">
                    <a16:creationId xmlns:a16="http://schemas.microsoft.com/office/drawing/2014/main" id="{8E247F23-3FB7-4B14-B04D-2ACC8E5A389B}"/>
                  </a:ext>
                </a:extLst>
              </p:cNvPr>
              <p:cNvSpPr txBox="1">
                <a:spLocks noRot="1" noChangeAspect="1" noMove="1" noResize="1" noEditPoints="1" noAdjustHandles="1" noChangeArrowheads="1" noChangeShapeType="1" noTextEdit="1"/>
              </p:cNvSpPr>
              <p:nvPr/>
            </p:nvSpPr>
            <p:spPr>
              <a:xfrm>
                <a:off x="7231176" y="1936752"/>
                <a:ext cx="2323242" cy="412934"/>
              </a:xfrm>
              <a:prstGeom prst="rect">
                <a:avLst/>
              </a:prstGeom>
              <a:blipFill>
                <a:blip r:embed="rId3"/>
                <a:stretch>
                  <a:fillRect b="-14925"/>
                </a:stretch>
              </a:blipFill>
            </p:spPr>
            <p:txBody>
              <a:bodyPr/>
              <a:lstStyle/>
              <a:p>
                <a:r>
                  <a:rPr lang="en-US">
                    <a:noFill/>
                  </a:rPr>
                  <a:t> </a:t>
                </a:r>
              </a:p>
            </p:txBody>
          </p:sp>
        </mc:Fallback>
      </mc:AlternateContent>
      <mc:AlternateContent xmlns:mc="http://schemas.openxmlformats.org/markup-compatibility/2006" xmlns:a14="http://schemas.microsoft.com/office/drawing/2010/main">
        <mc:Choice Requires="a14">
          <p:sp>
            <p:nvSpPr>
              <p:cNvPr id="7" name="TextBox 6">
                <a:extLst>
                  <a:ext uri="{FF2B5EF4-FFF2-40B4-BE49-F238E27FC236}">
                    <a16:creationId xmlns:a16="http://schemas.microsoft.com/office/drawing/2014/main" id="{670A51F6-F55D-416A-9D87-E118E4EDA88C}"/>
                  </a:ext>
                </a:extLst>
              </p:cNvPr>
              <p:cNvSpPr txBox="1"/>
              <p:nvPr/>
            </p:nvSpPr>
            <p:spPr>
              <a:xfrm>
                <a:off x="643827" y="5133577"/>
                <a:ext cx="3294428" cy="599331"/>
              </a:xfrm>
              <a:prstGeom prst="rect">
                <a:avLst/>
              </a:prstGeom>
              <a:noFill/>
            </p:spPr>
            <p:txBody>
              <a:bodyPr wrap="none" lIns="0" tIns="0" rIns="0" bIns="0" rtlCol="0">
                <a:spAutoFit/>
              </a:bodyPr>
              <a:lstStyle/>
              <a:p>
                <a:pPr/>
                <a14:m>
                  <m:oMathPara xmlns:m="http://schemas.openxmlformats.org/officeDocument/2006/math">
                    <m:oMathParaPr>
                      <m:jc m:val="centerGroup"/>
                    </m:oMathParaPr>
                    <m:oMath xmlns:m="http://schemas.openxmlformats.org/officeDocument/2006/math">
                      <m:r>
                        <a:rPr lang="en-US" b="0" i="1" smtClean="0">
                          <a:latin typeface="Cambria Math" panose="02040503050406030204" pitchFamily="18" charset="0"/>
                        </a:rPr>
                        <m:t>𝑃</m:t>
                      </m:r>
                      <m:d>
                        <m:dPr>
                          <m:ctrlPr>
                            <a:rPr lang="en-US" b="0" i="1" smtClean="0">
                              <a:latin typeface="Cambria Math" panose="02040503050406030204" pitchFamily="18" charset="0"/>
                            </a:rPr>
                          </m:ctrlPr>
                        </m:dPr>
                        <m:e>
                          <m:r>
                            <a:rPr lang="en-US" b="0" i="1" smtClean="0">
                              <a:latin typeface="Cambria Math" panose="02040503050406030204" pitchFamily="18" charset="0"/>
                            </a:rPr>
                            <m:t>𝑇</m:t>
                          </m:r>
                          <m:r>
                            <a:rPr lang="en-US" b="0" i="1" smtClean="0">
                              <a:latin typeface="Cambria Math" panose="02040503050406030204" pitchFamily="18" charset="0"/>
                            </a:rPr>
                            <m:t>≤</m:t>
                          </m:r>
                          <m:r>
                            <a:rPr lang="en-US" b="0" i="1" smtClean="0">
                              <a:latin typeface="Cambria Math" panose="02040503050406030204" pitchFamily="18" charset="0"/>
                            </a:rPr>
                            <m:t>𝐸</m:t>
                          </m:r>
                        </m:e>
                      </m:d>
                      <m:r>
                        <a:rPr lang="en-US" b="0" i="1" smtClean="0">
                          <a:latin typeface="Cambria Math" panose="02040503050406030204" pitchFamily="18" charset="0"/>
                        </a:rPr>
                        <m:t>=</m:t>
                      </m:r>
                      <m:nary>
                        <m:naryPr>
                          <m:ctrlPr>
                            <a:rPr lang="en-US" i="1" smtClean="0">
                              <a:latin typeface="Cambria Math" panose="02040503050406030204" pitchFamily="18" charset="0"/>
                            </a:rPr>
                          </m:ctrlPr>
                        </m:naryPr>
                        <m:sub>
                          <m:r>
                            <m:rPr>
                              <m:brk m:alnAt="23"/>
                            </m:rPr>
                            <a:rPr lang="en-US" b="0" i="1" smtClean="0">
                              <a:latin typeface="Cambria Math" panose="02040503050406030204" pitchFamily="18" charset="0"/>
                            </a:rPr>
                            <m:t>0</m:t>
                          </m:r>
                        </m:sub>
                        <m:sup>
                          <m:r>
                            <a:rPr lang="en-US" i="1" smtClean="0">
                              <a:latin typeface="Cambria Math" panose="02040503050406030204" pitchFamily="18" charset="0"/>
                              <a:ea typeface="Cambria Math" panose="02040503050406030204" pitchFamily="18" charset="0"/>
                            </a:rPr>
                            <m:t>∞</m:t>
                          </m:r>
                        </m:sup>
                        <m:e>
                          <m:r>
                            <a:rPr lang="en-US" b="0" i="1" smtClean="0">
                              <a:latin typeface="Cambria Math" panose="02040503050406030204" pitchFamily="18" charset="0"/>
                            </a:rPr>
                            <m:t>𝑃</m:t>
                          </m:r>
                          <m:d>
                            <m:dPr>
                              <m:ctrlPr>
                                <a:rPr lang="en-US" b="0" i="1" smtClean="0">
                                  <a:latin typeface="Cambria Math" panose="02040503050406030204" pitchFamily="18" charset="0"/>
                                </a:rPr>
                              </m:ctrlPr>
                            </m:dPr>
                            <m:e>
                              <m:r>
                                <a:rPr lang="en-US" b="0" i="1" smtClean="0">
                                  <a:latin typeface="Cambria Math" panose="02040503050406030204" pitchFamily="18" charset="0"/>
                                </a:rPr>
                                <m:t>𝑇</m:t>
                              </m:r>
                              <m:r>
                                <a:rPr lang="en-US" b="0" i="1" smtClean="0">
                                  <a:latin typeface="Cambria Math" panose="02040503050406030204" pitchFamily="18" charset="0"/>
                                </a:rPr>
                                <m:t>≤</m:t>
                              </m:r>
                              <m:r>
                                <a:rPr lang="en-US" b="0" i="1" smtClean="0">
                                  <a:latin typeface="Cambria Math" panose="02040503050406030204" pitchFamily="18" charset="0"/>
                                  <a:ea typeface="Cambria Math" panose="02040503050406030204" pitchFamily="18" charset="0"/>
                                </a:rPr>
                                <m:t>𝜏</m:t>
                              </m:r>
                            </m:e>
                          </m:d>
                          <m:r>
                            <a:rPr lang="en-US" b="0" i="1" smtClean="0">
                              <a:latin typeface="Cambria Math" panose="02040503050406030204" pitchFamily="18" charset="0"/>
                              <a:ea typeface="Cambria Math" panose="02040503050406030204" pitchFamily="18" charset="0"/>
                            </a:rPr>
                            <m:t>𝑓</m:t>
                          </m:r>
                          <m:d>
                            <m:dPr>
                              <m:ctrlPr>
                                <a:rPr lang="en-US" b="0" i="1" smtClean="0">
                                  <a:latin typeface="Cambria Math" panose="02040503050406030204" pitchFamily="18" charset="0"/>
                                  <a:ea typeface="Cambria Math" panose="02040503050406030204" pitchFamily="18" charset="0"/>
                                </a:rPr>
                              </m:ctrlPr>
                            </m:dPr>
                            <m:e>
                              <m:r>
                                <a:rPr lang="en-US" b="0" i="1" smtClean="0">
                                  <a:latin typeface="Cambria Math" panose="02040503050406030204" pitchFamily="18" charset="0"/>
                                  <a:ea typeface="Cambria Math" panose="02040503050406030204" pitchFamily="18" charset="0"/>
                                </a:rPr>
                                <m:t>𝜏</m:t>
                              </m:r>
                            </m:e>
                          </m:d>
                          <m:r>
                            <a:rPr lang="en-US" b="0" i="1" smtClean="0">
                              <a:latin typeface="Cambria Math" panose="02040503050406030204" pitchFamily="18" charset="0"/>
                              <a:ea typeface="Cambria Math" panose="02040503050406030204" pitchFamily="18" charset="0"/>
                            </a:rPr>
                            <m:t>𝑑</m:t>
                          </m:r>
                          <m:r>
                            <a:rPr lang="en-US" b="0" i="1" smtClean="0">
                              <a:latin typeface="Cambria Math" panose="02040503050406030204" pitchFamily="18" charset="0"/>
                              <a:ea typeface="Cambria Math" panose="02040503050406030204" pitchFamily="18" charset="0"/>
                            </a:rPr>
                            <m:t>𝜏</m:t>
                          </m:r>
                        </m:e>
                      </m:nary>
                      <m:r>
                        <a:rPr lang="en-US" b="0" i="1" smtClean="0">
                          <a:latin typeface="Cambria Math" panose="02040503050406030204" pitchFamily="18" charset="0"/>
                        </a:rPr>
                        <m:t>,</m:t>
                      </m:r>
                    </m:oMath>
                  </m:oMathPara>
                </a14:m>
                <a:endParaRPr lang="en-US" dirty="0"/>
              </a:p>
            </p:txBody>
          </p:sp>
        </mc:Choice>
        <mc:Fallback xmlns="">
          <p:sp>
            <p:nvSpPr>
              <p:cNvPr id="7" name="TextBox 6">
                <a:extLst>
                  <a:ext uri="{FF2B5EF4-FFF2-40B4-BE49-F238E27FC236}">
                    <a16:creationId xmlns:a16="http://schemas.microsoft.com/office/drawing/2014/main" id="{670A51F6-F55D-416A-9D87-E118E4EDA88C}"/>
                  </a:ext>
                </a:extLst>
              </p:cNvPr>
              <p:cNvSpPr txBox="1">
                <a:spLocks noRot="1" noChangeAspect="1" noMove="1" noResize="1" noEditPoints="1" noAdjustHandles="1" noChangeArrowheads="1" noChangeShapeType="1" noTextEdit="1"/>
              </p:cNvSpPr>
              <p:nvPr/>
            </p:nvSpPr>
            <p:spPr>
              <a:xfrm>
                <a:off x="643827" y="5133577"/>
                <a:ext cx="3294428" cy="599331"/>
              </a:xfrm>
              <a:prstGeom prst="rect">
                <a:avLst/>
              </a:prstGeom>
              <a:blipFill>
                <a:blip r:embed="rId4"/>
                <a:stretch>
                  <a:fillRect b="-1020"/>
                </a:stretch>
              </a:blipFill>
            </p:spPr>
            <p:txBody>
              <a:bodyPr/>
              <a:lstStyle/>
              <a:p>
                <a:r>
                  <a:rPr lang="en-US">
                    <a:noFill/>
                  </a:rPr>
                  <a:t> </a:t>
                </a:r>
              </a:p>
            </p:txBody>
          </p:sp>
        </mc:Fallback>
      </mc:AlternateContent>
      <mc:AlternateContent xmlns:mc="http://schemas.openxmlformats.org/markup-compatibility/2006" xmlns:a14="http://schemas.microsoft.com/office/drawing/2010/main">
        <mc:Choice Requires="a14">
          <p:sp>
            <p:nvSpPr>
              <p:cNvPr id="8" name="TextBox 7">
                <a:extLst>
                  <a:ext uri="{FF2B5EF4-FFF2-40B4-BE49-F238E27FC236}">
                    <a16:creationId xmlns:a16="http://schemas.microsoft.com/office/drawing/2014/main" id="{4068F494-2805-442F-93DF-1D75B15F3021}"/>
                  </a:ext>
                </a:extLst>
              </p:cNvPr>
              <p:cNvSpPr txBox="1"/>
              <p:nvPr/>
            </p:nvSpPr>
            <p:spPr>
              <a:xfrm>
                <a:off x="643827" y="3646209"/>
                <a:ext cx="3912926" cy="690830"/>
              </a:xfrm>
              <a:prstGeom prst="rect">
                <a:avLst/>
              </a:prstGeom>
              <a:noFill/>
            </p:spPr>
            <p:txBody>
              <a:bodyPr wrap="square" rtlCol="0">
                <a:spAutoFit/>
              </a:bodyPr>
              <a:lstStyle/>
              <a:p>
                <a:pPr/>
                <a14:m>
                  <m:oMathPara xmlns:m="http://schemas.openxmlformats.org/officeDocument/2006/math">
                    <m:oMathParaPr>
                      <m:jc m:val="centerGroup"/>
                    </m:oMathParaPr>
                    <m:oMath xmlns:m="http://schemas.openxmlformats.org/officeDocument/2006/math">
                      <m:r>
                        <a:rPr lang="en-US" i="1" smtClean="0">
                          <a:latin typeface="Cambria Math" panose="02040503050406030204" pitchFamily="18" charset="0"/>
                        </a:rPr>
                        <m:t>𝑃</m:t>
                      </m:r>
                      <m:d>
                        <m:dPr>
                          <m:ctrlPr>
                            <a:rPr lang="en-US" i="1">
                              <a:latin typeface="Cambria Math" panose="02040503050406030204" pitchFamily="18" charset="0"/>
                            </a:rPr>
                          </m:ctrlPr>
                        </m:dPr>
                        <m:e>
                          <m:r>
                            <a:rPr lang="en-US" i="1">
                              <a:latin typeface="Cambria Math" panose="02040503050406030204" pitchFamily="18" charset="0"/>
                            </a:rPr>
                            <m:t>𝑇</m:t>
                          </m:r>
                          <m:r>
                            <a:rPr lang="en-US" i="1">
                              <a:latin typeface="Cambria Math" panose="02040503050406030204" pitchFamily="18" charset="0"/>
                            </a:rPr>
                            <m:t>≤</m:t>
                          </m:r>
                          <m:r>
                            <a:rPr lang="en-US" b="0" i="1" smtClean="0">
                              <a:latin typeface="Cambria Math" panose="02040503050406030204" pitchFamily="18" charset="0"/>
                            </a:rPr>
                            <m:t>𝐸</m:t>
                          </m:r>
                        </m:e>
                      </m:d>
                      <m:r>
                        <a:rPr lang="en-US" i="1">
                          <a:latin typeface="Cambria Math" panose="02040503050406030204" pitchFamily="18" charset="0"/>
                          <a:ea typeface="Cambria Math" panose="02040503050406030204" pitchFamily="18" charset="0"/>
                        </a:rPr>
                        <m:t>=</m:t>
                      </m:r>
                      <m:r>
                        <a:rPr lang="en-US" b="0" i="1" smtClean="0">
                          <a:latin typeface="Cambria Math" panose="02040503050406030204" pitchFamily="18" charset="0"/>
                        </a:rPr>
                        <m:t>𝑃</m:t>
                      </m:r>
                      <m:d>
                        <m:dPr>
                          <m:ctrlPr>
                            <a:rPr lang="en-US" b="0" i="1" smtClean="0">
                              <a:latin typeface="Cambria Math" panose="02040503050406030204" pitchFamily="18" charset="0"/>
                            </a:rPr>
                          </m:ctrlPr>
                        </m:dPr>
                        <m:e>
                          <m:r>
                            <a:rPr lang="en-US" b="0" i="1" smtClean="0">
                              <a:latin typeface="Cambria Math" panose="02040503050406030204" pitchFamily="18" charset="0"/>
                            </a:rPr>
                            <m:t>𝑇</m:t>
                          </m:r>
                          <m:r>
                            <a:rPr lang="en-US" b="0" i="1" smtClean="0">
                              <a:latin typeface="Cambria Math" panose="02040503050406030204" pitchFamily="18" charset="0"/>
                            </a:rPr>
                            <m:t>≤</m:t>
                          </m:r>
                          <m:r>
                            <a:rPr lang="en-US" b="0" i="1" smtClean="0">
                              <a:latin typeface="Cambria Math" panose="02040503050406030204" pitchFamily="18" charset="0"/>
                              <a:ea typeface="Cambria Math" panose="02040503050406030204" pitchFamily="18" charset="0"/>
                            </a:rPr>
                            <m:t>𝜏</m:t>
                          </m:r>
                        </m:e>
                      </m:d>
                      <m:r>
                        <a:rPr lang="en-US" b="0" i="1" smtClean="0">
                          <a:latin typeface="Cambria Math" panose="02040503050406030204" pitchFamily="18" charset="0"/>
                          <a:ea typeface="Cambria Math" panose="02040503050406030204" pitchFamily="18" charset="0"/>
                        </a:rPr>
                        <m:t>=</m:t>
                      </m:r>
                      <m:nary>
                        <m:naryPr>
                          <m:ctrlPr>
                            <a:rPr lang="en-US" b="0" i="1" smtClean="0">
                              <a:latin typeface="Cambria Math" panose="02040503050406030204" pitchFamily="18" charset="0"/>
                              <a:ea typeface="Cambria Math" panose="02040503050406030204" pitchFamily="18" charset="0"/>
                            </a:rPr>
                          </m:ctrlPr>
                        </m:naryPr>
                        <m:sub>
                          <m:r>
                            <m:rPr>
                              <m:brk m:alnAt="23"/>
                            </m:rPr>
                            <a:rPr lang="en-US" b="0" i="1" smtClean="0">
                              <a:latin typeface="Cambria Math" panose="02040503050406030204" pitchFamily="18" charset="0"/>
                              <a:ea typeface="Cambria Math" panose="02040503050406030204" pitchFamily="18" charset="0"/>
                            </a:rPr>
                            <m:t>0</m:t>
                          </m:r>
                        </m:sub>
                        <m:sup>
                          <m:r>
                            <a:rPr lang="en-US" i="1">
                              <a:latin typeface="Cambria Math" panose="02040503050406030204" pitchFamily="18" charset="0"/>
                              <a:ea typeface="Cambria Math" panose="02040503050406030204" pitchFamily="18" charset="0"/>
                            </a:rPr>
                            <m:t>𝜏</m:t>
                          </m:r>
                        </m:sup>
                        <m:e>
                          <m:sSub>
                            <m:sSubPr>
                              <m:ctrlPr>
                                <a:rPr lang="en-US" b="0" i="1" smtClean="0">
                                  <a:latin typeface="Cambria Math" panose="02040503050406030204" pitchFamily="18" charset="0"/>
                                  <a:ea typeface="Cambria Math" panose="02040503050406030204" pitchFamily="18" charset="0"/>
                                </a:rPr>
                              </m:ctrlPr>
                            </m:sSubPr>
                            <m:e>
                              <m:r>
                                <a:rPr lang="en-US" b="0" i="1" smtClean="0">
                                  <a:latin typeface="Cambria Math" panose="02040503050406030204" pitchFamily="18" charset="0"/>
                                  <a:ea typeface="Cambria Math" panose="02040503050406030204" pitchFamily="18" charset="0"/>
                                </a:rPr>
                                <m:t>𝑓</m:t>
                              </m:r>
                            </m:e>
                            <m:sub>
                              <m:r>
                                <a:rPr lang="en-US" b="0" i="1" smtClean="0">
                                  <a:latin typeface="Cambria Math" panose="02040503050406030204" pitchFamily="18" charset="0"/>
                                  <a:ea typeface="Cambria Math" panose="02040503050406030204" pitchFamily="18" charset="0"/>
                                </a:rPr>
                                <m:t>𝑇</m:t>
                              </m:r>
                            </m:sub>
                          </m:sSub>
                          <m:d>
                            <m:dPr>
                              <m:ctrlPr>
                                <a:rPr lang="en-US" b="0" i="1" smtClean="0">
                                  <a:latin typeface="Cambria Math" panose="02040503050406030204" pitchFamily="18" charset="0"/>
                                  <a:ea typeface="Cambria Math" panose="02040503050406030204" pitchFamily="18" charset="0"/>
                                </a:rPr>
                              </m:ctrlPr>
                            </m:dPr>
                            <m:e>
                              <m:r>
                                <a:rPr lang="en-US" b="0" i="1" smtClean="0">
                                  <a:latin typeface="Cambria Math" panose="02040503050406030204" pitchFamily="18" charset="0"/>
                                  <a:ea typeface="Cambria Math" panose="02040503050406030204" pitchFamily="18" charset="0"/>
                                </a:rPr>
                                <m:t>𝑡</m:t>
                              </m:r>
                            </m:e>
                          </m:d>
                          <m:r>
                            <a:rPr lang="en-US" b="0" i="1" smtClean="0">
                              <a:latin typeface="Cambria Math" panose="02040503050406030204" pitchFamily="18" charset="0"/>
                              <a:ea typeface="Cambria Math" panose="02040503050406030204" pitchFamily="18" charset="0"/>
                            </a:rPr>
                            <m:t>𝑑𝑡</m:t>
                          </m:r>
                        </m:e>
                      </m:nary>
                      <m:r>
                        <a:rPr lang="en-US" b="0" i="1" smtClean="0">
                          <a:latin typeface="Cambria Math" panose="02040503050406030204" pitchFamily="18" charset="0"/>
                          <a:ea typeface="Cambria Math" panose="02040503050406030204" pitchFamily="18" charset="0"/>
                        </a:rPr>
                        <m:t>,</m:t>
                      </m:r>
                    </m:oMath>
                  </m:oMathPara>
                </a14:m>
                <a:endParaRPr lang="en-US" dirty="0"/>
              </a:p>
            </p:txBody>
          </p:sp>
        </mc:Choice>
        <mc:Fallback xmlns="">
          <p:sp>
            <p:nvSpPr>
              <p:cNvPr id="8" name="TextBox 7">
                <a:extLst>
                  <a:ext uri="{FF2B5EF4-FFF2-40B4-BE49-F238E27FC236}">
                    <a16:creationId xmlns:a16="http://schemas.microsoft.com/office/drawing/2014/main" id="{4068F494-2805-442F-93DF-1D75B15F3021}"/>
                  </a:ext>
                </a:extLst>
              </p:cNvPr>
              <p:cNvSpPr txBox="1">
                <a:spLocks noRot="1" noChangeAspect="1" noMove="1" noResize="1" noEditPoints="1" noAdjustHandles="1" noChangeArrowheads="1" noChangeShapeType="1" noTextEdit="1"/>
              </p:cNvSpPr>
              <p:nvPr/>
            </p:nvSpPr>
            <p:spPr>
              <a:xfrm>
                <a:off x="643827" y="3646209"/>
                <a:ext cx="3912926" cy="690830"/>
              </a:xfrm>
              <a:prstGeom prst="rect">
                <a:avLst/>
              </a:prstGeom>
              <a:blipFill>
                <a:blip r:embed="rId5"/>
                <a:stretch>
                  <a:fillRect/>
                </a:stretch>
              </a:blipFill>
            </p:spPr>
            <p:txBody>
              <a:bodyPr/>
              <a:lstStyle/>
              <a:p>
                <a:r>
                  <a:rPr lang="en-US">
                    <a:noFill/>
                  </a:rPr>
                  <a:t> </a:t>
                </a:r>
              </a:p>
            </p:txBody>
          </p:sp>
        </mc:Fallback>
      </mc:AlternateContent>
      <mc:AlternateContent xmlns:mc="http://schemas.openxmlformats.org/markup-compatibility/2006" xmlns:a14="http://schemas.microsoft.com/office/drawing/2010/main">
        <mc:Choice Requires="a14">
          <p:sp>
            <p:nvSpPr>
              <p:cNvPr id="9" name="TextBox 8">
                <a:extLst>
                  <a:ext uri="{FF2B5EF4-FFF2-40B4-BE49-F238E27FC236}">
                    <a16:creationId xmlns:a16="http://schemas.microsoft.com/office/drawing/2014/main" id="{988EC8DF-7972-4C33-A7C9-39099CACB2AF}"/>
                  </a:ext>
                </a:extLst>
              </p:cNvPr>
              <p:cNvSpPr txBox="1"/>
              <p:nvPr/>
            </p:nvSpPr>
            <p:spPr>
              <a:xfrm>
                <a:off x="5582167" y="2532807"/>
                <a:ext cx="5573513" cy="891719"/>
              </a:xfrm>
              <a:prstGeom prst="rect">
                <a:avLst/>
              </a:prstGeom>
              <a:noFill/>
            </p:spPr>
            <p:txBody>
              <a:bodyPr wrap="none" lIns="0" tIns="0" rIns="0" bIns="0" rtlCol="0">
                <a:spAutoFit/>
              </a:bodyPr>
              <a:lstStyle/>
              <a:p>
                <a:pPr/>
                <a14:m>
                  <m:oMathPara xmlns:m="http://schemas.openxmlformats.org/officeDocument/2006/math">
                    <m:oMathParaPr>
                      <m:jc m:val="centerGroup"/>
                    </m:oMathParaPr>
                    <m:oMath xmlns:m="http://schemas.openxmlformats.org/officeDocument/2006/math">
                      <m:r>
                        <a:rPr lang="en-US" b="0" i="1" smtClean="0">
                          <a:latin typeface="Cambria Math" panose="02040503050406030204" pitchFamily="18" charset="0"/>
                        </a:rPr>
                        <m:t>𝑃</m:t>
                      </m:r>
                      <m:d>
                        <m:dPr>
                          <m:ctrlPr>
                            <a:rPr lang="en-US" b="0" i="1" smtClean="0">
                              <a:latin typeface="Cambria Math" panose="02040503050406030204" pitchFamily="18" charset="0"/>
                            </a:rPr>
                          </m:ctrlPr>
                        </m:dPr>
                        <m:e>
                          <m:r>
                            <a:rPr lang="en-US" b="0" i="1" smtClean="0">
                              <a:latin typeface="Cambria Math" panose="02040503050406030204" pitchFamily="18" charset="0"/>
                            </a:rPr>
                            <m:t>𝑇</m:t>
                          </m:r>
                          <m:r>
                            <a:rPr lang="en-US" b="0" i="1" smtClean="0">
                              <a:latin typeface="Cambria Math" panose="02040503050406030204" pitchFamily="18" charset="0"/>
                            </a:rPr>
                            <m:t>≤</m:t>
                          </m:r>
                          <m:r>
                            <a:rPr lang="en-US" b="0" i="1" smtClean="0">
                              <a:latin typeface="Cambria Math" panose="02040503050406030204" pitchFamily="18" charset="0"/>
                            </a:rPr>
                            <m:t>𝐸</m:t>
                          </m:r>
                        </m:e>
                      </m:d>
                      <m:r>
                        <a:rPr lang="en-US" b="0" i="1" smtClean="0">
                          <a:latin typeface="Cambria Math" panose="02040503050406030204" pitchFamily="18" charset="0"/>
                        </a:rPr>
                        <m:t>→0≤</m:t>
                      </m:r>
                      <m:r>
                        <a:rPr lang="en-US" b="0" i="1" smtClean="0">
                          <a:latin typeface="Cambria Math" panose="02040503050406030204" pitchFamily="18" charset="0"/>
                        </a:rPr>
                        <m:t>𝑡</m:t>
                      </m:r>
                      <m:r>
                        <a:rPr lang="en-US" b="0" i="1" smtClean="0">
                          <a:latin typeface="Cambria Math" panose="02040503050406030204" pitchFamily="18" charset="0"/>
                        </a:rPr>
                        <m:t>≤</m:t>
                      </m:r>
                      <m:r>
                        <a:rPr lang="en-US" b="0" i="1" smtClean="0">
                          <a:latin typeface="Cambria Math" panose="02040503050406030204" pitchFamily="18" charset="0"/>
                          <a:ea typeface="Cambria Math" panose="02040503050406030204" pitchFamily="18" charset="0"/>
                        </a:rPr>
                        <m:t>𝜏</m:t>
                      </m:r>
                      <m:r>
                        <a:rPr lang="en-US" b="0" i="1" smtClean="0">
                          <a:latin typeface="Cambria Math" panose="02040503050406030204" pitchFamily="18" charset="0"/>
                          <a:ea typeface="Cambria Math" panose="02040503050406030204" pitchFamily="18" charset="0"/>
                        </a:rPr>
                        <m:t>&lt;∞→</m:t>
                      </m:r>
                      <m:nary>
                        <m:naryPr>
                          <m:limLoc m:val="undOvr"/>
                          <m:ctrlPr>
                            <a:rPr lang="en-US" b="0" i="1" smtClean="0">
                              <a:latin typeface="Cambria Math" panose="02040503050406030204" pitchFamily="18" charset="0"/>
                              <a:ea typeface="Cambria Math" panose="02040503050406030204" pitchFamily="18" charset="0"/>
                            </a:rPr>
                          </m:ctrlPr>
                        </m:naryPr>
                        <m:sub>
                          <m:r>
                            <m:rPr>
                              <m:brk m:alnAt="24"/>
                            </m:rPr>
                            <a:rPr lang="en-US" b="0" i="1" smtClean="0">
                              <a:latin typeface="Cambria Math" panose="02040503050406030204" pitchFamily="18" charset="0"/>
                              <a:ea typeface="Cambria Math" panose="02040503050406030204" pitchFamily="18" charset="0"/>
                            </a:rPr>
                            <m:t>0</m:t>
                          </m:r>
                        </m:sub>
                        <m:sup>
                          <m:r>
                            <a:rPr lang="en-US" b="0" i="1" smtClean="0">
                              <a:latin typeface="Cambria Math" panose="02040503050406030204" pitchFamily="18" charset="0"/>
                              <a:ea typeface="Cambria Math" panose="02040503050406030204" pitchFamily="18" charset="0"/>
                            </a:rPr>
                            <m:t>∞</m:t>
                          </m:r>
                        </m:sup>
                        <m:e>
                          <m:sSub>
                            <m:sSubPr>
                              <m:ctrlPr>
                                <a:rPr lang="en-US" b="0" i="1" smtClean="0">
                                  <a:latin typeface="Cambria Math" panose="02040503050406030204" pitchFamily="18" charset="0"/>
                                  <a:ea typeface="Cambria Math" panose="02040503050406030204" pitchFamily="18" charset="0"/>
                                </a:rPr>
                              </m:ctrlPr>
                            </m:sSubPr>
                            <m:e>
                              <m:r>
                                <a:rPr lang="en-US" b="0" i="1" smtClean="0">
                                  <a:latin typeface="Cambria Math" panose="02040503050406030204" pitchFamily="18" charset="0"/>
                                  <a:ea typeface="Cambria Math" panose="02040503050406030204" pitchFamily="18" charset="0"/>
                                </a:rPr>
                                <m:t>𝑓</m:t>
                              </m:r>
                            </m:e>
                            <m:sub>
                              <m:r>
                                <a:rPr lang="en-US" b="0" i="1" smtClean="0">
                                  <a:latin typeface="Cambria Math" panose="02040503050406030204" pitchFamily="18" charset="0"/>
                                  <a:ea typeface="Cambria Math" panose="02040503050406030204" pitchFamily="18" charset="0"/>
                                </a:rPr>
                                <m:t>𝑇</m:t>
                              </m:r>
                            </m:sub>
                          </m:sSub>
                          <m:d>
                            <m:dPr>
                              <m:ctrlPr>
                                <a:rPr lang="en-US" b="0" i="1" smtClean="0">
                                  <a:latin typeface="Cambria Math" panose="02040503050406030204" pitchFamily="18" charset="0"/>
                                  <a:ea typeface="Cambria Math" panose="02040503050406030204" pitchFamily="18" charset="0"/>
                                </a:rPr>
                              </m:ctrlPr>
                            </m:dPr>
                            <m:e>
                              <m:r>
                                <a:rPr lang="en-US" b="0" i="1" smtClean="0">
                                  <a:latin typeface="Cambria Math" panose="02040503050406030204" pitchFamily="18" charset="0"/>
                                  <a:ea typeface="Cambria Math" panose="02040503050406030204" pitchFamily="18" charset="0"/>
                                </a:rPr>
                                <m:t>𝑡</m:t>
                              </m:r>
                            </m:e>
                          </m:d>
                          <m:d>
                            <m:dPr>
                              <m:ctrlPr>
                                <a:rPr lang="en-US" b="0" i="1" smtClean="0">
                                  <a:latin typeface="Cambria Math" panose="02040503050406030204" pitchFamily="18" charset="0"/>
                                  <a:ea typeface="Cambria Math" panose="02040503050406030204" pitchFamily="18" charset="0"/>
                                </a:rPr>
                              </m:ctrlPr>
                            </m:dPr>
                            <m:e>
                              <m:nary>
                                <m:naryPr>
                                  <m:limLoc m:val="undOvr"/>
                                  <m:ctrlPr>
                                    <a:rPr lang="en-US" i="1">
                                      <a:latin typeface="Cambria Math" panose="02040503050406030204" pitchFamily="18" charset="0"/>
                                      <a:ea typeface="Cambria Math" panose="02040503050406030204" pitchFamily="18" charset="0"/>
                                    </a:rPr>
                                  </m:ctrlPr>
                                </m:naryPr>
                                <m:sub>
                                  <m:r>
                                    <m:rPr>
                                      <m:brk m:alnAt="24"/>
                                    </m:rPr>
                                    <a:rPr lang="en-US" i="1">
                                      <a:latin typeface="Cambria Math" panose="02040503050406030204" pitchFamily="18" charset="0"/>
                                      <a:ea typeface="Cambria Math" panose="02040503050406030204" pitchFamily="18" charset="0"/>
                                    </a:rPr>
                                    <m:t>𝜏</m:t>
                                  </m:r>
                                </m:sub>
                                <m:sup>
                                  <m:r>
                                    <a:rPr lang="en-US" i="1">
                                      <a:latin typeface="Cambria Math" panose="02040503050406030204" pitchFamily="18" charset="0"/>
                                      <a:ea typeface="Cambria Math" panose="02040503050406030204" pitchFamily="18" charset="0"/>
                                    </a:rPr>
                                    <m:t>∞</m:t>
                                  </m:r>
                                </m:sup>
                                <m:e>
                                  <m:sSub>
                                    <m:sSubPr>
                                      <m:ctrlPr>
                                        <a:rPr lang="en-US" i="1">
                                          <a:latin typeface="Cambria Math" panose="02040503050406030204" pitchFamily="18" charset="0"/>
                                          <a:ea typeface="Cambria Math" panose="02040503050406030204" pitchFamily="18" charset="0"/>
                                        </a:rPr>
                                      </m:ctrlPr>
                                    </m:sSubPr>
                                    <m:e>
                                      <m:r>
                                        <a:rPr lang="en-US" i="1">
                                          <a:latin typeface="Cambria Math" panose="02040503050406030204" pitchFamily="18" charset="0"/>
                                          <a:ea typeface="Cambria Math" panose="02040503050406030204" pitchFamily="18" charset="0"/>
                                        </a:rPr>
                                        <m:t>𝑓</m:t>
                                      </m:r>
                                    </m:e>
                                    <m:sub>
                                      <m:r>
                                        <a:rPr lang="en-US" i="1">
                                          <a:latin typeface="Cambria Math" panose="02040503050406030204" pitchFamily="18" charset="0"/>
                                          <a:ea typeface="Cambria Math" panose="02040503050406030204" pitchFamily="18" charset="0"/>
                                        </a:rPr>
                                        <m:t>𝐸</m:t>
                                      </m:r>
                                    </m:sub>
                                  </m:sSub>
                                  <m:d>
                                    <m:dPr>
                                      <m:ctrlPr>
                                        <a:rPr lang="en-US" i="1">
                                          <a:latin typeface="Cambria Math" panose="02040503050406030204" pitchFamily="18" charset="0"/>
                                          <a:ea typeface="Cambria Math" panose="02040503050406030204" pitchFamily="18" charset="0"/>
                                        </a:rPr>
                                      </m:ctrlPr>
                                    </m:dPr>
                                    <m:e>
                                      <m:r>
                                        <a:rPr lang="en-US" i="1">
                                          <a:latin typeface="Cambria Math" panose="02040503050406030204" pitchFamily="18" charset="0"/>
                                          <a:ea typeface="Cambria Math" panose="02040503050406030204" pitchFamily="18" charset="0"/>
                                        </a:rPr>
                                        <m:t>𝜎</m:t>
                                      </m:r>
                                    </m:e>
                                  </m:d>
                                  <m:r>
                                    <a:rPr lang="en-US" i="1">
                                      <a:latin typeface="Cambria Math" panose="02040503050406030204" pitchFamily="18" charset="0"/>
                                      <a:ea typeface="Cambria Math" panose="02040503050406030204" pitchFamily="18" charset="0"/>
                                    </a:rPr>
                                    <m:t>𝑑</m:t>
                                  </m:r>
                                  <m:r>
                                    <a:rPr lang="en-US" i="1">
                                      <a:latin typeface="Cambria Math" panose="02040503050406030204" pitchFamily="18" charset="0"/>
                                      <a:ea typeface="Cambria Math" panose="02040503050406030204" pitchFamily="18" charset="0"/>
                                    </a:rPr>
                                    <m:t>𝜎</m:t>
                                  </m:r>
                                </m:e>
                              </m:nary>
                            </m:e>
                          </m:d>
                        </m:e>
                      </m:nary>
                      <m:r>
                        <a:rPr lang="en-US" b="0" i="1" smtClean="0">
                          <a:latin typeface="Cambria Math" panose="02040503050406030204" pitchFamily="18" charset="0"/>
                          <a:ea typeface="Cambria Math" panose="02040503050406030204" pitchFamily="18" charset="0"/>
                        </a:rPr>
                        <m:t>𝑑𝑡</m:t>
                      </m:r>
                      <m:r>
                        <a:rPr lang="en-US" b="0" i="1" smtClean="0">
                          <a:latin typeface="Cambria Math" panose="02040503050406030204" pitchFamily="18" charset="0"/>
                          <a:ea typeface="Cambria Math" panose="02040503050406030204" pitchFamily="18" charset="0"/>
                        </a:rPr>
                        <m:t>,</m:t>
                      </m:r>
                    </m:oMath>
                  </m:oMathPara>
                </a14:m>
                <a:endParaRPr lang="en-US" dirty="0"/>
              </a:p>
            </p:txBody>
          </p:sp>
        </mc:Choice>
        <mc:Fallback xmlns="">
          <p:sp>
            <p:nvSpPr>
              <p:cNvPr id="9" name="TextBox 8">
                <a:extLst>
                  <a:ext uri="{FF2B5EF4-FFF2-40B4-BE49-F238E27FC236}">
                    <a16:creationId xmlns:a16="http://schemas.microsoft.com/office/drawing/2014/main" id="{988EC8DF-7972-4C33-A7C9-39099CACB2AF}"/>
                  </a:ext>
                </a:extLst>
              </p:cNvPr>
              <p:cNvSpPr txBox="1">
                <a:spLocks noRot="1" noChangeAspect="1" noMove="1" noResize="1" noEditPoints="1" noAdjustHandles="1" noChangeArrowheads="1" noChangeShapeType="1" noTextEdit="1"/>
              </p:cNvSpPr>
              <p:nvPr/>
            </p:nvSpPr>
            <p:spPr>
              <a:xfrm>
                <a:off x="5582167" y="2532807"/>
                <a:ext cx="5573513" cy="891719"/>
              </a:xfrm>
              <a:prstGeom prst="rect">
                <a:avLst/>
              </a:prstGeom>
              <a:blipFill>
                <a:blip r:embed="rId6"/>
                <a:stretch>
                  <a:fillRect/>
                </a:stretch>
              </a:blipFill>
            </p:spPr>
            <p:txBody>
              <a:bodyPr/>
              <a:lstStyle/>
              <a:p>
                <a:r>
                  <a:rPr lang="en-US">
                    <a:noFill/>
                  </a:rPr>
                  <a:t> </a:t>
                </a:r>
              </a:p>
            </p:txBody>
          </p:sp>
        </mc:Fallback>
      </mc:AlternateContent>
      <mc:AlternateContent xmlns:mc="http://schemas.openxmlformats.org/markup-compatibility/2006" xmlns:a14="http://schemas.microsoft.com/office/drawing/2010/main">
        <mc:Choice Requires="a14">
          <p:sp>
            <p:nvSpPr>
              <p:cNvPr id="11" name="TextBox 10">
                <a:extLst>
                  <a:ext uri="{FF2B5EF4-FFF2-40B4-BE49-F238E27FC236}">
                    <a16:creationId xmlns:a16="http://schemas.microsoft.com/office/drawing/2014/main" id="{8D35DAED-39F9-4A00-A714-2032D16ABCE4}"/>
                  </a:ext>
                </a:extLst>
              </p:cNvPr>
              <p:cNvSpPr txBox="1"/>
              <p:nvPr/>
            </p:nvSpPr>
            <p:spPr>
              <a:xfrm>
                <a:off x="7231176" y="3327433"/>
                <a:ext cx="2381970" cy="903389"/>
              </a:xfrm>
              <a:prstGeom prst="rect">
                <a:avLst/>
              </a:prstGeom>
              <a:noFill/>
            </p:spPr>
            <p:txBody>
              <a:bodyPr wrap="square">
                <a:spAutoFit/>
              </a:bodyPr>
              <a:lstStyle/>
              <a:p>
                <a:pPr/>
                <a14:m>
                  <m:oMathPara xmlns:m="http://schemas.openxmlformats.org/officeDocument/2006/math">
                    <m:oMathParaPr>
                      <m:jc m:val="centerGroup"/>
                    </m:oMathParaPr>
                    <m:oMath xmlns:m="http://schemas.openxmlformats.org/officeDocument/2006/math">
                      <m:nary>
                        <m:naryPr>
                          <m:limLoc m:val="undOvr"/>
                          <m:ctrlPr>
                            <a:rPr lang="en-US" i="1">
                              <a:latin typeface="Cambria Math" panose="02040503050406030204" pitchFamily="18" charset="0"/>
                              <a:ea typeface="Cambria Math" panose="02040503050406030204" pitchFamily="18" charset="0"/>
                            </a:rPr>
                          </m:ctrlPr>
                        </m:naryPr>
                        <m:sub>
                          <m:r>
                            <m:rPr>
                              <m:brk m:alnAt="24"/>
                            </m:rPr>
                            <a:rPr lang="en-US" i="1">
                              <a:latin typeface="Cambria Math" panose="02040503050406030204" pitchFamily="18" charset="0"/>
                              <a:ea typeface="Cambria Math" panose="02040503050406030204" pitchFamily="18" charset="0"/>
                            </a:rPr>
                            <m:t>𝜏</m:t>
                          </m:r>
                        </m:sub>
                        <m:sup>
                          <m:r>
                            <a:rPr lang="en-US" i="1">
                              <a:latin typeface="Cambria Math" panose="02040503050406030204" pitchFamily="18" charset="0"/>
                              <a:ea typeface="Cambria Math" panose="02040503050406030204" pitchFamily="18" charset="0"/>
                            </a:rPr>
                            <m:t>∞</m:t>
                          </m:r>
                        </m:sup>
                        <m:e>
                          <m:sSub>
                            <m:sSubPr>
                              <m:ctrlPr>
                                <a:rPr lang="en-US" i="1">
                                  <a:latin typeface="Cambria Math" panose="02040503050406030204" pitchFamily="18" charset="0"/>
                                  <a:ea typeface="Cambria Math" panose="02040503050406030204" pitchFamily="18" charset="0"/>
                                </a:rPr>
                              </m:ctrlPr>
                            </m:sSubPr>
                            <m:e>
                              <m:r>
                                <a:rPr lang="en-US" i="1">
                                  <a:latin typeface="Cambria Math" panose="02040503050406030204" pitchFamily="18" charset="0"/>
                                  <a:ea typeface="Cambria Math" panose="02040503050406030204" pitchFamily="18" charset="0"/>
                                </a:rPr>
                                <m:t>𝑓</m:t>
                              </m:r>
                            </m:e>
                            <m:sub>
                              <m:r>
                                <a:rPr lang="en-US" i="1">
                                  <a:latin typeface="Cambria Math" panose="02040503050406030204" pitchFamily="18" charset="0"/>
                                  <a:ea typeface="Cambria Math" panose="02040503050406030204" pitchFamily="18" charset="0"/>
                                </a:rPr>
                                <m:t>𝐸</m:t>
                              </m:r>
                            </m:sub>
                          </m:sSub>
                          <m:d>
                            <m:dPr>
                              <m:ctrlPr>
                                <a:rPr lang="en-US" i="1">
                                  <a:latin typeface="Cambria Math" panose="02040503050406030204" pitchFamily="18" charset="0"/>
                                  <a:ea typeface="Cambria Math" panose="02040503050406030204" pitchFamily="18" charset="0"/>
                                </a:rPr>
                              </m:ctrlPr>
                            </m:dPr>
                            <m:e>
                              <m:r>
                                <a:rPr lang="en-US" i="1">
                                  <a:latin typeface="Cambria Math" panose="02040503050406030204" pitchFamily="18" charset="0"/>
                                  <a:ea typeface="Cambria Math" panose="02040503050406030204" pitchFamily="18" charset="0"/>
                                </a:rPr>
                                <m:t>𝜎</m:t>
                              </m:r>
                            </m:e>
                          </m:d>
                          <m:r>
                            <a:rPr lang="en-US" i="1">
                              <a:latin typeface="Cambria Math" panose="02040503050406030204" pitchFamily="18" charset="0"/>
                              <a:ea typeface="Cambria Math" panose="02040503050406030204" pitchFamily="18" charset="0"/>
                            </a:rPr>
                            <m:t>𝑑</m:t>
                          </m:r>
                          <m:r>
                            <a:rPr lang="en-US" i="1">
                              <a:latin typeface="Cambria Math" panose="02040503050406030204" pitchFamily="18" charset="0"/>
                              <a:ea typeface="Cambria Math" panose="02040503050406030204" pitchFamily="18" charset="0"/>
                            </a:rPr>
                            <m:t>𝜎</m:t>
                          </m:r>
                        </m:e>
                      </m:nary>
                      <m:r>
                        <a:rPr lang="en-US" sz="1800" b="0" i="1" smtClean="0">
                          <a:latin typeface="Cambria Math" panose="02040503050406030204" pitchFamily="18" charset="0"/>
                          <a:ea typeface="Cambria Math" panose="02040503050406030204" pitchFamily="18" charset="0"/>
                        </a:rPr>
                        <m:t>=</m:t>
                      </m:r>
                      <m:sSup>
                        <m:sSupPr>
                          <m:ctrlPr>
                            <a:rPr lang="el-GR" i="1">
                              <a:latin typeface="Cambria Math" panose="02040503050406030204" pitchFamily="18" charset="0"/>
                              <a:ea typeface="Cambria Math" panose="02040503050406030204" pitchFamily="18" charset="0"/>
                            </a:rPr>
                          </m:ctrlPr>
                        </m:sSupPr>
                        <m:e>
                          <m:r>
                            <a:rPr lang="en-US" i="1">
                              <a:latin typeface="Cambria Math" panose="02040503050406030204" pitchFamily="18" charset="0"/>
                              <a:ea typeface="Cambria Math" panose="02040503050406030204" pitchFamily="18" charset="0"/>
                            </a:rPr>
                            <m:t>𝑒</m:t>
                          </m:r>
                        </m:e>
                        <m:sup>
                          <m:r>
                            <a:rPr lang="en-US" i="1">
                              <a:latin typeface="Cambria Math" panose="02040503050406030204" pitchFamily="18" charset="0"/>
                              <a:ea typeface="Cambria Math" panose="02040503050406030204" pitchFamily="18" charset="0"/>
                            </a:rPr>
                            <m:t>−</m:t>
                          </m:r>
                          <m:sSub>
                            <m:sSubPr>
                              <m:ctrlPr>
                                <a:rPr lang="en-US" i="1">
                                  <a:latin typeface="Cambria Math" panose="02040503050406030204" pitchFamily="18" charset="0"/>
                                </a:rPr>
                              </m:ctrlPr>
                            </m:sSubPr>
                            <m:e>
                              <m:r>
                                <a:rPr lang="en-US" i="1">
                                  <a:latin typeface="Cambria Math" panose="02040503050406030204" pitchFamily="18" charset="0"/>
                                  <a:ea typeface="Cambria Math" panose="02040503050406030204" pitchFamily="18" charset="0"/>
                                </a:rPr>
                                <m:t>𝜇</m:t>
                              </m:r>
                            </m:e>
                            <m:sub>
                              <m:r>
                                <a:rPr lang="en-US" i="1">
                                  <a:latin typeface="Cambria Math" panose="02040503050406030204" pitchFamily="18" charset="0"/>
                                </a:rPr>
                                <m:t>𝐷</m:t>
                              </m:r>
                            </m:sub>
                          </m:sSub>
                          <m:r>
                            <a:rPr lang="en-US" i="1">
                              <a:latin typeface="Cambria Math" panose="02040503050406030204" pitchFamily="18" charset="0"/>
                              <a:ea typeface="Cambria Math" panose="02040503050406030204" pitchFamily="18" charset="0"/>
                            </a:rPr>
                            <m:t>(</m:t>
                          </m:r>
                          <m:r>
                            <a:rPr lang="en-US" i="1">
                              <a:latin typeface="Cambria Math" panose="02040503050406030204" pitchFamily="18" charset="0"/>
                              <a:ea typeface="Cambria Math" panose="02040503050406030204" pitchFamily="18" charset="0"/>
                            </a:rPr>
                            <m:t>𝜎</m:t>
                          </m:r>
                          <m:r>
                            <a:rPr lang="en-US" i="1">
                              <a:latin typeface="Cambria Math" panose="02040503050406030204" pitchFamily="18" charset="0"/>
                              <a:ea typeface="Cambria Math" panose="02040503050406030204" pitchFamily="18" charset="0"/>
                            </a:rPr>
                            <m:t>)</m:t>
                          </m:r>
                        </m:sup>
                      </m:sSup>
                    </m:oMath>
                  </m:oMathPara>
                </a14:m>
                <a:endParaRPr lang="en-US" dirty="0"/>
              </a:p>
            </p:txBody>
          </p:sp>
        </mc:Choice>
        <mc:Fallback xmlns="">
          <p:sp>
            <p:nvSpPr>
              <p:cNvPr id="11" name="TextBox 10">
                <a:extLst>
                  <a:ext uri="{FF2B5EF4-FFF2-40B4-BE49-F238E27FC236}">
                    <a16:creationId xmlns:a16="http://schemas.microsoft.com/office/drawing/2014/main" id="{8D35DAED-39F9-4A00-A714-2032D16ABCE4}"/>
                  </a:ext>
                </a:extLst>
              </p:cNvPr>
              <p:cNvSpPr txBox="1">
                <a:spLocks noRot="1" noChangeAspect="1" noMove="1" noResize="1" noEditPoints="1" noAdjustHandles="1" noChangeArrowheads="1" noChangeShapeType="1" noTextEdit="1"/>
              </p:cNvSpPr>
              <p:nvPr/>
            </p:nvSpPr>
            <p:spPr>
              <a:xfrm>
                <a:off x="7231176" y="3327433"/>
                <a:ext cx="2381970" cy="903389"/>
              </a:xfrm>
              <a:prstGeom prst="rect">
                <a:avLst/>
              </a:prstGeom>
              <a:blipFill>
                <a:blip r:embed="rId7"/>
                <a:stretch>
                  <a:fillRect/>
                </a:stretch>
              </a:blipFill>
            </p:spPr>
            <p:txBody>
              <a:bodyPr/>
              <a:lstStyle/>
              <a:p>
                <a:r>
                  <a:rPr lang="en-US">
                    <a:noFill/>
                  </a:rPr>
                  <a:t> </a:t>
                </a:r>
              </a:p>
            </p:txBody>
          </p:sp>
        </mc:Fallback>
      </mc:AlternateContent>
      <mc:AlternateContent xmlns:mc="http://schemas.openxmlformats.org/markup-compatibility/2006" xmlns:a14="http://schemas.microsoft.com/office/drawing/2010/main">
        <mc:Choice Requires="a14">
          <p:sp>
            <p:nvSpPr>
              <p:cNvPr id="12" name="TextBox 11">
                <a:extLst>
                  <a:ext uri="{FF2B5EF4-FFF2-40B4-BE49-F238E27FC236}">
                    <a16:creationId xmlns:a16="http://schemas.microsoft.com/office/drawing/2014/main" id="{323271B5-B42D-4C4C-A2FB-A65052974012}"/>
                  </a:ext>
                </a:extLst>
              </p:cNvPr>
              <p:cNvSpPr txBox="1"/>
              <p:nvPr/>
            </p:nvSpPr>
            <p:spPr>
              <a:xfrm>
                <a:off x="5769641" y="4754259"/>
                <a:ext cx="5889754" cy="1261371"/>
              </a:xfrm>
              <a:prstGeom prst="rect">
                <a:avLst/>
              </a:prstGeom>
              <a:noFill/>
            </p:spPr>
            <p:txBody>
              <a:bodyPr wrap="none" lIns="0" tIns="0" rIns="0" bIns="0" rtlCol="0">
                <a:spAutoFit/>
              </a:bodyPr>
              <a:lstStyle/>
              <a:p>
                <a:pPr/>
                <a14:m>
                  <m:oMathPara xmlns:m="http://schemas.openxmlformats.org/officeDocument/2006/math">
                    <m:oMathParaPr>
                      <m:jc m:val="centerGroup"/>
                    </m:oMathParaPr>
                    <m:oMath xmlns:m="http://schemas.openxmlformats.org/officeDocument/2006/math">
                      <m:sSub>
                        <m:sSubPr>
                          <m:ctrlPr>
                            <a:rPr lang="en-US" sz="2800" b="1" i="1" smtClean="0">
                              <a:latin typeface="Cambria Math" panose="02040503050406030204" pitchFamily="18" charset="0"/>
                            </a:rPr>
                          </m:ctrlPr>
                        </m:sSubPr>
                        <m:e>
                          <m:r>
                            <a:rPr lang="en-US" sz="2800" b="1" i="1" smtClean="0">
                              <a:latin typeface="Cambria Math" panose="02040503050406030204" pitchFamily="18" charset="0"/>
                            </a:rPr>
                            <m:t>𝑷</m:t>
                          </m:r>
                        </m:e>
                        <m:sub>
                          <m:r>
                            <a:rPr lang="en-US" sz="2800" b="1" i="1" smtClean="0">
                              <a:latin typeface="Cambria Math" panose="02040503050406030204" pitchFamily="18" charset="0"/>
                            </a:rPr>
                            <m:t>𝑬𝑶𝑼𝑻</m:t>
                          </m:r>
                        </m:sub>
                      </m:sSub>
                      <m:d>
                        <m:dPr>
                          <m:ctrlPr>
                            <a:rPr lang="en-US" sz="2800" b="1" i="1" smtClean="0">
                              <a:latin typeface="Cambria Math" panose="02040503050406030204" pitchFamily="18" charset="0"/>
                            </a:rPr>
                          </m:ctrlPr>
                        </m:dPr>
                        <m:e>
                          <m:r>
                            <a:rPr lang="en-US" sz="2800" b="1" i="1" smtClean="0">
                              <a:latin typeface="Cambria Math" panose="02040503050406030204" pitchFamily="18" charset="0"/>
                            </a:rPr>
                            <m:t>𝑲</m:t>
                          </m:r>
                          <m:r>
                            <a:rPr lang="en-US" sz="2800" b="1" i="1" smtClean="0">
                              <a:latin typeface="Cambria Math" panose="02040503050406030204" pitchFamily="18" charset="0"/>
                            </a:rPr>
                            <m:t>,</m:t>
                          </m:r>
                          <m:r>
                            <a:rPr lang="en-US" sz="2800" b="1" i="1" smtClean="0">
                              <a:latin typeface="Cambria Math" panose="02040503050406030204" pitchFamily="18" charset="0"/>
                            </a:rPr>
                            <m:t>𝑯</m:t>
                          </m:r>
                        </m:e>
                      </m:d>
                      <m:r>
                        <a:rPr lang="en-US" sz="2800" b="1" i="1" smtClean="0">
                          <a:latin typeface="Cambria Math" panose="02040503050406030204" pitchFamily="18" charset="0"/>
                        </a:rPr>
                        <m:t>=</m:t>
                      </m:r>
                      <m:r>
                        <a:rPr lang="en-US" sz="2800" b="1" i="1" smtClean="0">
                          <a:latin typeface="Cambria Math" panose="02040503050406030204" pitchFamily="18" charset="0"/>
                        </a:rPr>
                        <m:t>𝟏</m:t>
                      </m:r>
                      <m:r>
                        <a:rPr lang="en-US" sz="2800" b="1" i="1" smtClean="0">
                          <a:latin typeface="Cambria Math" panose="02040503050406030204" pitchFamily="18" charset="0"/>
                        </a:rPr>
                        <m:t>−</m:t>
                      </m:r>
                      <m:nary>
                        <m:naryPr>
                          <m:limLoc m:val="undOvr"/>
                          <m:ctrlPr>
                            <a:rPr lang="en-US" sz="2800" b="1" i="1" smtClean="0">
                              <a:latin typeface="Cambria Math" panose="02040503050406030204" pitchFamily="18" charset="0"/>
                            </a:rPr>
                          </m:ctrlPr>
                        </m:naryPr>
                        <m:sub>
                          <m:r>
                            <m:rPr>
                              <m:brk m:alnAt="24"/>
                            </m:rPr>
                            <a:rPr lang="en-US" sz="2800" b="1" i="1" smtClean="0">
                              <a:latin typeface="Cambria Math" panose="02040503050406030204" pitchFamily="18" charset="0"/>
                            </a:rPr>
                            <m:t>𝟎</m:t>
                          </m:r>
                        </m:sub>
                        <m:sup>
                          <m:r>
                            <a:rPr lang="en-US" sz="2800" b="1" i="1" smtClean="0">
                              <a:latin typeface="Cambria Math" panose="02040503050406030204" pitchFamily="18" charset="0"/>
                              <a:ea typeface="Cambria Math" panose="02040503050406030204" pitchFamily="18" charset="0"/>
                            </a:rPr>
                            <m:t>∞</m:t>
                          </m:r>
                        </m:sup>
                        <m:e>
                          <m:sSup>
                            <m:sSupPr>
                              <m:ctrlPr>
                                <a:rPr lang="el-GR" sz="2800" b="1" i="1">
                                  <a:latin typeface="Cambria Math" panose="02040503050406030204" pitchFamily="18" charset="0"/>
                                  <a:ea typeface="Cambria Math" panose="02040503050406030204" pitchFamily="18" charset="0"/>
                                </a:rPr>
                              </m:ctrlPr>
                            </m:sSupPr>
                            <m:e>
                              <m:r>
                                <a:rPr lang="en-US" sz="2800" b="1" i="1">
                                  <a:latin typeface="Cambria Math" panose="02040503050406030204" pitchFamily="18" charset="0"/>
                                  <a:ea typeface="Cambria Math" panose="02040503050406030204" pitchFamily="18" charset="0"/>
                                </a:rPr>
                                <m:t>𝒆</m:t>
                              </m:r>
                            </m:e>
                            <m:sup>
                              <m:r>
                                <a:rPr lang="en-US" sz="2800" b="1" i="1">
                                  <a:latin typeface="Cambria Math" panose="02040503050406030204" pitchFamily="18" charset="0"/>
                                  <a:ea typeface="Cambria Math" panose="02040503050406030204" pitchFamily="18" charset="0"/>
                                </a:rPr>
                                <m:t>−</m:t>
                              </m:r>
                              <m:sSub>
                                <m:sSubPr>
                                  <m:ctrlPr>
                                    <a:rPr lang="en-US" sz="2800" b="1" i="1">
                                      <a:latin typeface="Cambria Math" panose="02040503050406030204" pitchFamily="18" charset="0"/>
                                    </a:rPr>
                                  </m:ctrlPr>
                                </m:sSubPr>
                                <m:e>
                                  <m:r>
                                    <a:rPr lang="en-US" sz="2800" b="1" i="1">
                                      <a:latin typeface="Cambria Math" panose="02040503050406030204" pitchFamily="18" charset="0"/>
                                      <a:ea typeface="Cambria Math" panose="02040503050406030204" pitchFamily="18" charset="0"/>
                                    </a:rPr>
                                    <m:t>𝝁</m:t>
                                  </m:r>
                                </m:e>
                                <m:sub>
                                  <m:r>
                                    <a:rPr lang="en-US" sz="2800" b="1" i="1">
                                      <a:latin typeface="Cambria Math" panose="02040503050406030204" pitchFamily="18" charset="0"/>
                                    </a:rPr>
                                    <m:t>𝑫</m:t>
                                  </m:r>
                                </m:sub>
                              </m:sSub>
                              <m:r>
                                <a:rPr lang="en-US" sz="2800" b="1" i="1">
                                  <a:latin typeface="Cambria Math" panose="02040503050406030204" pitchFamily="18" charset="0"/>
                                  <a:ea typeface="Cambria Math" panose="02040503050406030204" pitchFamily="18" charset="0"/>
                                </a:rPr>
                                <m:t>(</m:t>
                              </m:r>
                              <m:r>
                                <a:rPr lang="en-US" sz="2800" b="1" i="1">
                                  <a:latin typeface="Cambria Math" panose="02040503050406030204" pitchFamily="18" charset="0"/>
                                  <a:ea typeface="Cambria Math" panose="02040503050406030204" pitchFamily="18" charset="0"/>
                                </a:rPr>
                                <m:t>𝝈</m:t>
                              </m:r>
                              <m:r>
                                <a:rPr lang="en-US" sz="2800" b="1" i="1">
                                  <a:latin typeface="Cambria Math" panose="02040503050406030204" pitchFamily="18" charset="0"/>
                                  <a:ea typeface="Cambria Math" panose="02040503050406030204" pitchFamily="18" charset="0"/>
                                </a:rPr>
                                <m:t>)</m:t>
                              </m:r>
                            </m:sup>
                          </m:sSup>
                          <m:sSub>
                            <m:sSubPr>
                              <m:ctrlPr>
                                <a:rPr lang="en-US" sz="2800" b="1" i="1">
                                  <a:latin typeface="Cambria Math" panose="02040503050406030204" pitchFamily="18" charset="0"/>
                                  <a:ea typeface="Cambria Math" panose="02040503050406030204" pitchFamily="18" charset="0"/>
                                </a:rPr>
                              </m:ctrlPr>
                            </m:sSubPr>
                            <m:e>
                              <m:r>
                                <a:rPr lang="en-US" sz="2800" b="1" i="1">
                                  <a:latin typeface="Cambria Math" panose="02040503050406030204" pitchFamily="18" charset="0"/>
                                  <a:ea typeface="Cambria Math" panose="02040503050406030204" pitchFamily="18" charset="0"/>
                                </a:rPr>
                                <m:t>𝒇</m:t>
                              </m:r>
                            </m:e>
                            <m:sub>
                              <m:r>
                                <a:rPr lang="en-US" sz="2800" b="1" i="1">
                                  <a:latin typeface="Cambria Math" panose="02040503050406030204" pitchFamily="18" charset="0"/>
                                  <a:ea typeface="Cambria Math" panose="02040503050406030204" pitchFamily="18" charset="0"/>
                                </a:rPr>
                                <m:t>𝑻</m:t>
                              </m:r>
                            </m:sub>
                          </m:sSub>
                          <m:d>
                            <m:dPr>
                              <m:ctrlPr>
                                <a:rPr lang="en-US" sz="2800" b="1" i="1">
                                  <a:latin typeface="Cambria Math" panose="02040503050406030204" pitchFamily="18" charset="0"/>
                                  <a:ea typeface="Cambria Math" panose="02040503050406030204" pitchFamily="18" charset="0"/>
                                </a:rPr>
                              </m:ctrlPr>
                            </m:dPr>
                            <m:e>
                              <m:r>
                                <a:rPr lang="en-US" sz="2800" b="1" i="1">
                                  <a:latin typeface="Cambria Math" panose="02040503050406030204" pitchFamily="18" charset="0"/>
                                  <a:ea typeface="Cambria Math" panose="02040503050406030204" pitchFamily="18" charset="0"/>
                                </a:rPr>
                                <m:t>𝒕</m:t>
                              </m:r>
                            </m:e>
                          </m:d>
                          <m:r>
                            <a:rPr lang="en-US" sz="2800" b="1" i="1" smtClean="0">
                              <a:latin typeface="Cambria Math" panose="02040503050406030204" pitchFamily="18" charset="0"/>
                              <a:ea typeface="Cambria Math" panose="02040503050406030204" pitchFamily="18" charset="0"/>
                            </a:rPr>
                            <m:t>𝒅𝒕</m:t>
                          </m:r>
                        </m:e>
                      </m:nary>
                    </m:oMath>
                  </m:oMathPara>
                </a14:m>
                <a:endParaRPr lang="en-US" b="1" dirty="0"/>
              </a:p>
            </p:txBody>
          </p:sp>
        </mc:Choice>
        <mc:Fallback xmlns="">
          <p:sp>
            <p:nvSpPr>
              <p:cNvPr id="12" name="TextBox 11">
                <a:extLst>
                  <a:ext uri="{FF2B5EF4-FFF2-40B4-BE49-F238E27FC236}">
                    <a16:creationId xmlns:a16="http://schemas.microsoft.com/office/drawing/2014/main" id="{323271B5-B42D-4C4C-A2FB-A65052974012}"/>
                  </a:ext>
                </a:extLst>
              </p:cNvPr>
              <p:cNvSpPr txBox="1">
                <a:spLocks noRot="1" noChangeAspect="1" noMove="1" noResize="1" noEditPoints="1" noAdjustHandles="1" noChangeArrowheads="1" noChangeShapeType="1" noTextEdit="1"/>
              </p:cNvSpPr>
              <p:nvPr/>
            </p:nvSpPr>
            <p:spPr>
              <a:xfrm>
                <a:off x="5769641" y="4754259"/>
                <a:ext cx="5889754" cy="1261371"/>
              </a:xfrm>
              <a:prstGeom prst="rect">
                <a:avLst/>
              </a:prstGeom>
              <a:blipFill>
                <a:blip r:embed="rId8"/>
                <a:stretch>
                  <a:fillRect/>
                </a:stretch>
              </a:blipFill>
            </p:spPr>
            <p:txBody>
              <a:bodyPr/>
              <a:lstStyle/>
              <a:p>
                <a:r>
                  <a:rPr lang="en-US">
                    <a:noFill/>
                  </a:rPr>
                  <a:t> </a:t>
                </a:r>
              </a:p>
            </p:txBody>
          </p:sp>
        </mc:Fallback>
      </mc:AlternateContent>
      <mc:AlternateContent xmlns:mc="http://schemas.openxmlformats.org/markup-compatibility/2006" xmlns:a14="http://schemas.microsoft.com/office/drawing/2010/main">
        <mc:Choice Requires="a14">
          <p:sp>
            <p:nvSpPr>
              <p:cNvPr id="13" name="TextBox 12">
                <a:extLst>
                  <a:ext uri="{FF2B5EF4-FFF2-40B4-BE49-F238E27FC236}">
                    <a16:creationId xmlns:a16="http://schemas.microsoft.com/office/drawing/2014/main" id="{EAC9F8C2-D581-41FA-AF32-93796D5DA98C}"/>
                  </a:ext>
                </a:extLst>
              </p:cNvPr>
              <p:cNvSpPr txBox="1"/>
              <p:nvPr/>
            </p:nvSpPr>
            <p:spPr>
              <a:xfrm>
                <a:off x="833976" y="2748251"/>
                <a:ext cx="2397130" cy="810478"/>
              </a:xfrm>
              <a:prstGeom prst="rect">
                <a:avLst/>
              </a:prstGeom>
              <a:noFill/>
            </p:spPr>
            <p:txBody>
              <a:bodyPr wrap="none" lIns="0" tIns="0" rIns="0" bIns="0" rtlCol="0">
                <a:spAutoFit/>
              </a:bodyPr>
              <a:lstStyle/>
              <a:p>
                <a:pPr/>
                <a14:m>
                  <m:oMathPara xmlns:m="http://schemas.openxmlformats.org/officeDocument/2006/math">
                    <m:oMathParaPr>
                      <m:jc m:val="centerGroup"/>
                    </m:oMathParaPr>
                    <m:oMath xmlns:m="http://schemas.openxmlformats.org/officeDocument/2006/math">
                      <m:r>
                        <a:rPr lang="en-US" b="0" i="1" smtClean="0">
                          <a:latin typeface="Cambria Math" panose="02040503050406030204" pitchFamily="18" charset="0"/>
                        </a:rPr>
                        <m:t>𝑃</m:t>
                      </m:r>
                      <m:d>
                        <m:dPr>
                          <m:ctrlPr>
                            <a:rPr lang="en-US" b="0" i="1" smtClean="0">
                              <a:latin typeface="Cambria Math" panose="02040503050406030204" pitchFamily="18" charset="0"/>
                            </a:rPr>
                          </m:ctrlPr>
                        </m:dPr>
                        <m:e>
                          <m:r>
                            <a:rPr lang="en-US" b="0" i="1" smtClean="0">
                              <a:latin typeface="Cambria Math" panose="02040503050406030204" pitchFamily="18" charset="0"/>
                            </a:rPr>
                            <m:t>𝑋</m:t>
                          </m:r>
                          <m:r>
                            <a:rPr lang="en-US" b="0" i="1" smtClean="0">
                              <a:latin typeface="Cambria Math" panose="02040503050406030204" pitchFamily="18" charset="0"/>
                            </a:rPr>
                            <m:t>≤</m:t>
                          </m:r>
                          <m:r>
                            <a:rPr lang="en-US" b="0" i="1" smtClean="0">
                              <a:latin typeface="Cambria Math" panose="02040503050406030204" pitchFamily="18" charset="0"/>
                            </a:rPr>
                            <m:t>𝑥</m:t>
                          </m:r>
                        </m:e>
                      </m:d>
                      <m:r>
                        <a:rPr lang="en-US" b="0" i="1" smtClean="0">
                          <a:latin typeface="Cambria Math" panose="02040503050406030204" pitchFamily="18" charset="0"/>
                        </a:rPr>
                        <m:t>=</m:t>
                      </m:r>
                      <m:nary>
                        <m:naryPr>
                          <m:limLoc m:val="undOvr"/>
                          <m:ctrlPr>
                            <a:rPr lang="en-US" b="0" i="1" smtClean="0">
                              <a:latin typeface="Cambria Math" panose="02040503050406030204" pitchFamily="18" charset="0"/>
                            </a:rPr>
                          </m:ctrlPr>
                        </m:naryPr>
                        <m:sub>
                          <m:r>
                            <m:rPr>
                              <m:brk m:alnAt="24"/>
                            </m:rPr>
                            <a:rPr lang="en-US" b="0" i="1" smtClean="0">
                              <a:latin typeface="Cambria Math" panose="02040503050406030204" pitchFamily="18" charset="0"/>
                            </a:rPr>
                            <m:t>−</m:t>
                          </m:r>
                          <m:r>
                            <a:rPr lang="en-US" b="0" i="1" smtClean="0">
                              <a:latin typeface="Cambria Math" panose="02040503050406030204" pitchFamily="18" charset="0"/>
                              <a:ea typeface="Cambria Math" panose="02040503050406030204" pitchFamily="18" charset="0"/>
                            </a:rPr>
                            <m:t>∞</m:t>
                          </m:r>
                        </m:sub>
                        <m:sup>
                          <m:r>
                            <a:rPr lang="en-US" b="0" i="1" smtClean="0">
                              <a:latin typeface="Cambria Math" panose="02040503050406030204" pitchFamily="18" charset="0"/>
                            </a:rPr>
                            <m:t>𝑥</m:t>
                          </m:r>
                        </m:sup>
                        <m:e>
                          <m:sSub>
                            <m:sSubPr>
                              <m:ctrlPr>
                                <a:rPr lang="en-US" b="0" i="1" smtClean="0">
                                  <a:latin typeface="Cambria Math" panose="02040503050406030204" pitchFamily="18" charset="0"/>
                                </a:rPr>
                              </m:ctrlPr>
                            </m:sSubPr>
                            <m:e>
                              <m:r>
                                <a:rPr lang="en-US" b="0" i="1" smtClean="0">
                                  <a:latin typeface="Cambria Math" panose="02040503050406030204" pitchFamily="18" charset="0"/>
                                </a:rPr>
                                <m:t>𝑓</m:t>
                              </m:r>
                            </m:e>
                            <m:sub>
                              <m:r>
                                <a:rPr lang="en-US" b="0" i="1" smtClean="0">
                                  <a:latin typeface="Cambria Math" panose="02040503050406030204" pitchFamily="18" charset="0"/>
                                </a:rPr>
                                <m:t>𝑋</m:t>
                              </m:r>
                            </m:sub>
                          </m:sSub>
                          <m:d>
                            <m:dPr>
                              <m:ctrlPr>
                                <a:rPr lang="en-US" b="0" i="1" smtClean="0">
                                  <a:latin typeface="Cambria Math" panose="02040503050406030204" pitchFamily="18" charset="0"/>
                                </a:rPr>
                              </m:ctrlPr>
                            </m:dPr>
                            <m:e>
                              <m:r>
                                <a:rPr lang="en-US" b="0" i="1" smtClean="0">
                                  <a:latin typeface="Cambria Math" panose="02040503050406030204" pitchFamily="18" charset="0"/>
                                </a:rPr>
                                <m:t>𝑥</m:t>
                              </m:r>
                            </m:e>
                          </m:d>
                          <m:r>
                            <a:rPr lang="en-US" b="0" i="1" smtClean="0">
                              <a:latin typeface="Cambria Math" panose="02040503050406030204" pitchFamily="18" charset="0"/>
                            </a:rPr>
                            <m:t>𝑑𝑥</m:t>
                          </m:r>
                        </m:e>
                      </m:nary>
                    </m:oMath>
                  </m:oMathPara>
                </a14:m>
                <a:endParaRPr lang="en-US" dirty="0"/>
              </a:p>
            </p:txBody>
          </p:sp>
        </mc:Choice>
        <mc:Fallback xmlns="">
          <p:sp>
            <p:nvSpPr>
              <p:cNvPr id="13" name="TextBox 12">
                <a:extLst>
                  <a:ext uri="{FF2B5EF4-FFF2-40B4-BE49-F238E27FC236}">
                    <a16:creationId xmlns:a16="http://schemas.microsoft.com/office/drawing/2014/main" id="{EAC9F8C2-D581-41FA-AF32-93796D5DA98C}"/>
                  </a:ext>
                </a:extLst>
              </p:cNvPr>
              <p:cNvSpPr txBox="1">
                <a:spLocks noRot="1" noChangeAspect="1" noMove="1" noResize="1" noEditPoints="1" noAdjustHandles="1" noChangeArrowheads="1" noChangeShapeType="1" noTextEdit="1"/>
              </p:cNvSpPr>
              <p:nvPr/>
            </p:nvSpPr>
            <p:spPr>
              <a:xfrm>
                <a:off x="833976" y="2748251"/>
                <a:ext cx="2397130" cy="810478"/>
              </a:xfrm>
              <a:prstGeom prst="rect">
                <a:avLst/>
              </a:prstGeom>
              <a:blipFill>
                <a:blip r:embed="rId9"/>
                <a:stretch>
                  <a:fillRect/>
                </a:stretch>
              </a:blipFill>
            </p:spPr>
            <p:txBody>
              <a:bodyPr/>
              <a:lstStyle/>
              <a:p>
                <a:r>
                  <a:rPr lang="en-US">
                    <a:noFill/>
                  </a:rPr>
                  <a:t> </a:t>
                </a:r>
              </a:p>
            </p:txBody>
          </p:sp>
        </mc:Fallback>
      </mc:AlternateContent>
      <mc:AlternateContent xmlns:mc="http://schemas.openxmlformats.org/markup-compatibility/2006" xmlns:a14="http://schemas.microsoft.com/office/drawing/2010/main">
        <mc:Choice Requires="a14">
          <p:sp>
            <p:nvSpPr>
              <p:cNvPr id="14" name="TextBox 13">
                <a:extLst>
                  <a:ext uri="{FF2B5EF4-FFF2-40B4-BE49-F238E27FC236}">
                    <a16:creationId xmlns:a16="http://schemas.microsoft.com/office/drawing/2014/main" id="{A0927760-E64B-4B13-9089-DF19B9BDA506}"/>
                  </a:ext>
                </a:extLst>
              </p:cNvPr>
              <p:cNvSpPr txBox="1"/>
              <p:nvPr/>
            </p:nvSpPr>
            <p:spPr>
              <a:xfrm>
                <a:off x="813505" y="4453962"/>
                <a:ext cx="2955073" cy="646331"/>
              </a:xfrm>
              <a:prstGeom prst="rect">
                <a:avLst/>
              </a:prstGeom>
              <a:noFill/>
            </p:spPr>
            <p:txBody>
              <a:bodyPr wrap="square" rtlCol="0">
                <a:spAutoFit/>
              </a:bodyPr>
              <a:lstStyle/>
              <a:p>
                <a14:m>
                  <m:oMath xmlns:m="http://schemas.openxmlformats.org/officeDocument/2006/math">
                    <m:r>
                      <a:rPr lang="en-US" b="0" i="1" smtClean="0">
                        <a:latin typeface="Cambria Math" panose="02040503050406030204" pitchFamily="18" charset="0"/>
                        <a:ea typeface="Cambria Math" panose="02040503050406030204" pitchFamily="18" charset="0"/>
                      </a:rPr>
                      <m:t>𝜏</m:t>
                    </m:r>
                  </m:oMath>
                </a14:m>
                <a:r>
                  <a:rPr lang="en-US" dirty="0"/>
                  <a:t> is not fixed value, so we calculate AVG of its values:</a:t>
                </a:r>
              </a:p>
            </p:txBody>
          </p:sp>
        </mc:Choice>
        <mc:Fallback xmlns="">
          <p:sp>
            <p:nvSpPr>
              <p:cNvPr id="14" name="TextBox 13">
                <a:extLst>
                  <a:ext uri="{FF2B5EF4-FFF2-40B4-BE49-F238E27FC236}">
                    <a16:creationId xmlns:a16="http://schemas.microsoft.com/office/drawing/2014/main" id="{A0927760-E64B-4B13-9089-DF19B9BDA506}"/>
                  </a:ext>
                </a:extLst>
              </p:cNvPr>
              <p:cNvSpPr txBox="1">
                <a:spLocks noRot="1" noChangeAspect="1" noMove="1" noResize="1" noEditPoints="1" noAdjustHandles="1" noChangeArrowheads="1" noChangeShapeType="1" noTextEdit="1"/>
              </p:cNvSpPr>
              <p:nvPr/>
            </p:nvSpPr>
            <p:spPr>
              <a:xfrm>
                <a:off x="813505" y="4453962"/>
                <a:ext cx="2955073" cy="646331"/>
              </a:xfrm>
              <a:prstGeom prst="rect">
                <a:avLst/>
              </a:prstGeom>
              <a:blipFill>
                <a:blip r:embed="rId10"/>
                <a:stretch>
                  <a:fillRect l="-1649" t="-5660" b="-14151"/>
                </a:stretch>
              </a:blipFill>
            </p:spPr>
            <p:txBody>
              <a:bodyPr/>
              <a:lstStyle/>
              <a:p>
                <a:r>
                  <a:rPr lang="en-US">
                    <a:noFill/>
                  </a:rPr>
                  <a:t> </a:t>
                </a:r>
              </a:p>
            </p:txBody>
          </p:sp>
        </mc:Fallback>
      </mc:AlternateContent>
      <p:sp>
        <p:nvSpPr>
          <p:cNvPr id="15" name="TextBox 14">
            <a:extLst>
              <a:ext uri="{FF2B5EF4-FFF2-40B4-BE49-F238E27FC236}">
                <a16:creationId xmlns:a16="http://schemas.microsoft.com/office/drawing/2014/main" id="{719ABFA7-30C8-4BCC-811E-AB67C5914FF3}"/>
              </a:ext>
            </a:extLst>
          </p:cNvPr>
          <p:cNvSpPr txBox="1"/>
          <p:nvPr/>
        </p:nvSpPr>
        <p:spPr>
          <a:xfrm>
            <a:off x="1424722" y="1770003"/>
            <a:ext cx="1460809" cy="369332"/>
          </a:xfrm>
          <a:prstGeom prst="rect">
            <a:avLst/>
          </a:prstGeom>
          <a:noFill/>
        </p:spPr>
        <p:txBody>
          <a:bodyPr wrap="square" rtlCol="0">
            <a:spAutoFit/>
          </a:bodyPr>
          <a:lstStyle/>
          <a:p>
            <a:r>
              <a:rPr lang="en-US" dirty="0"/>
              <a:t>Remember:</a:t>
            </a:r>
          </a:p>
        </p:txBody>
      </p:sp>
      <p:sp>
        <p:nvSpPr>
          <p:cNvPr id="16" name="TextBox 15">
            <a:extLst>
              <a:ext uri="{FF2B5EF4-FFF2-40B4-BE49-F238E27FC236}">
                <a16:creationId xmlns:a16="http://schemas.microsoft.com/office/drawing/2014/main" id="{B7E4A1B2-B4C3-47D5-89A3-84E5BCD90F81}"/>
              </a:ext>
            </a:extLst>
          </p:cNvPr>
          <p:cNvSpPr txBox="1"/>
          <p:nvPr/>
        </p:nvSpPr>
        <p:spPr>
          <a:xfrm>
            <a:off x="189571" y="6447755"/>
            <a:ext cx="3579542" cy="369332"/>
          </a:xfrm>
          <a:prstGeom prst="rect">
            <a:avLst/>
          </a:prstGeom>
          <a:noFill/>
        </p:spPr>
        <p:txBody>
          <a:bodyPr wrap="square" rtlCol="0">
            <a:spAutoFit/>
          </a:bodyPr>
          <a:lstStyle/>
          <a:p>
            <a:r>
              <a:rPr lang="en-US" dirty="0">
                <a:solidFill>
                  <a:schemeClr val="bg1"/>
                </a:solidFill>
              </a:rPr>
              <a:t>Mohammad Mahdi Manafi</a:t>
            </a:r>
          </a:p>
        </p:txBody>
      </p:sp>
    </p:spTree>
    <p:extLst>
      <p:ext uri="{BB962C8B-B14F-4D97-AF65-F5344CB8AC3E}">
        <p14:creationId xmlns:p14="http://schemas.microsoft.com/office/powerpoint/2010/main" val="3631470374"/>
      </p:ext>
    </p:extLst>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066C1371-0C90-47B6-ACFA-2A8439DF4AE0}"/>
              </a:ext>
            </a:extLst>
          </p:cNvPr>
          <p:cNvSpPr>
            <a:spLocks noGrp="1"/>
          </p:cNvSpPr>
          <p:nvPr>
            <p:ph type="title"/>
          </p:nvPr>
        </p:nvSpPr>
        <p:spPr/>
        <p:txBody>
          <a:bodyPr/>
          <a:lstStyle/>
          <a:p>
            <a:r>
              <a:rPr lang="en-US" dirty="0"/>
              <a:t>Edge subsystem analysis</a:t>
            </a:r>
          </a:p>
        </p:txBody>
      </p:sp>
      <mc:AlternateContent xmlns:mc="http://schemas.openxmlformats.org/markup-compatibility/2006" xmlns:a14="http://schemas.microsoft.com/office/drawing/2010/main">
        <mc:Choice Requires="a14">
          <p:sp>
            <p:nvSpPr>
              <p:cNvPr id="3" name="Content Placeholder 2">
                <a:extLst>
                  <a:ext uri="{FF2B5EF4-FFF2-40B4-BE49-F238E27FC236}">
                    <a16:creationId xmlns:a16="http://schemas.microsoft.com/office/drawing/2014/main" id="{0FA86D35-6D1A-4200-9DB4-58CFD5DE6B30}"/>
                  </a:ext>
                </a:extLst>
              </p:cNvPr>
              <p:cNvSpPr>
                <a:spLocks noGrp="1"/>
              </p:cNvSpPr>
              <p:nvPr>
                <p:ph idx="1"/>
              </p:nvPr>
            </p:nvSpPr>
            <p:spPr>
              <a:xfrm>
                <a:off x="1097280" y="1845734"/>
                <a:ext cx="5336974" cy="4023360"/>
              </a:xfrm>
            </p:spPr>
            <p:txBody>
              <a:bodyPr/>
              <a:lstStyle/>
              <a:p>
                <a:pPr>
                  <a:buFont typeface="Wingdings" panose="05000000000000000000" pitchFamily="2" charset="2"/>
                  <a:buChar char="q"/>
                </a:pPr>
                <a:r>
                  <a:rPr lang="en-US" dirty="0"/>
                  <a:t>Choosing K and H should satisfy (3)</a:t>
                </a:r>
              </a:p>
              <a:p>
                <a:pPr>
                  <a:buFont typeface="Wingdings" panose="05000000000000000000" pitchFamily="2" charset="2"/>
                  <a:buChar char="q"/>
                </a:pPr>
                <a:r>
                  <a:rPr lang="en-US" dirty="0"/>
                  <a:t>Any task arrived after ECN is in state H </a:t>
                </a:r>
              </a:p>
              <a:p>
                <a:pPr lvl="1">
                  <a:buFont typeface="Wingdings" panose="05000000000000000000" pitchFamily="2" charset="2"/>
                  <a:buChar char="q"/>
                </a:pPr>
                <a:r>
                  <a:rPr lang="en-US" dirty="0"/>
                  <a:t>i.e. queue is full</a:t>
                </a:r>
              </a:p>
              <a:p>
                <a:pPr lvl="1">
                  <a:buFont typeface="Wingdings" panose="05000000000000000000" pitchFamily="2" charset="2"/>
                  <a:buChar char="q"/>
                </a:pPr>
                <a:r>
                  <a:rPr lang="en-US" dirty="0"/>
                  <a:t>Redirect to FCN</a:t>
                </a:r>
              </a:p>
              <a:p>
                <a:pPr>
                  <a:buFont typeface="Wingdings" panose="05000000000000000000" pitchFamily="2" charset="2"/>
                  <a:buChar char="q"/>
                </a:pPr>
                <a:r>
                  <a:rPr lang="en-US" dirty="0"/>
                  <a:t>Fig2 is </a:t>
                </a:r>
                <a:r>
                  <a:rPr lang="en-US" sz="1800" b="0" i="0" dirty="0">
                    <a:solidFill>
                      <a:srgbClr val="242021"/>
                    </a:solidFill>
                    <a:effectLst/>
                    <a:latin typeface="Times-Roman"/>
                  </a:rPr>
                  <a:t>state diagram of the M/M/K/H</a:t>
                </a:r>
                <a:r>
                  <a:rPr lang="en-US" dirty="0"/>
                  <a:t> </a:t>
                </a:r>
              </a:p>
              <a:p>
                <a:pPr>
                  <a:buFont typeface="Wingdings" panose="05000000000000000000" pitchFamily="2" charset="2"/>
                  <a:buChar char="q"/>
                </a:pPr>
                <a14:m>
                  <m:oMath xmlns:m="http://schemas.openxmlformats.org/officeDocument/2006/math">
                    <m:sSub>
                      <m:sSubPr>
                        <m:ctrlPr>
                          <a:rPr lang="en-US" b="0" i="1" smtClean="0">
                            <a:latin typeface="Cambria Math" panose="02040503050406030204" pitchFamily="18" charset="0"/>
                          </a:rPr>
                        </m:ctrlPr>
                      </m:sSubPr>
                      <m:e>
                        <m:acc>
                          <m:accPr>
                            <m:chr m:val="̅"/>
                            <m:ctrlPr>
                              <a:rPr lang="en-US" b="0" i="1" smtClean="0">
                                <a:latin typeface="Cambria Math" panose="02040503050406030204" pitchFamily="18" charset="0"/>
                              </a:rPr>
                            </m:ctrlPr>
                          </m:accPr>
                          <m:e>
                            <m:r>
                              <a:rPr lang="en-US" b="0" i="1" smtClean="0">
                                <a:latin typeface="Cambria Math" panose="02040503050406030204" pitchFamily="18" charset="0"/>
                                <a:ea typeface="Cambria Math" panose="02040503050406030204" pitchFamily="18" charset="0"/>
                              </a:rPr>
                              <m:t>𝜇</m:t>
                            </m:r>
                          </m:e>
                        </m:acc>
                      </m:e>
                      <m:sub>
                        <m:r>
                          <a:rPr lang="en-US" b="0" i="1" smtClean="0">
                            <a:latin typeface="Cambria Math" panose="02040503050406030204" pitchFamily="18" charset="0"/>
                          </a:rPr>
                          <m:t>𝑠</m:t>
                        </m:r>
                      </m:sub>
                    </m:sSub>
                    <m:r>
                      <a:rPr lang="en-US" b="0" i="1" smtClean="0">
                        <a:latin typeface="Cambria Math" panose="02040503050406030204" pitchFamily="18" charset="0"/>
                      </a:rPr>
                      <m:t>=</m:t>
                    </m:r>
                    <m:f>
                      <m:fPr>
                        <m:ctrlPr>
                          <a:rPr lang="en-US" i="1" smtClean="0">
                            <a:latin typeface="Cambria Math" panose="02040503050406030204" pitchFamily="18" charset="0"/>
                          </a:rPr>
                        </m:ctrlPr>
                      </m:fPr>
                      <m:num>
                        <m:r>
                          <a:rPr lang="en-US" b="0" i="1" smtClean="0">
                            <a:latin typeface="Cambria Math" panose="02040503050406030204" pitchFamily="18" charset="0"/>
                          </a:rPr>
                          <m:t>1</m:t>
                        </m:r>
                      </m:num>
                      <m:den>
                        <m:sSub>
                          <m:sSubPr>
                            <m:ctrlPr>
                              <a:rPr lang="en-US" i="1" smtClean="0">
                                <a:latin typeface="Cambria Math" panose="02040503050406030204" pitchFamily="18" charset="0"/>
                              </a:rPr>
                            </m:ctrlPr>
                          </m:sSubPr>
                          <m:e>
                            <m:r>
                              <a:rPr lang="en-US" i="1" smtClean="0">
                                <a:latin typeface="Cambria Math" panose="02040503050406030204" pitchFamily="18" charset="0"/>
                                <a:ea typeface="Cambria Math" panose="02040503050406030204" pitchFamily="18" charset="0"/>
                              </a:rPr>
                              <m:t>𝜇</m:t>
                            </m:r>
                          </m:e>
                          <m:sub>
                            <m:r>
                              <a:rPr lang="en-US" b="0" i="1" smtClean="0">
                                <a:latin typeface="Cambria Math" panose="02040503050406030204" pitchFamily="18" charset="0"/>
                              </a:rPr>
                              <m:t>𝑠</m:t>
                            </m:r>
                          </m:sub>
                        </m:sSub>
                      </m:den>
                    </m:f>
                    <m:r>
                      <a:rPr lang="en-US" b="0" i="1" smtClean="0">
                        <a:latin typeface="Cambria Math" panose="02040503050406030204" pitchFamily="18" charset="0"/>
                      </a:rPr>
                      <m:t>=</m:t>
                    </m:r>
                    <m:sSub>
                      <m:sSubPr>
                        <m:ctrlPr>
                          <a:rPr lang="en-US" i="1">
                            <a:latin typeface="Cambria Math" panose="02040503050406030204" pitchFamily="18" charset="0"/>
                          </a:rPr>
                        </m:ctrlPr>
                      </m:sSubPr>
                      <m:e>
                        <m:r>
                          <a:rPr lang="en-US" i="1">
                            <a:latin typeface="Cambria Math" panose="02040503050406030204" pitchFamily="18" charset="0"/>
                            <a:ea typeface="Cambria Math" panose="02040503050406030204" pitchFamily="18" charset="0"/>
                          </a:rPr>
                          <m:t>𝜇</m:t>
                        </m:r>
                      </m:e>
                      <m:sub>
                        <m:r>
                          <a:rPr lang="en-US" b="0" i="1" smtClean="0">
                            <a:latin typeface="Cambria Math" panose="02040503050406030204" pitchFamily="18" charset="0"/>
                            <a:ea typeface="Cambria Math" panose="02040503050406030204" pitchFamily="18" charset="0"/>
                          </a:rPr>
                          <m:t>𝐸</m:t>
                        </m:r>
                      </m:sub>
                    </m:sSub>
                  </m:oMath>
                </a14:m>
                <a:r>
                  <a:rPr lang="en-US" dirty="0"/>
                  <a:t>, n: number of states</a:t>
                </a:r>
                <a:br>
                  <a:rPr lang="en-US" dirty="0"/>
                </a:br>
                <a:endParaRPr lang="en-US" dirty="0"/>
              </a:p>
            </p:txBody>
          </p:sp>
        </mc:Choice>
        <mc:Fallback xmlns="">
          <p:sp>
            <p:nvSpPr>
              <p:cNvPr id="3" name="Content Placeholder 2">
                <a:extLst>
                  <a:ext uri="{FF2B5EF4-FFF2-40B4-BE49-F238E27FC236}">
                    <a16:creationId xmlns:a16="http://schemas.microsoft.com/office/drawing/2014/main" id="{0FA86D35-6D1A-4200-9DB4-58CFD5DE6B30}"/>
                  </a:ext>
                </a:extLst>
              </p:cNvPr>
              <p:cNvSpPr>
                <a:spLocks noGrp="1" noRot="1" noChangeAspect="1" noMove="1" noResize="1" noEditPoints="1" noAdjustHandles="1" noChangeArrowheads="1" noChangeShapeType="1" noTextEdit="1"/>
              </p:cNvSpPr>
              <p:nvPr>
                <p:ph idx="1"/>
              </p:nvPr>
            </p:nvSpPr>
            <p:spPr>
              <a:xfrm>
                <a:off x="1097280" y="1845734"/>
                <a:ext cx="5336974" cy="4023360"/>
              </a:xfrm>
              <a:blipFill>
                <a:blip r:embed="rId2"/>
                <a:stretch>
                  <a:fillRect l="-2743" t="-1667"/>
                </a:stretch>
              </a:blipFill>
            </p:spPr>
            <p:txBody>
              <a:bodyPr/>
              <a:lstStyle/>
              <a:p>
                <a:r>
                  <a:rPr lang="en-US">
                    <a:noFill/>
                  </a:rPr>
                  <a:t> </a:t>
                </a:r>
              </a:p>
            </p:txBody>
          </p:sp>
        </mc:Fallback>
      </mc:AlternateContent>
      <p:sp>
        <p:nvSpPr>
          <p:cNvPr id="4" name="Slide Number Placeholder 3">
            <a:extLst>
              <a:ext uri="{FF2B5EF4-FFF2-40B4-BE49-F238E27FC236}">
                <a16:creationId xmlns:a16="http://schemas.microsoft.com/office/drawing/2014/main" id="{A5E97F6C-2447-42A0-B10C-87EFB0899BD4}"/>
              </a:ext>
            </a:extLst>
          </p:cNvPr>
          <p:cNvSpPr>
            <a:spLocks noGrp="1"/>
          </p:cNvSpPr>
          <p:nvPr>
            <p:ph type="sldNum" sz="quarter" idx="12"/>
          </p:nvPr>
        </p:nvSpPr>
        <p:spPr/>
        <p:txBody>
          <a:bodyPr/>
          <a:lstStyle/>
          <a:p>
            <a:fld id="{DC4CAFB8-3EF6-4FAF-BDFA-EA2F8D8834E4}" type="slidenum">
              <a:rPr lang="en-US" smtClean="0"/>
              <a:t>17</a:t>
            </a:fld>
            <a:endParaRPr lang="en-US"/>
          </a:p>
        </p:txBody>
      </p:sp>
      <p:pic>
        <p:nvPicPr>
          <p:cNvPr id="10" name="Picture 9">
            <a:extLst>
              <a:ext uri="{FF2B5EF4-FFF2-40B4-BE49-F238E27FC236}">
                <a16:creationId xmlns:a16="http://schemas.microsoft.com/office/drawing/2014/main" id="{6C75D46C-4AA9-418C-9234-40D196C05062}"/>
              </a:ext>
            </a:extLst>
          </p:cNvPr>
          <p:cNvPicPr>
            <a:picLocks noChangeAspect="1"/>
          </p:cNvPicPr>
          <p:nvPr/>
        </p:nvPicPr>
        <p:blipFill>
          <a:blip r:embed="rId3"/>
          <a:stretch>
            <a:fillRect/>
          </a:stretch>
        </p:blipFill>
        <p:spPr>
          <a:xfrm>
            <a:off x="6434254" y="1763199"/>
            <a:ext cx="4884843" cy="632515"/>
          </a:xfrm>
          <a:prstGeom prst="rect">
            <a:avLst/>
          </a:prstGeom>
        </p:spPr>
      </p:pic>
      <p:pic>
        <p:nvPicPr>
          <p:cNvPr id="12" name="Picture 11">
            <a:extLst>
              <a:ext uri="{FF2B5EF4-FFF2-40B4-BE49-F238E27FC236}">
                <a16:creationId xmlns:a16="http://schemas.microsoft.com/office/drawing/2014/main" id="{1EC6C8AD-31A1-4F1B-AF6D-5A4EFFB86CB1}"/>
              </a:ext>
            </a:extLst>
          </p:cNvPr>
          <p:cNvPicPr>
            <a:picLocks noChangeAspect="1"/>
          </p:cNvPicPr>
          <p:nvPr/>
        </p:nvPicPr>
        <p:blipFill>
          <a:blip r:embed="rId4"/>
          <a:stretch>
            <a:fillRect/>
          </a:stretch>
        </p:blipFill>
        <p:spPr>
          <a:xfrm>
            <a:off x="212397" y="4413204"/>
            <a:ext cx="11560542" cy="1920406"/>
          </a:xfrm>
          <a:prstGeom prst="rect">
            <a:avLst/>
          </a:prstGeom>
        </p:spPr>
      </p:pic>
      <p:pic>
        <p:nvPicPr>
          <p:cNvPr id="14" name="Picture 13">
            <a:extLst>
              <a:ext uri="{FF2B5EF4-FFF2-40B4-BE49-F238E27FC236}">
                <a16:creationId xmlns:a16="http://schemas.microsoft.com/office/drawing/2014/main" id="{BA77F9B9-6218-466C-B403-FF32AAE8F0C4}"/>
              </a:ext>
            </a:extLst>
          </p:cNvPr>
          <p:cNvPicPr>
            <a:picLocks noChangeAspect="1"/>
          </p:cNvPicPr>
          <p:nvPr/>
        </p:nvPicPr>
        <p:blipFill>
          <a:blip r:embed="rId5"/>
          <a:stretch>
            <a:fillRect/>
          </a:stretch>
        </p:blipFill>
        <p:spPr>
          <a:xfrm>
            <a:off x="6493305" y="2299037"/>
            <a:ext cx="4846740" cy="929721"/>
          </a:xfrm>
          <a:prstGeom prst="rect">
            <a:avLst/>
          </a:prstGeom>
        </p:spPr>
      </p:pic>
      <p:pic>
        <p:nvPicPr>
          <p:cNvPr id="16" name="Picture 15">
            <a:extLst>
              <a:ext uri="{FF2B5EF4-FFF2-40B4-BE49-F238E27FC236}">
                <a16:creationId xmlns:a16="http://schemas.microsoft.com/office/drawing/2014/main" id="{C95C6BFF-D4C2-4808-8FF4-FE67B4ED85CA}"/>
              </a:ext>
            </a:extLst>
          </p:cNvPr>
          <p:cNvPicPr>
            <a:picLocks noChangeAspect="1"/>
          </p:cNvPicPr>
          <p:nvPr/>
        </p:nvPicPr>
        <p:blipFill>
          <a:blip r:embed="rId6"/>
          <a:stretch>
            <a:fillRect/>
          </a:stretch>
        </p:blipFill>
        <p:spPr>
          <a:xfrm>
            <a:off x="6543207" y="3361546"/>
            <a:ext cx="4770533" cy="853514"/>
          </a:xfrm>
          <a:prstGeom prst="rect">
            <a:avLst/>
          </a:prstGeom>
        </p:spPr>
      </p:pic>
      <p:sp>
        <p:nvSpPr>
          <p:cNvPr id="9" name="TextBox 8">
            <a:extLst>
              <a:ext uri="{FF2B5EF4-FFF2-40B4-BE49-F238E27FC236}">
                <a16:creationId xmlns:a16="http://schemas.microsoft.com/office/drawing/2014/main" id="{DB0E3A1F-0990-4263-B80A-59E6B784A3A4}"/>
              </a:ext>
            </a:extLst>
          </p:cNvPr>
          <p:cNvSpPr txBox="1"/>
          <p:nvPr/>
        </p:nvSpPr>
        <p:spPr>
          <a:xfrm>
            <a:off x="189571" y="6447755"/>
            <a:ext cx="3579542" cy="369332"/>
          </a:xfrm>
          <a:prstGeom prst="rect">
            <a:avLst/>
          </a:prstGeom>
          <a:noFill/>
        </p:spPr>
        <p:txBody>
          <a:bodyPr wrap="square" rtlCol="0">
            <a:spAutoFit/>
          </a:bodyPr>
          <a:lstStyle/>
          <a:p>
            <a:r>
              <a:rPr lang="en-US" dirty="0">
                <a:solidFill>
                  <a:schemeClr val="bg1"/>
                </a:solidFill>
              </a:rPr>
              <a:t>Mohammad Mahdi Manafi</a:t>
            </a:r>
          </a:p>
        </p:txBody>
      </p:sp>
    </p:spTree>
    <p:extLst>
      <p:ext uri="{BB962C8B-B14F-4D97-AF65-F5344CB8AC3E}">
        <p14:creationId xmlns:p14="http://schemas.microsoft.com/office/powerpoint/2010/main" val="4094056383"/>
      </p:ext>
    </p:extLst>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CAA62C39-2F8C-4C92-831A-30492718652F}"/>
              </a:ext>
            </a:extLst>
          </p:cNvPr>
          <p:cNvSpPr>
            <a:spLocks noGrp="1"/>
          </p:cNvSpPr>
          <p:nvPr>
            <p:ph type="title"/>
          </p:nvPr>
        </p:nvSpPr>
        <p:spPr/>
        <p:txBody>
          <a:bodyPr/>
          <a:lstStyle/>
          <a:p>
            <a:r>
              <a:rPr lang="en-US" dirty="0"/>
              <a:t>Edge subsystem analysis</a:t>
            </a:r>
          </a:p>
        </p:txBody>
      </p:sp>
      <mc:AlternateContent xmlns:mc="http://schemas.openxmlformats.org/markup-compatibility/2006" xmlns:a14="http://schemas.microsoft.com/office/drawing/2010/main">
        <mc:Choice Requires="a14">
          <p:sp>
            <p:nvSpPr>
              <p:cNvPr id="3" name="Content Placeholder 2">
                <a:extLst>
                  <a:ext uri="{FF2B5EF4-FFF2-40B4-BE49-F238E27FC236}">
                    <a16:creationId xmlns:a16="http://schemas.microsoft.com/office/drawing/2014/main" id="{D49450B6-3396-4894-8260-A12503036B2D}"/>
                  </a:ext>
                </a:extLst>
              </p:cNvPr>
              <p:cNvSpPr>
                <a:spLocks noGrp="1"/>
              </p:cNvSpPr>
              <p:nvPr>
                <p:ph idx="1"/>
              </p:nvPr>
            </p:nvSpPr>
            <p:spPr>
              <a:xfrm>
                <a:off x="1097280" y="1845733"/>
                <a:ext cx="5392730" cy="4421251"/>
              </a:xfrm>
            </p:spPr>
            <p:txBody>
              <a:bodyPr>
                <a:normAutofit/>
              </a:bodyPr>
              <a:lstStyle/>
              <a:p>
                <a:pPr>
                  <a:buFont typeface="Wingdings" panose="05000000000000000000" pitchFamily="2" charset="2"/>
                  <a:buChar char="q"/>
                </a:pPr>
                <a14:m>
                  <m:oMath xmlns:m="http://schemas.openxmlformats.org/officeDocument/2006/math">
                    <m:sSub>
                      <m:sSubPr>
                        <m:ctrlPr>
                          <a:rPr lang="en-US" sz="1800" b="0" i="1" smtClean="0">
                            <a:solidFill>
                              <a:srgbClr val="242021"/>
                            </a:solidFill>
                            <a:effectLst/>
                            <a:latin typeface="Cambria Math" panose="02040503050406030204" pitchFamily="18" charset="0"/>
                          </a:rPr>
                        </m:ctrlPr>
                      </m:sSubPr>
                      <m:e>
                        <m:r>
                          <a:rPr lang="en-US" sz="1800" b="0" i="1" smtClean="0">
                            <a:solidFill>
                              <a:srgbClr val="242021"/>
                            </a:solidFill>
                            <a:effectLst/>
                            <a:latin typeface="Cambria Math" panose="02040503050406030204" pitchFamily="18" charset="0"/>
                          </a:rPr>
                          <m:t>𝑝</m:t>
                        </m:r>
                      </m:e>
                      <m:sub>
                        <m:r>
                          <a:rPr lang="en-US" sz="1800" b="0" i="1" smtClean="0">
                            <a:solidFill>
                              <a:srgbClr val="242021"/>
                            </a:solidFill>
                            <a:effectLst/>
                            <a:latin typeface="Cambria Math" panose="02040503050406030204" pitchFamily="18" charset="0"/>
                          </a:rPr>
                          <m:t>𝑛</m:t>
                        </m:r>
                      </m:sub>
                    </m:sSub>
                  </m:oMath>
                </a14:m>
                <a:r>
                  <a:rPr lang="en-US" sz="1800" b="0" i="0" dirty="0">
                    <a:solidFill>
                      <a:srgbClr val="242021"/>
                    </a:solidFill>
                    <a:effectLst/>
                    <a:latin typeface="Times-Roman"/>
                  </a:rPr>
                  <a:t>: </a:t>
                </a:r>
                <a:r>
                  <a:rPr lang="en-US" sz="1800" b="0" i="0" dirty="0">
                    <a:solidFill>
                      <a:srgbClr val="242021"/>
                    </a:solidFill>
                    <a:effectLst/>
                  </a:rPr>
                  <a:t>probability of having </a:t>
                </a:r>
                <a:r>
                  <a:rPr lang="en-US" sz="1800" b="0" i="1" dirty="0">
                    <a:solidFill>
                      <a:srgbClr val="242021"/>
                    </a:solidFill>
                    <a:effectLst/>
                  </a:rPr>
                  <a:t>n </a:t>
                </a:r>
                <a:r>
                  <a:rPr lang="en-US" sz="1800" b="0" i="0" dirty="0">
                    <a:solidFill>
                      <a:srgbClr val="242021"/>
                    </a:solidFill>
                    <a:effectLst/>
                  </a:rPr>
                  <a:t>task in the ECN</a:t>
                </a:r>
              </a:p>
              <a:p>
                <a:pPr lvl="1">
                  <a:buFont typeface="Wingdings" panose="05000000000000000000" pitchFamily="2" charset="2"/>
                  <a:buChar char="q"/>
                </a:pPr>
                <a:r>
                  <a:rPr lang="en-US" b="0" dirty="0">
                    <a:solidFill>
                      <a:srgbClr val="242021"/>
                    </a:solidFill>
                    <a:effectLst/>
                  </a:rPr>
                  <a:t>For </a:t>
                </a:r>
                <a14:m>
                  <m:oMath xmlns:m="http://schemas.openxmlformats.org/officeDocument/2006/math">
                    <m:r>
                      <a:rPr lang="en-US" b="0" i="1" smtClean="0">
                        <a:solidFill>
                          <a:srgbClr val="242021"/>
                        </a:solidFill>
                        <a:effectLst/>
                        <a:latin typeface="Cambria Math" panose="02040503050406030204" pitchFamily="18" charset="0"/>
                      </a:rPr>
                      <m:t>1≤</m:t>
                    </m:r>
                    <m:r>
                      <a:rPr lang="en-US" b="0" i="1" smtClean="0">
                        <a:solidFill>
                          <a:srgbClr val="242021"/>
                        </a:solidFill>
                        <a:effectLst/>
                        <a:latin typeface="Cambria Math" panose="02040503050406030204" pitchFamily="18" charset="0"/>
                      </a:rPr>
                      <m:t>𝑛</m:t>
                    </m:r>
                    <m:r>
                      <a:rPr lang="en-US" b="0" i="1" smtClean="0">
                        <a:solidFill>
                          <a:srgbClr val="242021"/>
                        </a:solidFill>
                        <a:effectLst/>
                        <a:latin typeface="Cambria Math" panose="02040503050406030204" pitchFamily="18" charset="0"/>
                      </a:rPr>
                      <m:t>≤</m:t>
                    </m:r>
                    <m:r>
                      <a:rPr lang="en-US" b="0" i="1" smtClean="0">
                        <a:solidFill>
                          <a:srgbClr val="242021"/>
                        </a:solidFill>
                        <a:effectLst/>
                        <a:latin typeface="Cambria Math" panose="02040503050406030204" pitchFamily="18" charset="0"/>
                      </a:rPr>
                      <m:t>𝐾</m:t>
                    </m:r>
                  </m:oMath>
                </a14:m>
                <a:r>
                  <a:rPr lang="en-US" dirty="0">
                    <a:solidFill>
                      <a:srgbClr val="242021"/>
                    </a:solidFill>
                  </a:rPr>
                  <a:t> equation (6)</a:t>
                </a:r>
              </a:p>
              <a:p>
                <a:pPr lvl="1">
                  <a:buFont typeface="Wingdings" panose="05000000000000000000" pitchFamily="2" charset="2"/>
                  <a:buChar char="q"/>
                </a:pPr>
                <a:r>
                  <a:rPr lang="en-US" dirty="0">
                    <a:solidFill>
                      <a:srgbClr val="242021"/>
                    </a:solidFill>
                  </a:rPr>
                  <a:t>For </a:t>
                </a:r>
                <a14:m>
                  <m:oMath xmlns:m="http://schemas.openxmlformats.org/officeDocument/2006/math">
                    <m:r>
                      <m:rPr>
                        <m:sty m:val="p"/>
                      </m:rPr>
                      <a:rPr lang="en-US" i="1">
                        <a:solidFill>
                          <a:srgbClr val="242021"/>
                        </a:solidFill>
                        <a:latin typeface="Cambria Math" panose="02040503050406030204" pitchFamily="18" charset="0"/>
                      </a:rPr>
                      <m:t>K</m:t>
                    </m:r>
                    <m:r>
                      <a:rPr lang="en-US" b="0" i="1" smtClean="0">
                        <a:solidFill>
                          <a:srgbClr val="242021"/>
                        </a:solidFill>
                        <a:effectLst/>
                        <a:latin typeface="Cambria Math" panose="02040503050406030204" pitchFamily="18" charset="0"/>
                      </a:rPr>
                      <m:t>≤</m:t>
                    </m:r>
                    <m:r>
                      <a:rPr lang="en-US" b="0" i="1" smtClean="0">
                        <a:solidFill>
                          <a:srgbClr val="242021"/>
                        </a:solidFill>
                        <a:effectLst/>
                        <a:latin typeface="Cambria Math" panose="02040503050406030204" pitchFamily="18" charset="0"/>
                      </a:rPr>
                      <m:t>𝑛</m:t>
                    </m:r>
                    <m:r>
                      <a:rPr lang="en-US" b="0" i="1" smtClean="0">
                        <a:solidFill>
                          <a:srgbClr val="242021"/>
                        </a:solidFill>
                        <a:effectLst/>
                        <a:latin typeface="Cambria Math" panose="02040503050406030204" pitchFamily="18" charset="0"/>
                      </a:rPr>
                      <m:t>≤</m:t>
                    </m:r>
                    <m:r>
                      <a:rPr lang="en-US" b="0" i="1" smtClean="0">
                        <a:solidFill>
                          <a:srgbClr val="242021"/>
                        </a:solidFill>
                        <a:effectLst/>
                        <a:latin typeface="Cambria Math" panose="02040503050406030204" pitchFamily="18" charset="0"/>
                      </a:rPr>
                      <m:t>𝐻</m:t>
                    </m:r>
                  </m:oMath>
                </a14:m>
                <a:r>
                  <a:rPr lang="en-US" dirty="0">
                    <a:solidFill>
                      <a:srgbClr val="242021"/>
                    </a:solidFill>
                  </a:rPr>
                  <a:t> equation (7) </a:t>
                </a:r>
              </a:p>
              <a:p>
                <a:pPr>
                  <a:buFont typeface="Wingdings" panose="05000000000000000000" pitchFamily="2" charset="2"/>
                  <a:buChar char="q"/>
                </a:pPr>
                <a14:m>
                  <m:oMath xmlns:m="http://schemas.openxmlformats.org/officeDocument/2006/math">
                    <m:sSub>
                      <m:sSubPr>
                        <m:ctrlPr>
                          <a:rPr lang="en-US" i="1" smtClean="0">
                            <a:latin typeface="Cambria Math" panose="02040503050406030204" pitchFamily="18" charset="0"/>
                          </a:rPr>
                        </m:ctrlPr>
                      </m:sSubPr>
                      <m:e>
                        <m:r>
                          <a:rPr lang="en-US" b="0" i="1" smtClean="0">
                            <a:latin typeface="Cambria Math" panose="02040503050406030204" pitchFamily="18" charset="0"/>
                          </a:rPr>
                          <m:t>𝑝</m:t>
                        </m:r>
                      </m:e>
                      <m:sub>
                        <m:r>
                          <a:rPr lang="en-US" b="0" i="1" smtClean="0">
                            <a:latin typeface="Cambria Math" panose="02040503050406030204" pitchFamily="18" charset="0"/>
                          </a:rPr>
                          <m:t>0,</m:t>
                        </m:r>
                        <m:r>
                          <a:rPr lang="en-US" b="0" i="1" smtClean="0">
                            <a:latin typeface="Cambria Math" panose="02040503050406030204" pitchFamily="18" charset="0"/>
                          </a:rPr>
                          <m:t>𝐸</m:t>
                        </m:r>
                      </m:sub>
                    </m:sSub>
                  </m:oMath>
                </a14:m>
                <a:r>
                  <a:rPr lang="en-US" dirty="0"/>
                  <a:t>: probability of ECN’s queue is empty</a:t>
                </a:r>
              </a:p>
              <a:p>
                <a:pPr>
                  <a:buFont typeface="Wingdings" panose="05000000000000000000" pitchFamily="2" charset="2"/>
                  <a:buChar char="q"/>
                </a:pPr>
                <a:r>
                  <a:rPr lang="en-US" dirty="0"/>
                  <a:t>Equation (8.1) </a:t>
                </a:r>
              </a:p>
              <a:p>
                <a:pPr lvl="1">
                  <a:buFont typeface="Wingdings" panose="05000000000000000000" pitchFamily="2" charset="2"/>
                  <a:buChar char="q"/>
                </a:pPr>
                <a:r>
                  <a:rPr lang="en-US" dirty="0"/>
                  <a:t>state probability normalization</a:t>
                </a:r>
              </a:p>
              <a:p>
                <a:pPr>
                  <a:buFont typeface="Wingdings" panose="05000000000000000000" pitchFamily="2" charset="2"/>
                  <a:buChar char="q"/>
                </a:pPr>
                <a14:m>
                  <m:oMath xmlns:m="http://schemas.openxmlformats.org/officeDocument/2006/math">
                    <m:sSub>
                      <m:sSubPr>
                        <m:ctrlPr>
                          <a:rPr lang="en-US" i="1" smtClean="0">
                            <a:latin typeface="Cambria Math" panose="02040503050406030204" pitchFamily="18" charset="0"/>
                          </a:rPr>
                        </m:ctrlPr>
                      </m:sSubPr>
                      <m:e>
                        <m:r>
                          <a:rPr lang="en-US" b="0" i="1" smtClean="0">
                            <a:latin typeface="Cambria Math" panose="02040503050406030204" pitchFamily="18" charset="0"/>
                          </a:rPr>
                          <m:t>𝑃</m:t>
                        </m:r>
                      </m:e>
                      <m:sub>
                        <m:r>
                          <a:rPr lang="en-US" b="0" i="1" smtClean="0">
                            <a:latin typeface="Cambria Math" panose="02040503050406030204" pitchFamily="18" charset="0"/>
                          </a:rPr>
                          <m:t>𝐵</m:t>
                        </m:r>
                      </m:sub>
                    </m:sSub>
                    <m:r>
                      <a:rPr lang="en-US" b="0" i="1" smtClean="0">
                        <a:latin typeface="Cambria Math" panose="02040503050406030204" pitchFamily="18" charset="0"/>
                      </a:rPr>
                      <m:t>:</m:t>
                    </m:r>
                  </m:oMath>
                </a14:m>
                <a:r>
                  <a:rPr lang="en-US" dirty="0"/>
                  <a:t> probability of task blocked</a:t>
                </a:r>
              </a:p>
              <a:p>
                <a:pPr lvl="1">
                  <a:buFont typeface="Wingdings" panose="05000000000000000000" pitchFamily="2" charset="2"/>
                  <a:buChar char="q"/>
                </a:pPr>
                <a14:m>
                  <m:oMath xmlns:m="http://schemas.openxmlformats.org/officeDocument/2006/math">
                    <m:sSub>
                      <m:sSubPr>
                        <m:ctrlPr>
                          <a:rPr lang="en-US" i="1" smtClean="0">
                            <a:latin typeface="Cambria Math" panose="02040503050406030204" pitchFamily="18" charset="0"/>
                          </a:rPr>
                        </m:ctrlPr>
                      </m:sSubPr>
                      <m:e>
                        <m:r>
                          <a:rPr lang="en-US" b="0" i="1" smtClean="0">
                            <a:latin typeface="Cambria Math" panose="02040503050406030204" pitchFamily="18" charset="0"/>
                          </a:rPr>
                          <m:t>𝑃</m:t>
                        </m:r>
                      </m:e>
                      <m:sub>
                        <m:r>
                          <a:rPr lang="en-US" b="0" i="1" smtClean="0">
                            <a:latin typeface="Cambria Math" panose="02040503050406030204" pitchFamily="18" charset="0"/>
                          </a:rPr>
                          <m:t>𝐵</m:t>
                        </m:r>
                      </m:sub>
                    </m:sSub>
                    <m:r>
                      <a:rPr lang="en-US" b="0" i="1" smtClean="0">
                        <a:latin typeface="Cambria Math" panose="02040503050406030204" pitchFamily="18" charset="0"/>
                      </a:rPr>
                      <m:t>=</m:t>
                    </m:r>
                    <m:sSub>
                      <m:sSubPr>
                        <m:ctrlPr>
                          <a:rPr lang="en-US" b="0" i="1" smtClean="0">
                            <a:latin typeface="Cambria Math" panose="02040503050406030204" pitchFamily="18" charset="0"/>
                          </a:rPr>
                        </m:ctrlPr>
                      </m:sSubPr>
                      <m:e>
                        <m:r>
                          <a:rPr lang="en-US" b="0" i="1" smtClean="0">
                            <a:latin typeface="Cambria Math" panose="02040503050406030204" pitchFamily="18" charset="0"/>
                          </a:rPr>
                          <m:t>𝑝</m:t>
                        </m:r>
                      </m:e>
                      <m:sub>
                        <m:r>
                          <a:rPr lang="en-US" b="0" i="1" smtClean="0">
                            <a:latin typeface="Cambria Math" panose="02040503050406030204" pitchFamily="18" charset="0"/>
                          </a:rPr>
                          <m:t>𝐻</m:t>
                        </m:r>
                      </m:sub>
                    </m:sSub>
                  </m:oMath>
                </a14:m>
                <a:endParaRPr lang="en-US" dirty="0"/>
              </a:p>
              <a:p>
                <a:pPr>
                  <a:buFont typeface="Wingdings" panose="05000000000000000000" pitchFamily="2" charset="2"/>
                  <a:buChar char="q"/>
                </a:pPr>
                <a14:m>
                  <m:oMath xmlns:m="http://schemas.openxmlformats.org/officeDocument/2006/math">
                    <m:r>
                      <m:rPr>
                        <m:sty m:val="p"/>
                      </m:rPr>
                      <a:rPr lang="el-GR" i="1" smtClean="0">
                        <a:latin typeface="Cambria Math" panose="02040503050406030204" pitchFamily="18" charset="0"/>
                        <a:ea typeface="Cambria Math" panose="02040503050406030204" pitchFamily="18" charset="0"/>
                      </a:rPr>
                      <m:t>Λ</m:t>
                    </m:r>
                    <m:r>
                      <a:rPr lang="en-US" b="0" i="1" smtClean="0">
                        <a:latin typeface="Cambria Math" panose="02040503050406030204" pitchFamily="18" charset="0"/>
                        <a:ea typeface="Cambria Math" panose="02040503050406030204" pitchFamily="18" charset="0"/>
                      </a:rPr>
                      <m:t>(1−</m:t>
                    </m:r>
                    <m:sSub>
                      <m:sSubPr>
                        <m:ctrlPr>
                          <a:rPr lang="en-US" b="0" i="1" smtClean="0">
                            <a:latin typeface="Cambria Math" panose="02040503050406030204" pitchFamily="18" charset="0"/>
                            <a:ea typeface="Cambria Math" panose="02040503050406030204" pitchFamily="18" charset="0"/>
                          </a:rPr>
                        </m:ctrlPr>
                      </m:sSubPr>
                      <m:e>
                        <m:r>
                          <a:rPr lang="en-US" b="0" i="1" smtClean="0">
                            <a:latin typeface="Cambria Math" panose="02040503050406030204" pitchFamily="18" charset="0"/>
                            <a:ea typeface="Cambria Math" panose="02040503050406030204" pitchFamily="18" charset="0"/>
                          </a:rPr>
                          <m:t>𝑝</m:t>
                        </m:r>
                      </m:e>
                      <m:sub>
                        <m:r>
                          <a:rPr lang="en-US" b="0" i="1" smtClean="0">
                            <a:latin typeface="Cambria Math" panose="02040503050406030204" pitchFamily="18" charset="0"/>
                            <a:ea typeface="Cambria Math" panose="02040503050406030204" pitchFamily="18" charset="0"/>
                          </a:rPr>
                          <m:t>𝐻</m:t>
                        </m:r>
                      </m:sub>
                    </m:sSub>
                    <m:r>
                      <a:rPr lang="en-US" b="0" i="1" smtClean="0">
                        <a:latin typeface="Cambria Math" panose="02040503050406030204" pitchFamily="18" charset="0"/>
                        <a:ea typeface="Cambria Math" panose="02040503050406030204" pitchFamily="18" charset="0"/>
                      </a:rPr>
                      <m:t>)</m:t>
                    </m:r>
                  </m:oMath>
                </a14:m>
                <a:endParaRPr lang="en-US" dirty="0"/>
              </a:p>
              <a:p>
                <a:pPr lvl="1">
                  <a:buFont typeface="Wingdings" panose="05000000000000000000" pitchFamily="2" charset="2"/>
                  <a:buChar char="q"/>
                </a:pPr>
                <a:r>
                  <a:rPr lang="en-US" sz="1800" b="0" i="0" dirty="0">
                    <a:solidFill>
                      <a:srgbClr val="242021"/>
                    </a:solidFill>
                    <a:effectLst/>
                  </a:rPr>
                  <a:t>mean task arrival rate at each ECN system</a:t>
                </a:r>
              </a:p>
              <a:p>
                <a:pPr lvl="1">
                  <a:buFont typeface="Wingdings" panose="05000000000000000000" pitchFamily="2" charset="2"/>
                  <a:buChar char="q"/>
                </a:pPr>
                <a:r>
                  <a:rPr lang="en-US" dirty="0">
                    <a:solidFill>
                      <a:srgbClr val="242021"/>
                    </a:solidFill>
                  </a:rPr>
                  <a:t>X is state number</a:t>
                </a:r>
                <a:endParaRPr lang="en-US" dirty="0"/>
              </a:p>
            </p:txBody>
          </p:sp>
        </mc:Choice>
        <mc:Fallback xmlns="">
          <p:sp>
            <p:nvSpPr>
              <p:cNvPr id="3" name="Content Placeholder 2">
                <a:extLst>
                  <a:ext uri="{FF2B5EF4-FFF2-40B4-BE49-F238E27FC236}">
                    <a16:creationId xmlns:a16="http://schemas.microsoft.com/office/drawing/2014/main" id="{D49450B6-3396-4894-8260-A12503036B2D}"/>
                  </a:ext>
                </a:extLst>
              </p:cNvPr>
              <p:cNvSpPr>
                <a:spLocks noGrp="1" noRot="1" noChangeAspect="1" noMove="1" noResize="1" noEditPoints="1" noAdjustHandles="1" noChangeArrowheads="1" noChangeShapeType="1" noTextEdit="1"/>
              </p:cNvSpPr>
              <p:nvPr>
                <p:ph idx="1"/>
              </p:nvPr>
            </p:nvSpPr>
            <p:spPr>
              <a:xfrm>
                <a:off x="1097280" y="1845733"/>
                <a:ext cx="5392730" cy="4421251"/>
              </a:xfrm>
              <a:blipFill>
                <a:blip r:embed="rId2"/>
                <a:stretch>
                  <a:fillRect l="-2712" t="-1517"/>
                </a:stretch>
              </a:blipFill>
            </p:spPr>
            <p:txBody>
              <a:bodyPr/>
              <a:lstStyle/>
              <a:p>
                <a:r>
                  <a:rPr lang="en-US">
                    <a:noFill/>
                  </a:rPr>
                  <a:t> </a:t>
                </a:r>
              </a:p>
            </p:txBody>
          </p:sp>
        </mc:Fallback>
      </mc:AlternateContent>
      <p:sp>
        <p:nvSpPr>
          <p:cNvPr id="4" name="Slide Number Placeholder 3">
            <a:extLst>
              <a:ext uri="{FF2B5EF4-FFF2-40B4-BE49-F238E27FC236}">
                <a16:creationId xmlns:a16="http://schemas.microsoft.com/office/drawing/2014/main" id="{E7810A3C-71BB-4B0F-A6F3-85321964DA47}"/>
              </a:ext>
            </a:extLst>
          </p:cNvPr>
          <p:cNvSpPr>
            <a:spLocks noGrp="1"/>
          </p:cNvSpPr>
          <p:nvPr>
            <p:ph type="sldNum" sz="quarter" idx="12"/>
          </p:nvPr>
        </p:nvSpPr>
        <p:spPr/>
        <p:txBody>
          <a:bodyPr/>
          <a:lstStyle/>
          <a:p>
            <a:fld id="{DC4CAFB8-3EF6-4FAF-BDFA-EA2F8D8834E4}" type="slidenum">
              <a:rPr lang="en-US" smtClean="0"/>
              <a:t>18</a:t>
            </a:fld>
            <a:endParaRPr lang="en-US"/>
          </a:p>
        </p:txBody>
      </p:sp>
      <p:pic>
        <p:nvPicPr>
          <p:cNvPr id="6" name="Picture 5">
            <a:extLst>
              <a:ext uri="{FF2B5EF4-FFF2-40B4-BE49-F238E27FC236}">
                <a16:creationId xmlns:a16="http://schemas.microsoft.com/office/drawing/2014/main" id="{19BE5436-38C1-40F3-A010-3E3917F6D170}"/>
              </a:ext>
            </a:extLst>
          </p:cNvPr>
          <p:cNvPicPr>
            <a:picLocks noChangeAspect="1"/>
          </p:cNvPicPr>
          <p:nvPr/>
        </p:nvPicPr>
        <p:blipFill>
          <a:blip r:embed="rId3"/>
          <a:stretch>
            <a:fillRect/>
          </a:stretch>
        </p:blipFill>
        <p:spPr>
          <a:xfrm>
            <a:off x="7115800" y="2005565"/>
            <a:ext cx="4096683" cy="655810"/>
          </a:xfrm>
          <a:prstGeom prst="rect">
            <a:avLst/>
          </a:prstGeom>
        </p:spPr>
      </p:pic>
      <p:pic>
        <p:nvPicPr>
          <p:cNvPr id="8" name="Picture 7">
            <a:extLst>
              <a:ext uri="{FF2B5EF4-FFF2-40B4-BE49-F238E27FC236}">
                <a16:creationId xmlns:a16="http://schemas.microsoft.com/office/drawing/2014/main" id="{336D9075-6562-4CA9-819C-C762841B9A9F}"/>
              </a:ext>
            </a:extLst>
          </p:cNvPr>
          <p:cNvPicPr>
            <a:picLocks noChangeAspect="1"/>
          </p:cNvPicPr>
          <p:nvPr/>
        </p:nvPicPr>
        <p:blipFill>
          <a:blip r:embed="rId4"/>
          <a:stretch>
            <a:fillRect/>
          </a:stretch>
        </p:blipFill>
        <p:spPr>
          <a:xfrm>
            <a:off x="6511093" y="2791420"/>
            <a:ext cx="4701390" cy="655810"/>
          </a:xfrm>
          <a:prstGeom prst="rect">
            <a:avLst/>
          </a:prstGeom>
        </p:spPr>
      </p:pic>
      <p:pic>
        <p:nvPicPr>
          <p:cNvPr id="10" name="Picture 9">
            <a:extLst>
              <a:ext uri="{FF2B5EF4-FFF2-40B4-BE49-F238E27FC236}">
                <a16:creationId xmlns:a16="http://schemas.microsoft.com/office/drawing/2014/main" id="{A55839C8-82EB-4FF5-ADA4-DF2052777A74}"/>
              </a:ext>
            </a:extLst>
          </p:cNvPr>
          <p:cNvPicPr>
            <a:picLocks noChangeAspect="1"/>
          </p:cNvPicPr>
          <p:nvPr/>
        </p:nvPicPr>
        <p:blipFill>
          <a:blip r:embed="rId5"/>
          <a:stretch>
            <a:fillRect/>
          </a:stretch>
        </p:blipFill>
        <p:spPr>
          <a:xfrm>
            <a:off x="5819753" y="3506499"/>
            <a:ext cx="5435639" cy="945686"/>
          </a:xfrm>
          <a:prstGeom prst="rect">
            <a:avLst/>
          </a:prstGeom>
        </p:spPr>
      </p:pic>
      <mc:AlternateContent xmlns:mc="http://schemas.openxmlformats.org/markup-compatibility/2006" xmlns:a14="http://schemas.microsoft.com/office/drawing/2010/main">
        <mc:Choice Requires="a14">
          <p:sp>
            <p:nvSpPr>
              <p:cNvPr id="12" name="TextBox 11">
                <a:extLst>
                  <a:ext uri="{FF2B5EF4-FFF2-40B4-BE49-F238E27FC236}">
                    <a16:creationId xmlns:a16="http://schemas.microsoft.com/office/drawing/2014/main" id="{4554C7C3-0F1E-467C-B957-ECBADB805289}"/>
                  </a:ext>
                </a:extLst>
              </p:cNvPr>
              <p:cNvSpPr txBox="1"/>
              <p:nvPr/>
            </p:nvSpPr>
            <p:spPr>
              <a:xfrm>
                <a:off x="7241975" y="4488486"/>
                <a:ext cx="2115220" cy="852413"/>
              </a:xfrm>
              <a:prstGeom prst="rect">
                <a:avLst/>
              </a:prstGeom>
              <a:noFill/>
            </p:spPr>
            <p:txBody>
              <a:bodyPr wrap="square">
                <a:spAutoFit/>
              </a:bodyPr>
              <a:lstStyle/>
              <a:p>
                <a:pPr/>
                <a14:m>
                  <m:oMathPara xmlns:m="http://schemas.openxmlformats.org/officeDocument/2006/math">
                    <m:oMathParaPr>
                      <m:jc m:val="centerGroup"/>
                    </m:oMathParaPr>
                    <m:oMath xmlns:m="http://schemas.openxmlformats.org/officeDocument/2006/math">
                      <m:sSub>
                        <m:sSubPr>
                          <m:ctrlPr>
                            <a:rPr lang="en-US" i="1" smtClean="0">
                              <a:latin typeface="Cambria Math" panose="02040503050406030204" pitchFamily="18" charset="0"/>
                            </a:rPr>
                          </m:ctrlPr>
                        </m:sSubPr>
                        <m:e>
                          <m:r>
                            <a:rPr lang="en-US" b="0" i="1" smtClean="0">
                              <a:latin typeface="Cambria Math" panose="02040503050406030204" pitchFamily="18" charset="0"/>
                            </a:rPr>
                            <m:t>𝑝</m:t>
                          </m:r>
                        </m:e>
                        <m:sub>
                          <m:r>
                            <a:rPr lang="en-US" b="0" i="1" smtClean="0">
                              <a:latin typeface="Cambria Math" panose="02040503050406030204" pitchFamily="18" charset="0"/>
                            </a:rPr>
                            <m:t>0,</m:t>
                          </m:r>
                          <m:r>
                            <a:rPr lang="en-US" b="0" i="1" smtClean="0">
                              <a:latin typeface="Cambria Math" panose="02040503050406030204" pitchFamily="18" charset="0"/>
                            </a:rPr>
                            <m:t>𝐸</m:t>
                          </m:r>
                        </m:sub>
                      </m:sSub>
                      <m:r>
                        <a:rPr lang="en-US" b="0" i="1" smtClean="0">
                          <a:latin typeface="Cambria Math" panose="02040503050406030204" pitchFamily="18" charset="0"/>
                        </a:rPr>
                        <m:t>+</m:t>
                      </m:r>
                      <m:nary>
                        <m:naryPr>
                          <m:chr m:val="∑"/>
                          <m:ctrlPr>
                            <a:rPr lang="en-US" b="0" i="1" smtClean="0">
                              <a:latin typeface="Cambria Math" panose="02040503050406030204" pitchFamily="18" charset="0"/>
                            </a:rPr>
                          </m:ctrlPr>
                        </m:naryPr>
                        <m:sub>
                          <m:r>
                            <m:rPr>
                              <m:brk m:alnAt="23"/>
                            </m:rPr>
                            <a:rPr lang="en-US" b="0" i="1" smtClean="0">
                              <a:latin typeface="Cambria Math" panose="02040503050406030204" pitchFamily="18" charset="0"/>
                            </a:rPr>
                            <m:t>𝑖</m:t>
                          </m:r>
                          <m:r>
                            <a:rPr lang="en-US" b="0" i="1" smtClean="0">
                              <a:latin typeface="Cambria Math" panose="02040503050406030204" pitchFamily="18" charset="0"/>
                            </a:rPr>
                            <m:t>=1</m:t>
                          </m:r>
                        </m:sub>
                        <m:sup>
                          <m:r>
                            <a:rPr lang="en-US" b="0" i="1" smtClean="0">
                              <a:latin typeface="Cambria Math" panose="02040503050406030204" pitchFamily="18" charset="0"/>
                              <a:ea typeface="Cambria Math" panose="02040503050406030204" pitchFamily="18" charset="0"/>
                            </a:rPr>
                            <m:t>∞</m:t>
                          </m:r>
                        </m:sup>
                        <m:e>
                          <m:sSub>
                            <m:sSubPr>
                              <m:ctrlPr>
                                <a:rPr lang="en-US" b="0" i="1" smtClean="0">
                                  <a:latin typeface="Cambria Math" panose="02040503050406030204" pitchFamily="18" charset="0"/>
                                </a:rPr>
                              </m:ctrlPr>
                            </m:sSubPr>
                            <m:e>
                              <m:r>
                                <a:rPr lang="en-US" b="0" i="1" smtClean="0">
                                  <a:latin typeface="Cambria Math" panose="02040503050406030204" pitchFamily="18" charset="0"/>
                                </a:rPr>
                                <m:t>𝑝</m:t>
                              </m:r>
                            </m:e>
                            <m:sub>
                              <m:r>
                                <a:rPr lang="en-US" b="0" i="1" smtClean="0">
                                  <a:latin typeface="Cambria Math" panose="02040503050406030204" pitchFamily="18" charset="0"/>
                                </a:rPr>
                                <m:t>𝑖</m:t>
                              </m:r>
                            </m:sub>
                          </m:sSub>
                        </m:e>
                      </m:nary>
                      <m:r>
                        <a:rPr lang="en-US" b="0" i="1" smtClean="0">
                          <a:latin typeface="Cambria Math" panose="02040503050406030204" pitchFamily="18" charset="0"/>
                        </a:rPr>
                        <m:t>=1, </m:t>
                      </m:r>
                    </m:oMath>
                  </m:oMathPara>
                </a14:m>
                <a:endParaRPr lang="en-US" dirty="0"/>
              </a:p>
            </p:txBody>
          </p:sp>
        </mc:Choice>
        <mc:Fallback xmlns="">
          <p:sp>
            <p:nvSpPr>
              <p:cNvPr id="12" name="TextBox 11">
                <a:extLst>
                  <a:ext uri="{FF2B5EF4-FFF2-40B4-BE49-F238E27FC236}">
                    <a16:creationId xmlns:a16="http://schemas.microsoft.com/office/drawing/2014/main" id="{4554C7C3-0F1E-467C-B957-ECBADB805289}"/>
                  </a:ext>
                </a:extLst>
              </p:cNvPr>
              <p:cNvSpPr txBox="1">
                <a:spLocks noRot="1" noChangeAspect="1" noMove="1" noResize="1" noEditPoints="1" noAdjustHandles="1" noChangeArrowheads="1" noChangeShapeType="1" noTextEdit="1"/>
              </p:cNvSpPr>
              <p:nvPr/>
            </p:nvSpPr>
            <p:spPr>
              <a:xfrm>
                <a:off x="7241975" y="4488486"/>
                <a:ext cx="2115220" cy="852413"/>
              </a:xfrm>
              <a:prstGeom prst="rect">
                <a:avLst/>
              </a:prstGeom>
              <a:blipFill>
                <a:blip r:embed="rId6"/>
                <a:stretch>
                  <a:fillRect/>
                </a:stretch>
              </a:blipFill>
            </p:spPr>
            <p:txBody>
              <a:bodyPr/>
              <a:lstStyle/>
              <a:p>
                <a:r>
                  <a:rPr lang="en-US">
                    <a:noFill/>
                  </a:rPr>
                  <a:t> </a:t>
                </a:r>
              </a:p>
            </p:txBody>
          </p:sp>
        </mc:Fallback>
      </mc:AlternateContent>
      <p:pic>
        <p:nvPicPr>
          <p:cNvPr id="14" name="Picture 13">
            <a:extLst>
              <a:ext uri="{FF2B5EF4-FFF2-40B4-BE49-F238E27FC236}">
                <a16:creationId xmlns:a16="http://schemas.microsoft.com/office/drawing/2014/main" id="{195EFF13-8130-4189-9572-FA870A49BE3C}"/>
              </a:ext>
            </a:extLst>
          </p:cNvPr>
          <p:cNvPicPr>
            <a:picLocks noChangeAspect="1"/>
          </p:cNvPicPr>
          <p:nvPr/>
        </p:nvPicPr>
        <p:blipFill>
          <a:blip r:embed="rId7"/>
          <a:stretch>
            <a:fillRect/>
          </a:stretch>
        </p:blipFill>
        <p:spPr>
          <a:xfrm>
            <a:off x="6867518" y="5392472"/>
            <a:ext cx="4394764" cy="772517"/>
          </a:xfrm>
          <a:prstGeom prst="rect">
            <a:avLst/>
          </a:prstGeom>
        </p:spPr>
      </p:pic>
      <p:sp>
        <p:nvSpPr>
          <p:cNvPr id="15" name="TextBox 14">
            <a:extLst>
              <a:ext uri="{FF2B5EF4-FFF2-40B4-BE49-F238E27FC236}">
                <a16:creationId xmlns:a16="http://schemas.microsoft.com/office/drawing/2014/main" id="{01599474-3267-4EA9-A803-E8236690BDCF}"/>
              </a:ext>
            </a:extLst>
          </p:cNvPr>
          <p:cNvSpPr txBox="1"/>
          <p:nvPr/>
        </p:nvSpPr>
        <p:spPr>
          <a:xfrm>
            <a:off x="10732599" y="4741177"/>
            <a:ext cx="1059366" cy="369332"/>
          </a:xfrm>
          <a:prstGeom prst="rect">
            <a:avLst/>
          </a:prstGeom>
          <a:noFill/>
        </p:spPr>
        <p:txBody>
          <a:bodyPr wrap="square" rtlCol="0">
            <a:spAutoFit/>
          </a:bodyPr>
          <a:lstStyle/>
          <a:p>
            <a:r>
              <a:rPr lang="en-US" dirty="0"/>
              <a:t>(8.1)</a:t>
            </a:r>
          </a:p>
        </p:txBody>
      </p:sp>
      <p:sp>
        <p:nvSpPr>
          <p:cNvPr id="11" name="TextBox 10">
            <a:extLst>
              <a:ext uri="{FF2B5EF4-FFF2-40B4-BE49-F238E27FC236}">
                <a16:creationId xmlns:a16="http://schemas.microsoft.com/office/drawing/2014/main" id="{D76FF2B3-A53E-46C7-9EF7-CFECD72DD5E3}"/>
              </a:ext>
            </a:extLst>
          </p:cNvPr>
          <p:cNvSpPr txBox="1"/>
          <p:nvPr/>
        </p:nvSpPr>
        <p:spPr>
          <a:xfrm>
            <a:off x="189571" y="6447755"/>
            <a:ext cx="3579542" cy="369332"/>
          </a:xfrm>
          <a:prstGeom prst="rect">
            <a:avLst/>
          </a:prstGeom>
          <a:noFill/>
        </p:spPr>
        <p:txBody>
          <a:bodyPr wrap="square" rtlCol="0">
            <a:spAutoFit/>
          </a:bodyPr>
          <a:lstStyle/>
          <a:p>
            <a:r>
              <a:rPr lang="en-US" dirty="0">
                <a:solidFill>
                  <a:schemeClr val="bg1"/>
                </a:solidFill>
              </a:rPr>
              <a:t>Mohammad Mahdi Manafi</a:t>
            </a:r>
          </a:p>
        </p:txBody>
      </p:sp>
    </p:spTree>
    <p:extLst>
      <p:ext uri="{BB962C8B-B14F-4D97-AF65-F5344CB8AC3E}">
        <p14:creationId xmlns:p14="http://schemas.microsoft.com/office/powerpoint/2010/main" val="151935383"/>
      </p:ext>
    </p:extLst>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Title 4">
            <a:extLst>
              <a:ext uri="{FF2B5EF4-FFF2-40B4-BE49-F238E27FC236}">
                <a16:creationId xmlns:a16="http://schemas.microsoft.com/office/drawing/2014/main" id="{60C327C6-07F3-49F5-B63E-7A6D41FA584B}"/>
              </a:ext>
            </a:extLst>
          </p:cNvPr>
          <p:cNvSpPr>
            <a:spLocks noGrp="1"/>
          </p:cNvSpPr>
          <p:nvPr>
            <p:ph type="title"/>
          </p:nvPr>
        </p:nvSpPr>
        <p:spPr/>
        <p:txBody>
          <a:bodyPr/>
          <a:lstStyle/>
          <a:p>
            <a:r>
              <a:rPr lang="en-US" dirty="0"/>
              <a:t>Fog subsystem analysis</a:t>
            </a:r>
          </a:p>
        </p:txBody>
      </p:sp>
      <p:sp>
        <p:nvSpPr>
          <p:cNvPr id="6" name="Text Placeholder 5">
            <a:extLst>
              <a:ext uri="{FF2B5EF4-FFF2-40B4-BE49-F238E27FC236}">
                <a16:creationId xmlns:a16="http://schemas.microsoft.com/office/drawing/2014/main" id="{6F5CAFBD-D895-4EE0-84A0-46C1B0629AD2}"/>
              </a:ext>
            </a:extLst>
          </p:cNvPr>
          <p:cNvSpPr>
            <a:spLocks noGrp="1"/>
          </p:cNvSpPr>
          <p:nvPr>
            <p:ph type="body" idx="1"/>
          </p:nvPr>
        </p:nvSpPr>
        <p:spPr/>
        <p:txBody>
          <a:bodyPr/>
          <a:lstStyle/>
          <a:p>
            <a:r>
              <a:rPr lang="en-US" dirty="0"/>
              <a:t>Section 2</a:t>
            </a:r>
          </a:p>
        </p:txBody>
      </p:sp>
    </p:spTree>
    <p:extLst>
      <p:ext uri="{BB962C8B-B14F-4D97-AF65-F5344CB8AC3E}">
        <p14:creationId xmlns:p14="http://schemas.microsoft.com/office/powerpoint/2010/main" val="3017006874"/>
      </p:ext>
    </p:extLst>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Title 4">
            <a:extLst>
              <a:ext uri="{FF2B5EF4-FFF2-40B4-BE49-F238E27FC236}">
                <a16:creationId xmlns:a16="http://schemas.microsoft.com/office/drawing/2014/main" id="{0C92BE01-DD48-4123-BDD1-D3DB5A8CB824}"/>
              </a:ext>
            </a:extLst>
          </p:cNvPr>
          <p:cNvSpPr>
            <a:spLocks noGrp="1"/>
          </p:cNvSpPr>
          <p:nvPr>
            <p:ph type="title"/>
          </p:nvPr>
        </p:nvSpPr>
        <p:spPr/>
        <p:txBody>
          <a:bodyPr/>
          <a:lstStyle/>
          <a:p>
            <a:r>
              <a:rPr lang="en-US" dirty="0"/>
              <a:t>Fog subsystem analysis</a:t>
            </a:r>
          </a:p>
        </p:txBody>
      </p:sp>
      <mc:AlternateContent xmlns:mc="http://schemas.openxmlformats.org/markup-compatibility/2006" xmlns:a14="http://schemas.microsoft.com/office/drawing/2010/main">
        <mc:Choice Requires="a14">
          <p:sp>
            <p:nvSpPr>
              <p:cNvPr id="6" name="Content Placeholder 5">
                <a:extLst>
                  <a:ext uri="{FF2B5EF4-FFF2-40B4-BE49-F238E27FC236}">
                    <a16:creationId xmlns:a16="http://schemas.microsoft.com/office/drawing/2014/main" id="{9682E3B3-5EB2-499C-BFCB-B2A9BA370B2F}"/>
                  </a:ext>
                </a:extLst>
              </p:cNvPr>
              <p:cNvSpPr>
                <a:spLocks noGrp="1"/>
              </p:cNvSpPr>
              <p:nvPr>
                <p:ph idx="1"/>
              </p:nvPr>
            </p:nvSpPr>
            <p:spPr>
              <a:xfrm>
                <a:off x="1097279" y="1845734"/>
                <a:ext cx="4857471" cy="4023360"/>
              </a:xfrm>
            </p:spPr>
            <p:txBody>
              <a:bodyPr>
                <a:normAutofit lnSpcReduction="10000"/>
              </a:bodyPr>
              <a:lstStyle/>
              <a:p>
                <a:pPr>
                  <a:buFont typeface="Wingdings" panose="05000000000000000000" pitchFamily="2" charset="2"/>
                  <a:buChar char="q"/>
                </a:pPr>
                <a:r>
                  <a:rPr lang="en-US" dirty="0"/>
                  <a:t>FCN queuing model</a:t>
                </a:r>
              </a:p>
              <a:p>
                <a:pPr lvl="1">
                  <a:buFont typeface="Wingdings" panose="05000000000000000000" pitchFamily="2" charset="2"/>
                  <a:buChar char="q"/>
                </a:pPr>
                <a:r>
                  <a:rPr lang="en-US" sz="1800" b="0" i="0" dirty="0">
                    <a:solidFill>
                      <a:srgbClr val="242021"/>
                    </a:solidFill>
                    <a:effectLst/>
                  </a:rPr>
                  <a:t>M/M/F/A</a:t>
                </a:r>
              </a:p>
              <a:p>
                <a:pPr lvl="1">
                  <a:buFont typeface="Wingdings" panose="05000000000000000000" pitchFamily="2" charset="2"/>
                  <a:buChar char="q"/>
                </a:pPr>
                <a:r>
                  <a:rPr lang="en-US" dirty="0">
                    <a:solidFill>
                      <a:srgbClr val="242021"/>
                    </a:solidFill>
                  </a:rPr>
                  <a:t>Serving FCFS model</a:t>
                </a:r>
                <a:endParaRPr lang="en-US" dirty="0"/>
              </a:p>
              <a:p>
                <a:pPr>
                  <a:buFont typeface="Wingdings" panose="05000000000000000000" pitchFamily="2" charset="2"/>
                  <a:buChar char="q"/>
                </a:pPr>
                <a14:m>
                  <m:oMath xmlns:m="http://schemas.openxmlformats.org/officeDocument/2006/math">
                    <m:sSub>
                      <m:sSubPr>
                        <m:ctrlPr>
                          <a:rPr lang="en-US" i="1" smtClean="0">
                            <a:latin typeface="Cambria Math" panose="02040503050406030204" pitchFamily="18" charset="0"/>
                          </a:rPr>
                        </m:ctrlPr>
                      </m:sSubPr>
                      <m:e>
                        <m:r>
                          <a:rPr lang="en-US" b="0" i="1" smtClean="0">
                            <a:latin typeface="Cambria Math" panose="02040503050406030204" pitchFamily="18" charset="0"/>
                          </a:rPr>
                          <m:t>𝑇</m:t>
                        </m:r>
                      </m:e>
                      <m:sub>
                        <m:r>
                          <a:rPr lang="en-US" b="0" i="1" smtClean="0">
                            <a:latin typeface="Cambria Math" panose="02040503050406030204" pitchFamily="18" charset="0"/>
                          </a:rPr>
                          <m:t>𝐹</m:t>
                        </m:r>
                      </m:sub>
                    </m:sSub>
                  </m:oMath>
                </a14:m>
                <a:r>
                  <a:rPr lang="en-US" dirty="0"/>
                  <a:t>: mean time of processing a task in FCNs</a:t>
                </a:r>
              </a:p>
              <a:p>
                <a:pPr lvl="1">
                  <a:buFont typeface="Wingdings" panose="05000000000000000000" pitchFamily="2" charset="2"/>
                  <a:buChar char="q"/>
                </a:pPr>
                <a14:m>
                  <m:oMath xmlns:m="http://schemas.openxmlformats.org/officeDocument/2006/math">
                    <m:r>
                      <a:rPr lang="en-US" b="0" i="1" smtClean="0">
                        <a:latin typeface="Cambria Math" panose="02040503050406030204" pitchFamily="18" charset="0"/>
                      </a:rPr>
                      <m:t>𝑈</m:t>
                    </m:r>
                    <m:r>
                      <a:rPr lang="en-US" b="0" i="1" smtClean="0">
                        <a:latin typeface="Cambria Math" panose="02040503050406030204" pitchFamily="18" charset="0"/>
                      </a:rPr>
                      <m:t>=</m:t>
                    </m:r>
                    <m:sSub>
                      <m:sSubPr>
                        <m:ctrlPr>
                          <a:rPr lang="en-US" i="1" smtClean="0">
                            <a:latin typeface="Cambria Math" panose="02040503050406030204" pitchFamily="18" charset="0"/>
                          </a:rPr>
                        </m:ctrlPr>
                      </m:sSubPr>
                      <m:e>
                        <m:r>
                          <a:rPr lang="en-US" b="0" i="1" smtClean="0">
                            <a:latin typeface="Cambria Math" panose="02040503050406030204" pitchFamily="18" charset="0"/>
                          </a:rPr>
                          <m:t>𝑇</m:t>
                        </m:r>
                      </m:e>
                      <m:sub>
                        <m:r>
                          <a:rPr lang="en-US" b="0" i="1" smtClean="0">
                            <a:latin typeface="Cambria Math" panose="02040503050406030204" pitchFamily="18" charset="0"/>
                          </a:rPr>
                          <m:t>𝐹</m:t>
                        </m:r>
                      </m:sub>
                    </m:sSub>
                  </m:oMath>
                </a14:m>
                <a:r>
                  <a:rPr lang="en-US" dirty="0"/>
                  <a:t> task completion time at FCN</a:t>
                </a:r>
              </a:p>
              <a:p>
                <a:pPr lvl="1">
                  <a:buFont typeface="Wingdings" panose="05000000000000000000" pitchFamily="2" charset="2"/>
                  <a:buChar char="q"/>
                </a:pPr>
                <a:r>
                  <a:rPr lang="en-US" dirty="0"/>
                  <a:t>Exponentially distributed</a:t>
                </a:r>
              </a:p>
              <a:p>
                <a:pPr>
                  <a:buFont typeface="Wingdings" panose="05000000000000000000" pitchFamily="2" charset="2"/>
                  <a:buChar char="q"/>
                </a:pPr>
                <a:r>
                  <a:rPr lang="en-US" dirty="0"/>
                  <a:t>Tasks must be completed before deadline</a:t>
                </a:r>
              </a:p>
              <a:p>
                <a:pPr lvl="1">
                  <a:buFont typeface="Wingdings" panose="05000000000000000000" pitchFamily="2" charset="2"/>
                  <a:buChar char="q"/>
                </a:pPr>
                <a14:m>
                  <m:oMath xmlns:m="http://schemas.openxmlformats.org/officeDocument/2006/math">
                    <m:sSub>
                      <m:sSubPr>
                        <m:ctrlPr>
                          <a:rPr lang="en-US" i="1" smtClean="0">
                            <a:latin typeface="Cambria Math" panose="02040503050406030204" pitchFamily="18" charset="0"/>
                          </a:rPr>
                        </m:ctrlPr>
                      </m:sSubPr>
                      <m:e>
                        <m:r>
                          <a:rPr lang="en-US" b="0" i="1" smtClean="0">
                            <a:latin typeface="Cambria Math" panose="02040503050406030204" pitchFamily="18" charset="0"/>
                          </a:rPr>
                          <m:t>𝑃</m:t>
                        </m:r>
                      </m:e>
                      <m:sub>
                        <m:r>
                          <a:rPr lang="en-US" b="0" i="1" smtClean="0">
                            <a:latin typeface="Cambria Math" panose="02040503050406030204" pitchFamily="18" charset="0"/>
                          </a:rPr>
                          <m:t>𝐹𝑂𝑈𝑇</m:t>
                        </m:r>
                      </m:sub>
                    </m:sSub>
                    <m:r>
                      <a:rPr lang="en-US" b="0" i="1" smtClean="0">
                        <a:latin typeface="Cambria Math" panose="02040503050406030204" pitchFamily="18" charset="0"/>
                      </a:rPr>
                      <m:t>(</m:t>
                    </m:r>
                    <m:r>
                      <a:rPr lang="en-US" b="0" i="1" smtClean="0">
                        <a:latin typeface="Cambria Math" panose="02040503050406030204" pitchFamily="18" charset="0"/>
                      </a:rPr>
                      <m:t>𝐹</m:t>
                    </m:r>
                    <m:r>
                      <a:rPr lang="en-US" b="0" i="1" smtClean="0">
                        <a:latin typeface="Cambria Math" panose="02040503050406030204" pitchFamily="18" charset="0"/>
                      </a:rPr>
                      <m:t>,</m:t>
                    </m:r>
                    <m:r>
                      <a:rPr lang="en-US" b="0" i="1" smtClean="0">
                        <a:latin typeface="Cambria Math" panose="02040503050406030204" pitchFamily="18" charset="0"/>
                      </a:rPr>
                      <m:t>𝐴</m:t>
                    </m:r>
                    <m:r>
                      <a:rPr lang="en-US" b="0" i="1" smtClean="0">
                        <a:latin typeface="Cambria Math" panose="02040503050406030204" pitchFamily="18" charset="0"/>
                      </a:rPr>
                      <m:t>)≤</m:t>
                    </m:r>
                    <m:sSub>
                      <m:sSubPr>
                        <m:ctrlPr>
                          <a:rPr lang="en-US" b="0" i="1" smtClean="0">
                            <a:latin typeface="Cambria Math" panose="02040503050406030204" pitchFamily="18" charset="0"/>
                          </a:rPr>
                        </m:ctrlPr>
                      </m:sSubPr>
                      <m:e>
                        <m:r>
                          <a:rPr lang="en-US" b="0" i="1" smtClean="0">
                            <a:latin typeface="Cambria Math" panose="02040503050406030204" pitchFamily="18" charset="0"/>
                          </a:rPr>
                          <m:t>𝑃</m:t>
                        </m:r>
                      </m:e>
                      <m:sub>
                        <m:r>
                          <a:rPr lang="en-US" b="0" i="1" smtClean="0">
                            <a:latin typeface="Cambria Math" panose="02040503050406030204" pitchFamily="18" charset="0"/>
                          </a:rPr>
                          <m:t>𝐹𝑂𝑈𝑇</m:t>
                        </m:r>
                        <m:r>
                          <a:rPr lang="en-US" b="0" i="1" smtClean="0">
                            <a:latin typeface="Cambria Math" panose="02040503050406030204" pitchFamily="18" charset="0"/>
                          </a:rPr>
                          <m:t>,</m:t>
                        </m:r>
                        <m:r>
                          <a:rPr lang="en-US" b="0" i="1" smtClean="0">
                            <a:latin typeface="Cambria Math" panose="02040503050406030204" pitchFamily="18" charset="0"/>
                          </a:rPr>
                          <m:t>𝑡𝑔</m:t>
                        </m:r>
                      </m:sub>
                    </m:sSub>
                  </m:oMath>
                </a14:m>
                <a:endParaRPr lang="en-US" b="0" dirty="0"/>
              </a:p>
              <a:p>
                <a:pPr lvl="1">
                  <a:buFont typeface="Wingdings" panose="05000000000000000000" pitchFamily="2" charset="2"/>
                  <a:buChar char="q"/>
                </a:pPr>
                <a:r>
                  <a:rPr lang="en-US" dirty="0"/>
                  <a:t>Selection of F and A must satisfy this inequality</a:t>
                </a:r>
              </a:p>
              <a:p>
                <a:pPr>
                  <a:buFont typeface="Wingdings" panose="05000000000000000000" pitchFamily="2" charset="2"/>
                  <a:buChar char="q"/>
                </a:pPr>
                <a:r>
                  <a:rPr lang="en-US" dirty="0"/>
                  <a:t>equation (12)</a:t>
                </a:r>
              </a:p>
              <a:p>
                <a:pPr lvl="1">
                  <a:buFont typeface="Wingdings" panose="05000000000000000000" pitchFamily="2" charset="2"/>
                  <a:buChar char="q"/>
                </a:pPr>
                <a14:m>
                  <m:oMath xmlns:m="http://schemas.openxmlformats.org/officeDocument/2006/math">
                    <m:r>
                      <a:rPr lang="en-US" i="1" smtClean="0">
                        <a:latin typeface="Cambria Math" panose="02040503050406030204" pitchFamily="18" charset="0"/>
                        <a:ea typeface="Cambria Math" panose="02040503050406030204" pitchFamily="18" charset="0"/>
                      </a:rPr>
                      <m:t>𝜋</m:t>
                    </m:r>
                    <m:r>
                      <a:rPr lang="en-US" b="0" i="1" smtClean="0">
                        <a:latin typeface="Cambria Math" panose="02040503050406030204" pitchFamily="18" charset="0"/>
                        <a:ea typeface="Cambria Math" panose="02040503050406030204" pitchFamily="18" charset="0"/>
                      </a:rPr>
                      <m:t>=</m:t>
                    </m:r>
                    <m:f>
                      <m:fPr>
                        <m:ctrlPr>
                          <a:rPr lang="en-US" i="1">
                            <a:latin typeface="Cambria Math" panose="02040503050406030204" pitchFamily="18" charset="0"/>
                            <a:ea typeface="Cambria Math" panose="02040503050406030204" pitchFamily="18" charset="0"/>
                          </a:rPr>
                        </m:ctrlPr>
                      </m:fPr>
                      <m:num>
                        <m:sSub>
                          <m:sSubPr>
                            <m:ctrlPr>
                              <a:rPr lang="en-US" i="1" smtClean="0">
                                <a:latin typeface="Cambria Math" panose="02040503050406030204" pitchFamily="18" charset="0"/>
                                <a:ea typeface="Cambria Math" panose="02040503050406030204" pitchFamily="18" charset="0"/>
                              </a:rPr>
                            </m:ctrlPr>
                          </m:sSubPr>
                          <m:e>
                            <m:r>
                              <a:rPr lang="en-US" b="0" i="1" smtClean="0">
                                <a:latin typeface="Cambria Math" panose="02040503050406030204" pitchFamily="18" charset="0"/>
                                <a:ea typeface="Cambria Math" panose="02040503050406030204" pitchFamily="18" charset="0"/>
                              </a:rPr>
                              <m:t>𝑇</m:t>
                            </m:r>
                          </m:e>
                          <m:sub>
                            <m:r>
                              <a:rPr lang="en-US" b="0" i="1" smtClean="0">
                                <a:latin typeface="Cambria Math" panose="02040503050406030204" pitchFamily="18" charset="0"/>
                                <a:ea typeface="Cambria Math" panose="02040503050406030204" pitchFamily="18" charset="0"/>
                              </a:rPr>
                              <m:t>𝐹</m:t>
                            </m:r>
                          </m:sub>
                        </m:sSub>
                      </m:num>
                      <m:den>
                        <m:r>
                          <a:rPr lang="en-US" b="0" i="1" smtClean="0">
                            <a:latin typeface="Cambria Math" panose="02040503050406030204" pitchFamily="18" charset="0"/>
                            <a:ea typeface="Cambria Math" panose="02040503050406030204" pitchFamily="18" charset="0"/>
                          </a:rPr>
                          <m:t>𝐹</m:t>
                        </m:r>
                      </m:den>
                    </m:f>
                  </m:oMath>
                </a14:m>
                <a:r>
                  <a:rPr lang="en-US" dirty="0"/>
                  <a:t> , </a:t>
                </a:r>
                <a14:m>
                  <m:oMath xmlns:m="http://schemas.openxmlformats.org/officeDocument/2006/math">
                    <m:r>
                      <a:rPr lang="en-US" i="1" smtClean="0">
                        <a:latin typeface="Cambria Math" panose="02040503050406030204" pitchFamily="18" charset="0"/>
                        <a:ea typeface="Cambria Math" panose="02040503050406030204" pitchFamily="18" charset="0"/>
                      </a:rPr>
                      <m:t>𝜉</m:t>
                    </m:r>
                    <m:r>
                      <a:rPr lang="en-US" b="0" i="1" smtClean="0">
                        <a:latin typeface="Cambria Math" panose="02040503050406030204" pitchFamily="18" charset="0"/>
                        <a:ea typeface="Cambria Math" panose="02040503050406030204" pitchFamily="18" charset="0"/>
                      </a:rPr>
                      <m:t>=</m:t>
                    </m:r>
                    <m:sSub>
                      <m:sSubPr>
                        <m:ctrlPr>
                          <a:rPr lang="en-US" b="0" i="1" smtClean="0">
                            <a:latin typeface="Cambria Math" panose="02040503050406030204" pitchFamily="18" charset="0"/>
                            <a:ea typeface="Cambria Math" panose="02040503050406030204" pitchFamily="18" charset="0"/>
                          </a:rPr>
                        </m:ctrlPr>
                      </m:sSubPr>
                      <m:e>
                        <m:r>
                          <a:rPr lang="en-US" b="0" i="1" smtClean="0">
                            <a:latin typeface="Cambria Math" panose="02040503050406030204" pitchFamily="18" charset="0"/>
                            <a:ea typeface="Cambria Math" panose="02040503050406030204" pitchFamily="18" charset="0"/>
                          </a:rPr>
                          <m:t>𝑇</m:t>
                        </m:r>
                      </m:e>
                      <m:sub>
                        <m:r>
                          <a:rPr lang="en-US" b="0" i="1" smtClean="0">
                            <a:latin typeface="Cambria Math" panose="02040503050406030204" pitchFamily="18" charset="0"/>
                            <a:ea typeface="Cambria Math" panose="02040503050406030204" pitchFamily="18" charset="0"/>
                          </a:rPr>
                          <m:t>𝐹</m:t>
                        </m:r>
                      </m:sub>
                    </m:sSub>
                  </m:oMath>
                </a14:m>
                <a:r>
                  <a:rPr lang="en-US" dirty="0"/>
                  <a:t> , </a:t>
                </a:r>
                <a14:m>
                  <m:oMath xmlns:m="http://schemas.openxmlformats.org/officeDocument/2006/math">
                    <m:r>
                      <a:rPr lang="en-US" i="1" smtClean="0">
                        <a:latin typeface="Cambria Math" panose="02040503050406030204" pitchFamily="18" charset="0"/>
                        <a:ea typeface="Cambria Math" panose="02040503050406030204" pitchFamily="18" charset="0"/>
                      </a:rPr>
                      <m:t>𝜃</m:t>
                    </m:r>
                    <m:r>
                      <a:rPr lang="en-US" b="0" i="1" smtClean="0">
                        <a:latin typeface="Cambria Math" panose="02040503050406030204" pitchFamily="18" charset="0"/>
                        <a:ea typeface="Cambria Math" panose="02040503050406030204" pitchFamily="18" charset="0"/>
                      </a:rPr>
                      <m:t>=</m:t>
                    </m:r>
                    <m:d>
                      <m:dPr>
                        <m:begChr m:val="⌊"/>
                        <m:endChr m:val="⌋"/>
                        <m:ctrlPr>
                          <a:rPr lang="en-US" b="0" i="1" smtClean="0">
                            <a:latin typeface="Cambria Math" panose="02040503050406030204" pitchFamily="18" charset="0"/>
                            <a:ea typeface="Cambria Math" panose="02040503050406030204" pitchFamily="18" charset="0"/>
                          </a:rPr>
                        </m:ctrlPr>
                      </m:dPr>
                      <m:e>
                        <m:f>
                          <m:fPr>
                            <m:ctrlPr>
                              <a:rPr lang="en-US" b="0" i="1" smtClean="0">
                                <a:latin typeface="Cambria Math" panose="02040503050406030204" pitchFamily="18" charset="0"/>
                                <a:ea typeface="Cambria Math" panose="02040503050406030204" pitchFamily="18" charset="0"/>
                              </a:rPr>
                            </m:ctrlPr>
                          </m:fPr>
                          <m:num>
                            <m:r>
                              <a:rPr lang="en-US" b="0" i="1" smtClean="0">
                                <a:latin typeface="Cambria Math" panose="02040503050406030204" pitchFamily="18" charset="0"/>
                                <a:ea typeface="Cambria Math" panose="02040503050406030204" pitchFamily="18" charset="0"/>
                              </a:rPr>
                              <m:t>𝐴</m:t>
                            </m:r>
                          </m:num>
                          <m:den>
                            <m:r>
                              <a:rPr lang="en-US" b="0" i="1" smtClean="0">
                                <a:latin typeface="Cambria Math" panose="02040503050406030204" pitchFamily="18" charset="0"/>
                                <a:ea typeface="Cambria Math" panose="02040503050406030204" pitchFamily="18" charset="0"/>
                              </a:rPr>
                              <m:t>𝐹</m:t>
                            </m:r>
                          </m:den>
                        </m:f>
                      </m:e>
                    </m:d>
                    <m:r>
                      <a:rPr lang="en-US" b="0" i="1" smtClean="0">
                        <a:latin typeface="Cambria Math" panose="02040503050406030204" pitchFamily="18" charset="0"/>
                        <a:ea typeface="Cambria Math" panose="02040503050406030204" pitchFamily="18" charset="0"/>
                      </a:rPr>
                      <m:t>+1</m:t>
                    </m:r>
                  </m:oMath>
                </a14:m>
                <a:endParaRPr lang="en-US" dirty="0"/>
              </a:p>
              <a:p>
                <a:pPr>
                  <a:buFont typeface="Wingdings" panose="05000000000000000000" pitchFamily="2" charset="2"/>
                  <a:buChar char="q"/>
                </a:pPr>
                <a:endParaRPr lang="en-US" dirty="0"/>
              </a:p>
            </p:txBody>
          </p:sp>
        </mc:Choice>
        <mc:Fallback xmlns="">
          <p:sp>
            <p:nvSpPr>
              <p:cNvPr id="6" name="Content Placeholder 5">
                <a:extLst>
                  <a:ext uri="{FF2B5EF4-FFF2-40B4-BE49-F238E27FC236}">
                    <a16:creationId xmlns:a16="http://schemas.microsoft.com/office/drawing/2014/main" id="{9682E3B3-5EB2-499C-BFCB-B2A9BA370B2F}"/>
                  </a:ext>
                </a:extLst>
              </p:cNvPr>
              <p:cNvSpPr>
                <a:spLocks noGrp="1" noRot="1" noChangeAspect="1" noMove="1" noResize="1" noEditPoints="1" noAdjustHandles="1" noChangeArrowheads="1" noChangeShapeType="1" noTextEdit="1"/>
              </p:cNvSpPr>
              <p:nvPr>
                <p:ph idx="1"/>
              </p:nvPr>
            </p:nvSpPr>
            <p:spPr>
              <a:xfrm>
                <a:off x="1097279" y="1845734"/>
                <a:ext cx="4857471" cy="4023360"/>
              </a:xfrm>
              <a:blipFill>
                <a:blip r:embed="rId2"/>
                <a:stretch>
                  <a:fillRect l="-3011" t="-2273" r="-1255"/>
                </a:stretch>
              </a:blipFill>
            </p:spPr>
            <p:txBody>
              <a:bodyPr/>
              <a:lstStyle/>
              <a:p>
                <a:r>
                  <a:rPr lang="en-US">
                    <a:noFill/>
                  </a:rPr>
                  <a:t> </a:t>
                </a:r>
              </a:p>
            </p:txBody>
          </p:sp>
        </mc:Fallback>
      </mc:AlternateContent>
      <p:sp>
        <p:nvSpPr>
          <p:cNvPr id="4" name="Slide Number Placeholder 3">
            <a:extLst>
              <a:ext uri="{FF2B5EF4-FFF2-40B4-BE49-F238E27FC236}">
                <a16:creationId xmlns:a16="http://schemas.microsoft.com/office/drawing/2014/main" id="{8181FD6A-483F-4582-BF3C-682045522D00}"/>
              </a:ext>
            </a:extLst>
          </p:cNvPr>
          <p:cNvSpPr>
            <a:spLocks noGrp="1"/>
          </p:cNvSpPr>
          <p:nvPr>
            <p:ph type="sldNum" sz="quarter" idx="12"/>
          </p:nvPr>
        </p:nvSpPr>
        <p:spPr/>
        <p:txBody>
          <a:bodyPr/>
          <a:lstStyle/>
          <a:p>
            <a:fld id="{DC4CAFB8-3EF6-4FAF-BDFA-EA2F8D8834E4}" type="slidenum">
              <a:rPr lang="en-US" smtClean="0"/>
              <a:t>20</a:t>
            </a:fld>
            <a:endParaRPr lang="en-US"/>
          </a:p>
        </p:txBody>
      </p:sp>
      <p:pic>
        <p:nvPicPr>
          <p:cNvPr id="8" name="Picture 7">
            <a:extLst>
              <a:ext uri="{FF2B5EF4-FFF2-40B4-BE49-F238E27FC236}">
                <a16:creationId xmlns:a16="http://schemas.microsoft.com/office/drawing/2014/main" id="{61F580D8-B3B6-4BD4-8BB3-4ABD89505048}"/>
              </a:ext>
            </a:extLst>
          </p:cNvPr>
          <p:cNvPicPr>
            <a:picLocks noChangeAspect="1"/>
          </p:cNvPicPr>
          <p:nvPr/>
        </p:nvPicPr>
        <p:blipFill>
          <a:blip r:embed="rId3"/>
          <a:stretch>
            <a:fillRect/>
          </a:stretch>
        </p:blipFill>
        <p:spPr>
          <a:xfrm>
            <a:off x="6210418" y="2585983"/>
            <a:ext cx="5336981" cy="1253819"/>
          </a:xfrm>
          <a:prstGeom prst="rect">
            <a:avLst/>
          </a:prstGeom>
        </p:spPr>
      </p:pic>
      <p:pic>
        <p:nvPicPr>
          <p:cNvPr id="10" name="Picture 9">
            <a:extLst>
              <a:ext uri="{FF2B5EF4-FFF2-40B4-BE49-F238E27FC236}">
                <a16:creationId xmlns:a16="http://schemas.microsoft.com/office/drawing/2014/main" id="{B597CD0B-66BC-4F6D-B9B5-53F446EF8584}"/>
              </a:ext>
            </a:extLst>
          </p:cNvPr>
          <p:cNvPicPr>
            <a:picLocks noChangeAspect="1"/>
          </p:cNvPicPr>
          <p:nvPr/>
        </p:nvPicPr>
        <p:blipFill>
          <a:blip r:embed="rId4"/>
          <a:stretch>
            <a:fillRect/>
          </a:stretch>
        </p:blipFill>
        <p:spPr>
          <a:xfrm>
            <a:off x="5343298" y="5207620"/>
            <a:ext cx="6204101" cy="797804"/>
          </a:xfrm>
          <a:prstGeom prst="rect">
            <a:avLst/>
          </a:prstGeom>
        </p:spPr>
      </p:pic>
      <p:sp>
        <p:nvSpPr>
          <p:cNvPr id="7" name="TextBox 6">
            <a:extLst>
              <a:ext uri="{FF2B5EF4-FFF2-40B4-BE49-F238E27FC236}">
                <a16:creationId xmlns:a16="http://schemas.microsoft.com/office/drawing/2014/main" id="{931F0FF1-4BBD-428E-BC57-C0F2069CF3B3}"/>
              </a:ext>
            </a:extLst>
          </p:cNvPr>
          <p:cNvSpPr txBox="1"/>
          <p:nvPr/>
        </p:nvSpPr>
        <p:spPr>
          <a:xfrm>
            <a:off x="189571" y="6447755"/>
            <a:ext cx="3579542" cy="369332"/>
          </a:xfrm>
          <a:prstGeom prst="rect">
            <a:avLst/>
          </a:prstGeom>
          <a:noFill/>
        </p:spPr>
        <p:txBody>
          <a:bodyPr wrap="square" rtlCol="0">
            <a:spAutoFit/>
          </a:bodyPr>
          <a:lstStyle/>
          <a:p>
            <a:r>
              <a:rPr lang="en-US" dirty="0">
                <a:solidFill>
                  <a:schemeClr val="bg1"/>
                </a:solidFill>
              </a:rPr>
              <a:t>Mohammad Mahdi Manafi</a:t>
            </a:r>
          </a:p>
        </p:txBody>
      </p:sp>
    </p:spTree>
    <p:extLst>
      <p:ext uri="{BB962C8B-B14F-4D97-AF65-F5344CB8AC3E}">
        <p14:creationId xmlns:p14="http://schemas.microsoft.com/office/powerpoint/2010/main" val="1491866945"/>
      </p:ext>
    </p:extLst>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2EC2EBF-C623-4A11-BE00-56EAB72DC28F}"/>
              </a:ext>
            </a:extLst>
          </p:cNvPr>
          <p:cNvSpPr>
            <a:spLocks noGrp="1"/>
          </p:cNvSpPr>
          <p:nvPr>
            <p:ph type="title"/>
          </p:nvPr>
        </p:nvSpPr>
        <p:spPr/>
        <p:txBody>
          <a:bodyPr/>
          <a:lstStyle/>
          <a:p>
            <a:r>
              <a:rPr lang="en-US" dirty="0"/>
              <a:t>Fog subsystem analysis</a:t>
            </a:r>
          </a:p>
        </p:txBody>
      </p:sp>
      <mc:AlternateContent xmlns:mc="http://schemas.openxmlformats.org/markup-compatibility/2006" xmlns:a14="http://schemas.microsoft.com/office/drawing/2010/main">
        <mc:Choice Requires="a14">
          <p:sp>
            <p:nvSpPr>
              <p:cNvPr id="3" name="Content Placeholder 2">
                <a:extLst>
                  <a:ext uri="{FF2B5EF4-FFF2-40B4-BE49-F238E27FC236}">
                    <a16:creationId xmlns:a16="http://schemas.microsoft.com/office/drawing/2014/main" id="{3B09E0AE-9D67-4B40-BB67-436359402371}"/>
                  </a:ext>
                </a:extLst>
              </p:cNvPr>
              <p:cNvSpPr>
                <a:spLocks noGrp="1"/>
              </p:cNvSpPr>
              <p:nvPr>
                <p:ph idx="1"/>
              </p:nvPr>
            </p:nvSpPr>
            <p:spPr>
              <a:xfrm>
                <a:off x="1097280" y="1845734"/>
                <a:ext cx="4998720" cy="4023360"/>
              </a:xfrm>
            </p:spPr>
            <p:txBody>
              <a:bodyPr/>
              <a:lstStyle/>
              <a:p>
                <a:pPr>
                  <a:buFont typeface="Wingdings" panose="05000000000000000000" pitchFamily="2" charset="2"/>
                  <a:buChar char="q"/>
                </a:pPr>
                <a:r>
                  <a:rPr lang="en-US" sz="1800" b="0" i="0" dirty="0">
                    <a:solidFill>
                      <a:srgbClr val="242021"/>
                    </a:solidFill>
                    <a:effectLst/>
                    <a:latin typeface="Times-Roman"/>
                  </a:rPr>
                  <a:t>the task arrival process is Poisson with mean rate </a:t>
                </a:r>
                <a14:m>
                  <m:oMath xmlns:m="http://schemas.openxmlformats.org/officeDocument/2006/math">
                    <m:r>
                      <m:rPr>
                        <m:sty m:val="p"/>
                      </m:rPr>
                      <a:rPr lang="el-GR" sz="1800" b="0" i="1" smtClean="0">
                        <a:solidFill>
                          <a:srgbClr val="242021"/>
                        </a:solidFill>
                        <a:effectLst/>
                        <a:latin typeface="Cambria Math" panose="02040503050406030204" pitchFamily="18" charset="0"/>
                        <a:ea typeface="Cambria Math" panose="02040503050406030204" pitchFamily="18" charset="0"/>
                      </a:rPr>
                      <m:t>Γ</m:t>
                    </m:r>
                  </m:oMath>
                </a14:m>
                <a:r>
                  <a:rPr lang="en-US" dirty="0"/>
                  <a:t> </a:t>
                </a:r>
              </a:p>
              <a:p>
                <a:pPr lvl="1">
                  <a:buFont typeface="Wingdings" panose="05000000000000000000" pitchFamily="2" charset="2"/>
                  <a:buChar char="q"/>
                </a:pPr>
                <a:r>
                  <a:rPr lang="en-US" dirty="0"/>
                  <a:t>Property of exponential distributions</a:t>
                </a:r>
              </a:p>
              <a:p>
                <a:pPr lvl="1">
                  <a:buFont typeface="Wingdings" panose="05000000000000000000" pitchFamily="2" charset="2"/>
                  <a:buChar char="q"/>
                </a:pPr>
                <a14:m>
                  <m:oMath xmlns:m="http://schemas.openxmlformats.org/officeDocument/2006/math">
                    <m:r>
                      <m:rPr>
                        <m:sty m:val="p"/>
                      </m:rPr>
                      <a:rPr lang="el-GR" sz="1800" b="0" i="1" smtClean="0">
                        <a:solidFill>
                          <a:srgbClr val="242021"/>
                        </a:solidFill>
                        <a:effectLst/>
                        <a:latin typeface="Cambria Math" panose="02040503050406030204" pitchFamily="18" charset="0"/>
                        <a:ea typeface="Cambria Math" panose="02040503050406030204" pitchFamily="18" charset="0"/>
                      </a:rPr>
                      <m:t>Γ</m:t>
                    </m:r>
                    <m:r>
                      <a:rPr lang="en-US" sz="1800" b="0" i="1" smtClean="0">
                        <a:solidFill>
                          <a:srgbClr val="242021"/>
                        </a:solidFill>
                        <a:effectLst/>
                        <a:latin typeface="Cambria Math" panose="02040503050406030204" pitchFamily="18" charset="0"/>
                        <a:ea typeface="Cambria Math" panose="02040503050406030204" pitchFamily="18" charset="0"/>
                      </a:rPr>
                      <m:t>=</m:t>
                    </m:r>
                    <m:sSub>
                      <m:sSubPr>
                        <m:ctrlPr>
                          <a:rPr lang="en-US" sz="1800" b="0" i="1" smtClean="0">
                            <a:solidFill>
                              <a:srgbClr val="242021"/>
                            </a:solidFill>
                            <a:effectLst/>
                            <a:latin typeface="Cambria Math" panose="02040503050406030204" pitchFamily="18" charset="0"/>
                            <a:ea typeface="Cambria Math" panose="02040503050406030204" pitchFamily="18" charset="0"/>
                          </a:rPr>
                        </m:ctrlPr>
                      </m:sSubPr>
                      <m:e>
                        <m:r>
                          <m:rPr>
                            <m:sty m:val="p"/>
                          </m:rPr>
                          <a:rPr lang="el-GR" sz="1800" b="0" i="1" smtClean="0">
                            <a:solidFill>
                              <a:srgbClr val="242021"/>
                            </a:solidFill>
                            <a:effectLst/>
                            <a:latin typeface="Cambria Math" panose="02040503050406030204" pitchFamily="18" charset="0"/>
                            <a:ea typeface="Cambria Math" panose="02040503050406030204" pitchFamily="18" charset="0"/>
                          </a:rPr>
                          <m:t>Λ</m:t>
                        </m:r>
                      </m:e>
                      <m:sub>
                        <m:r>
                          <a:rPr lang="en-US" sz="1800" b="0" i="1" smtClean="0">
                            <a:solidFill>
                              <a:srgbClr val="242021"/>
                            </a:solidFill>
                            <a:effectLst/>
                            <a:latin typeface="Cambria Math" panose="02040503050406030204" pitchFamily="18" charset="0"/>
                            <a:ea typeface="Cambria Math" panose="02040503050406030204" pitchFamily="18" charset="0"/>
                          </a:rPr>
                          <m:t>1</m:t>
                        </m:r>
                      </m:sub>
                    </m:sSub>
                    <m:r>
                      <a:rPr lang="en-US" sz="1800" b="0" i="1" smtClean="0">
                        <a:solidFill>
                          <a:srgbClr val="242021"/>
                        </a:solidFill>
                        <a:effectLst/>
                        <a:latin typeface="Cambria Math" panose="02040503050406030204" pitchFamily="18" charset="0"/>
                        <a:ea typeface="Cambria Math" panose="02040503050406030204" pitchFamily="18" charset="0"/>
                      </a:rPr>
                      <m:t>+</m:t>
                    </m:r>
                    <m:sSub>
                      <m:sSubPr>
                        <m:ctrlPr>
                          <a:rPr lang="en-US" i="1">
                            <a:solidFill>
                              <a:srgbClr val="242021"/>
                            </a:solidFill>
                            <a:latin typeface="Cambria Math" panose="02040503050406030204" pitchFamily="18" charset="0"/>
                            <a:ea typeface="Cambria Math" panose="02040503050406030204" pitchFamily="18" charset="0"/>
                          </a:rPr>
                        </m:ctrlPr>
                      </m:sSubPr>
                      <m:e>
                        <m:r>
                          <m:rPr>
                            <m:sty m:val="p"/>
                          </m:rPr>
                          <a:rPr lang="el-GR" i="1">
                            <a:solidFill>
                              <a:srgbClr val="242021"/>
                            </a:solidFill>
                            <a:latin typeface="Cambria Math" panose="02040503050406030204" pitchFamily="18" charset="0"/>
                            <a:ea typeface="Cambria Math" panose="02040503050406030204" pitchFamily="18" charset="0"/>
                          </a:rPr>
                          <m:t>Λ</m:t>
                        </m:r>
                      </m:e>
                      <m:sub>
                        <m:r>
                          <a:rPr lang="en-US" b="0" i="1" smtClean="0">
                            <a:solidFill>
                              <a:srgbClr val="242021"/>
                            </a:solidFill>
                            <a:latin typeface="Cambria Math" panose="02040503050406030204" pitchFamily="18" charset="0"/>
                            <a:ea typeface="Cambria Math" panose="02040503050406030204" pitchFamily="18" charset="0"/>
                          </a:rPr>
                          <m:t>2</m:t>
                        </m:r>
                      </m:sub>
                    </m:sSub>
                    <m:r>
                      <a:rPr lang="en-US" b="0" i="0" smtClean="0">
                        <a:solidFill>
                          <a:srgbClr val="242021"/>
                        </a:solidFill>
                        <a:latin typeface="Cambria Math" panose="02040503050406030204" pitchFamily="18" charset="0"/>
                        <a:ea typeface="Cambria Math" panose="02040503050406030204" pitchFamily="18" charset="0"/>
                      </a:rPr>
                      <m:t>+…+</m:t>
                    </m:r>
                    <m:sSub>
                      <m:sSubPr>
                        <m:ctrlPr>
                          <a:rPr lang="en-US" i="1">
                            <a:solidFill>
                              <a:srgbClr val="242021"/>
                            </a:solidFill>
                            <a:latin typeface="Cambria Math" panose="02040503050406030204" pitchFamily="18" charset="0"/>
                            <a:ea typeface="Cambria Math" panose="02040503050406030204" pitchFamily="18" charset="0"/>
                          </a:rPr>
                        </m:ctrlPr>
                      </m:sSubPr>
                      <m:e>
                        <m:r>
                          <m:rPr>
                            <m:sty m:val="p"/>
                          </m:rPr>
                          <a:rPr lang="el-GR" i="1">
                            <a:solidFill>
                              <a:srgbClr val="242021"/>
                            </a:solidFill>
                            <a:latin typeface="Cambria Math" panose="02040503050406030204" pitchFamily="18" charset="0"/>
                            <a:ea typeface="Cambria Math" panose="02040503050406030204" pitchFamily="18" charset="0"/>
                          </a:rPr>
                          <m:t>Λ</m:t>
                        </m:r>
                      </m:e>
                      <m:sub>
                        <m:r>
                          <a:rPr lang="en-US" i="1" smtClean="0">
                            <a:solidFill>
                              <a:srgbClr val="242021"/>
                            </a:solidFill>
                            <a:latin typeface="Cambria Math" panose="02040503050406030204" pitchFamily="18" charset="0"/>
                            <a:ea typeface="Cambria Math" panose="02040503050406030204" pitchFamily="18" charset="0"/>
                          </a:rPr>
                          <m:t>𝛾</m:t>
                        </m:r>
                      </m:sub>
                    </m:sSub>
                    <m:r>
                      <a:rPr lang="en-US" b="0" i="1" smtClean="0">
                        <a:solidFill>
                          <a:srgbClr val="242021"/>
                        </a:solidFill>
                        <a:latin typeface="Cambria Math" panose="02040503050406030204" pitchFamily="18" charset="0"/>
                        <a:ea typeface="Cambria Math" panose="02040503050406030204" pitchFamily="18" charset="0"/>
                      </a:rPr>
                      <m:t>=</m:t>
                    </m:r>
                    <m:r>
                      <a:rPr lang="en-US" b="0" i="1" smtClean="0">
                        <a:solidFill>
                          <a:srgbClr val="242021"/>
                        </a:solidFill>
                        <a:latin typeface="Cambria Math" panose="02040503050406030204" pitchFamily="18" charset="0"/>
                        <a:ea typeface="Cambria Math" panose="02040503050406030204" pitchFamily="18" charset="0"/>
                      </a:rPr>
                      <m:t>𝛾</m:t>
                    </m:r>
                    <m:r>
                      <m:rPr>
                        <m:sty m:val="p"/>
                      </m:rPr>
                      <a:rPr lang="el-GR" b="0" i="1" smtClean="0">
                        <a:solidFill>
                          <a:srgbClr val="242021"/>
                        </a:solidFill>
                        <a:latin typeface="Cambria Math" panose="02040503050406030204" pitchFamily="18" charset="0"/>
                        <a:ea typeface="Cambria Math" panose="02040503050406030204" pitchFamily="18" charset="0"/>
                      </a:rPr>
                      <m:t>Λ</m:t>
                    </m:r>
                  </m:oMath>
                </a14:m>
                <a:endParaRPr lang="en-US" b="0" dirty="0">
                  <a:solidFill>
                    <a:srgbClr val="242021"/>
                  </a:solidFill>
                  <a:ea typeface="Cambria Math" panose="02040503050406030204" pitchFamily="18" charset="0"/>
                </a:endParaRPr>
              </a:p>
              <a:p>
                <a:pPr lvl="1">
                  <a:buFont typeface="Wingdings" panose="05000000000000000000" pitchFamily="2" charset="2"/>
                  <a:buChar char="q"/>
                </a:pPr>
                <a:r>
                  <a:rPr lang="en-US" dirty="0">
                    <a:solidFill>
                      <a:srgbClr val="242021"/>
                    </a:solidFill>
                    <a:ea typeface="Cambria Math" panose="02040503050406030204" pitchFamily="18" charset="0"/>
                  </a:rPr>
                  <a:t>Mean </a:t>
                </a:r>
                <a14:m>
                  <m:oMath xmlns:m="http://schemas.openxmlformats.org/officeDocument/2006/math">
                    <m:r>
                      <m:rPr>
                        <m:sty m:val="p"/>
                      </m:rPr>
                      <a:rPr lang="el-GR" sz="1800" b="0" i="1" smtClean="0">
                        <a:solidFill>
                          <a:srgbClr val="242021"/>
                        </a:solidFill>
                        <a:effectLst/>
                        <a:latin typeface="Cambria Math" panose="02040503050406030204" pitchFamily="18" charset="0"/>
                        <a:ea typeface="Cambria Math" panose="02040503050406030204" pitchFamily="18" charset="0"/>
                      </a:rPr>
                      <m:t>Γ</m:t>
                    </m:r>
                    <m:r>
                      <a:rPr lang="en-US" sz="1800" b="0" i="1" smtClean="0">
                        <a:solidFill>
                          <a:srgbClr val="242021"/>
                        </a:solidFill>
                        <a:effectLst/>
                        <a:latin typeface="Cambria Math" panose="02040503050406030204" pitchFamily="18" charset="0"/>
                        <a:ea typeface="Cambria Math" panose="02040503050406030204" pitchFamily="18" charset="0"/>
                      </a:rPr>
                      <m:t>=</m:t>
                    </m:r>
                    <m:r>
                      <a:rPr lang="en-US" i="1">
                        <a:solidFill>
                          <a:srgbClr val="242021"/>
                        </a:solidFill>
                        <a:latin typeface="Cambria Math" panose="02040503050406030204" pitchFamily="18" charset="0"/>
                        <a:ea typeface="Cambria Math" panose="02040503050406030204" pitchFamily="18" charset="0"/>
                      </a:rPr>
                      <m:t>𝛾</m:t>
                    </m:r>
                    <m:r>
                      <m:rPr>
                        <m:sty m:val="p"/>
                      </m:rPr>
                      <a:rPr lang="el-GR" i="1">
                        <a:solidFill>
                          <a:srgbClr val="242021"/>
                        </a:solidFill>
                        <a:latin typeface="Cambria Math" panose="02040503050406030204" pitchFamily="18" charset="0"/>
                        <a:ea typeface="Cambria Math" panose="02040503050406030204" pitchFamily="18" charset="0"/>
                      </a:rPr>
                      <m:t>Λ</m:t>
                    </m:r>
                    <m:sSub>
                      <m:sSubPr>
                        <m:ctrlPr>
                          <a:rPr lang="el-GR" i="1" smtClean="0">
                            <a:solidFill>
                              <a:srgbClr val="242021"/>
                            </a:solidFill>
                            <a:latin typeface="Cambria Math" panose="02040503050406030204" pitchFamily="18" charset="0"/>
                            <a:ea typeface="Cambria Math" panose="02040503050406030204" pitchFamily="18" charset="0"/>
                          </a:rPr>
                        </m:ctrlPr>
                      </m:sSubPr>
                      <m:e>
                        <m:r>
                          <a:rPr lang="en-US" b="0" i="1" smtClean="0">
                            <a:solidFill>
                              <a:srgbClr val="242021"/>
                            </a:solidFill>
                            <a:latin typeface="Cambria Math" panose="02040503050406030204" pitchFamily="18" charset="0"/>
                            <a:ea typeface="Cambria Math" panose="02040503050406030204" pitchFamily="18" charset="0"/>
                          </a:rPr>
                          <m:t>𝑃</m:t>
                        </m:r>
                      </m:e>
                      <m:sub>
                        <m:r>
                          <a:rPr lang="en-US" b="0" i="1" smtClean="0">
                            <a:solidFill>
                              <a:srgbClr val="242021"/>
                            </a:solidFill>
                            <a:latin typeface="Cambria Math" panose="02040503050406030204" pitchFamily="18" charset="0"/>
                            <a:ea typeface="Cambria Math" panose="02040503050406030204" pitchFamily="18" charset="0"/>
                          </a:rPr>
                          <m:t>𝐵</m:t>
                        </m:r>
                      </m:sub>
                    </m:sSub>
                  </m:oMath>
                </a14:m>
                <a:endParaRPr lang="en-US" dirty="0">
                  <a:solidFill>
                    <a:srgbClr val="242021"/>
                  </a:solidFill>
                  <a:ea typeface="Cambria Math" panose="02040503050406030204" pitchFamily="18" charset="0"/>
                </a:endParaRPr>
              </a:p>
              <a:p>
                <a:pPr lvl="1">
                  <a:buFont typeface="Wingdings" panose="05000000000000000000" pitchFamily="2" charset="2"/>
                  <a:buChar char="q"/>
                </a:pPr>
                <a14:m>
                  <m:oMath xmlns:m="http://schemas.openxmlformats.org/officeDocument/2006/math">
                    <m:r>
                      <a:rPr lang="en-US" i="1" smtClean="0">
                        <a:latin typeface="Cambria Math" panose="02040503050406030204" pitchFamily="18" charset="0"/>
                        <a:ea typeface="Cambria Math" panose="02040503050406030204" pitchFamily="18" charset="0"/>
                      </a:rPr>
                      <m:t>𝛾</m:t>
                    </m:r>
                  </m:oMath>
                </a14:m>
                <a:r>
                  <a:rPr lang="en-US" dirty="0"/>
                  <a:t> total number of ECNs associated to each FCN</a:t>
                </a:r>
              </a:p>
              <a:p>
                <a:pPr>
                  <a:buFont typeface="Wingdings" panose="05000000000000000000" pitchFamily="2" charset="2"/>
                  <a:buChar char="q"/>
                </a:pPr>
                <a:r>
                  <a:rPr lang="en-US" dirty="0"/>
                  <a:t>State diagram of </a:t>
                </a:r>
                <a:r>
                  <a:rPr lang="en-US" sz="1800" b="0" i="0" dirty="0">
                    <a:solidFill>
                      <a:srgbClr val="242021"/>
                    </a:solidFill>
                    <a:effectLst/>
                    <a:latin typeface="Times-Roman"/>
                  </a:rPr>
                  <a:t>M/M/F/A</a:t>
                </a:r>
                <a:r>
                  <a:rPr lang="en-US" dirty="0"/>
                  <a:t> fig. 4</a:t>
                </a:r>
                <a:br>
                  <a:rPr lang="en-US" dirty="0"/>
                </a:br>
                <a:endParaRPr lang="en-US" dirty="0"/>
              </a:p>
              <a:p>
                <a:pPr>
                  <a:buFont typeface="Wingdings" panose="05000000000000000000" pitchFamily="2" charset="2"/>
                  <a:buChar char="q"/>
                </a:pPr>
                <a:endParaRPr lang="en-US" dirty="0"/>
              </a:p>
            </p:txBody>
          </p:sp>
        </mc:Choice>
        <mc:Fallback xmlns="">
          <p:sp>
            <p:nvSpPr>
              <p:cNvPr id="3" name="Content Placeholder 2">
                <a:extLst>
                  <a:ext uri="{FF2B5EF4-FFF2-40B4-BE49-F238E27FC236}">
                    <a16:creationId xmlns:a16="http://schemas.microsoft.com/office/drawing/2014/main" id="{3B09E0AE-9D67-4B40-BB67-436359402371}"/>
                  </a:ext>
                </a:extLst>
              </p:cNvPr>
              <p:cNvSpPr>
                <a:spLocks noGrp="1" noRot="1" noChangeAspect="1" noMove="1" noResize="1" noEditPoints="1" noAdjustHandles="1" noChangeArrowheads="1" noChangeShapeType="1" noTextEdit="1"/>
              </p:cNvSpPr>
              <p:nvPr>
                <p:ph idx="1"/>
              </p:nvPr>
            </p:nvSpPr>
            <p:spPr>
              <a:xfrm>
                <a:off x="1097280" y="1845734"/>
                <a:ext cx="4998720" cy="4023360"/>
              </a:xfrm>
              <a:blipFill>
                <a:blip r:embed="rId2"/>
                <a:stretch>
                  <a:fillRect l="-2927" t="-1212"/>
                </a:stretch>
              </a:blipFill>
            </p:spPr>
            <p:txBody>
              <a:bodyPr/>
              <a:lstStyle/>
              <a:p>
                <a:r>
                  <a:rPr lang="en-US">
                    <a:noFill/>
                  </a:rPr>
                  <a:t> </a:t>
                </a:r>
              </a:p>
            </p:txBody>
          </p:sp>
        </mc:Fallback>
      </mc:AlternateContent>
      <p:sp>
        <p:nvSpPr>
          <p:cNvPr id="4" name="Slide Number Placeholder 3">
            <a:extLst>
              <a:ext uri="{FF2B5EF4-FFF2-40B4-BE49-F238E27FC236}">
                <a16:creationId xmlns:a16="http://schemas.microsoft.com/office/drawing/2014/main" id="{AF48E6DB-C5C2-4ACB-AC66-44B2E9C0230B}"/>
              </a:ext>
            </a:extLst>
          </p:cNvPr>
          <p:cNvSpPr>
            <a:spLocks noGrp="1"/>
          </p:cNvSpPr>
          <p:nvPr>
            <p:ph type="sldNum" sz="quarter" idx="12"/>
          </p:nvPr>
        </p:nvSpPr>
        <p:spPr/>
        <p:txBody>
          <a:bodyPr/>
          <a:lstStyle/>
          <a:p>
            <a:fld id="{DC4CAFB8-3EF6-4FAF-BDFA-EA2F8D8834E4}" type="slidenum">
              <a:rPr lang="en-US" smtClean="0"/>
              <a:t>21</a:t>
            </a:fld>
            <a:endParaRPr lang="en-US"/>
          </a:p>
        </p:txBody>
      </p:sp>
      <p:pic>
        <p:nvPicPr>
          <p:cNvPr id="6" name="Picture 5">
            <a:extLst>
              <a:ext uri="{FF2B5EF4-FFF2-40B4-BE49-F238E27FC236}">
                <a16:creationId xmlns:a16="http://schemas.microsoft.com/office/drawing/2014/main" id="{D91640D9-9924-4C5E-88CE-D5DA71CE3917}"/>
              </a:ext>
            </a:extLst>
          </p:cNvPr>
          <p:cNvPicPr>
            <a:picLocks noChangeAspect="1"/>
          </p:cNvPicPr>
          <p:nvPr/>
        </p:nvPicPr>
        <p:blipFill>
          <a:blip r:embed="rId3"/>
          <a:stretch>
            <a:fillRect/>
          </a:stretch>
        </p:blipFill>
        <p:spPr>
          <a:xfrm>
            <a:off x="643995" y="4720856"/>
            <a:ext cx="10568488" cy="1559417"/>
          </a:xfrm>
          <a:prstGeom prst="rect">
            <a:avLst/>
          </a:prstGeom>
        </p:spPr>
      </p:pic>
      <p:pic>
        <p:nvPicPr>
          <p:cNvPr id="8" name="Picture 7">
            <a:extLst>
              <a:ext uri="{FF2B5EF4-FFF2-40B4-BE49-F238E27FC236}">
                <a16:creationId xmlns:a16="http://schemas.microsoft.com/office/drawing/2014/main" id="{01DA823F-2C6A-4852-A43C-04D748260834}"/>
              </a:ext>
            </a:extLst>
          </p:cNvPr>
          <p:cNvPicPr>
            <a:picLocks noChangeAspect="1"/>
          </p:cNvPicPr>
          <p:nvPr/>
        </p:nvPicPr>
        <p:blipFill>
          <a:blip r:embed="rId4"/>
          <a:stretch>
            <a:fillRect/>
          </a:stretch>
        </p:blipFill>
        <p:spPr>
          <a:xfrm>
            <a:off x="6787353" y="1845734"/>
            <a:ext cx="4618120" cy="833936"/>
          </a:xfrm>
          <a:prstGeom prst="rect">
            <a:avLst/>
          </a:prstGeom>
        </p:spPr>
      </p:pic>
      <p:pic>
        <p:nvPicPr>
          <p:cNvPr id="10" name="Picture 9">
            <a:extLst>
              <a:ext uri="{FF2B5EF4-FFF2-40B4-BE49-F238E27FC236}">
                <a16:creationId xmlns:a16="http://schemas.microsoft.com/office/drawing/2014/main" id="{105766FA-FE7F-430B-8BE7-7ADB3037E210}"/>
              </a:ext>
            </a:extLst>
          </p:cNvPr>
          <p:cNvPicPr>
            <a:picLocks noChangeAspect="1"/>
          </p:cNvPicPr>
          <p:nvPr/>
        </p:nvPicPr>
        <p:blipFill>
          <a:blip r:embed="rId5"/>
          <a:stretch>
            <a:fillRect/>
          </a:stretch>
        </p:blipFill>
        <p:spPr>
          <a:xfrm>
            <a:off x="6787353" y="2794689"/>
            <a:ext cx="4618120" cy="731583"/>
          </a:xfrm>
          <a:prstGeom prst="rect">
            <a:avLst/>
          </a:prstGeom>
        </p:spPr>
      </p:pic>
      <p:sp>
        <p:nvSpPr>
          <p:cNvPr id="9" name="TextBox 8">
            <a:extLst>
              <a:ext uri="{FF2B5EF4-FFF2-40B4-BE49-F238E27FC236}">
                <a16:creationId xmlns:a16="http://schemas.microsoft.com/office/drawing/2014/main" id="{016312A8-1A4A-4A0D-98D7-816A20C4CBEC}"/>
              </a:ext>
            </a:extLst>
          </p:cNvPr>
          <p:cNvSpPr txBox="1"/>
          <p:nvPr/>
        </p:nvSpPr>
        <p:spPr>
          <a:xfrm>
            <a:off x="189571" y="6447755"/>
            <a:ext cx="3579542" cy="369332"/>
          </a:xfrm>
          <a:prstGeom prst="rect">
            <a:avLst/>
          </a:prstGeom>
          <a:noFill/>
        </p:spPr>
        <p:txBody>
          <a:bodyPr wrap="square" rtlCol="0">
            <a:spAutoFit/>
          </a:bodyPr>
          <a:lstStyle/>
          <a:p>
            <a:r>
              <a:rPr lang="en-US" dirty="0">
                <a:solidFill>
                  <a:schemeClr val="bg1"/>
                </a:solidFill>
              </a:rPr>
              <a:t>Mohammad Mahdi Manafi</a:t>
            </a:r>
          </a:p>
        </p:txBody>
      </p:sp>
    </p:spTree>
    <p:extLst>
      <p:ext uri="{BB962C8B-B14F-4D97-AF65-F5344CB8AC3E}">
        <p14:creationId xmlns:p14="http://schemas.microsoft.com/office/powerpoint/2010/main" val="3455212681"/>
      </p:ext>
    </p:extLst>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98538F1-637C-47DA-8A5A-583F2BB7771F}"/>
              </a:ext>
            </a:extLst>
          </p:cNvPr>
          <p:cNvSpPr>
            <a:spLocks noGrp="1"/>
          </p:cNvSpPr>
          <p:nvPr>
            <p:ph type="title"/>
          </p:nvPr>
        </p:nvSpPr>
        <p:spPr/>
        <p:txBody>
          <a:bodyPr/>
          <a:lstStyle/>
          <a:p>
            <a:r>
              <a:rPr lang="en-US" dirty="0"/>
              <a:t>Fog subsystem analysis</a:t>
            </a:r>
          </a:p>
        </p:txBody>
      </p:sp>
      <mc:AlternateContent xmlns:mc="http://schemas.openxmlformats.org/markup-compatibility/2006" xmlns:a14="http://schemas.microsoft.com/office/drawing/2010/main">
        <mc:Choice Requires="a14">
          <p:sp>
            <p:nvSpPr>
              <p:cNvPr id="3" name="Content Placeholder 2">
                <a:extLst>
                  <a:ext uri="{FF2B5EF4-FFF2-40B4-BE49-F238E27FC236}">
                    <a16:creationId xmlns:a16="http://schemas.microsoft.com/office/drawing/2014/main" id="{5F944126-01B8-4FB3-8CEE-BCA137D10DDC}"/>
                  </a:ext>
                </a:extLst>
              </p:cNvPr>
              <p:cNvSpPr>
                <a:spLocks noGrp="1"/>
              </p:cNvSpPr>
              <p:nvPr>
                <p:ph idx="1"/>
              </p:nvPr>
            </p:nvSpPr>
            <p:spPr>
              <a:xfrm>
                <a:off x="1097280" y="1845734"/>
                <a:ext cx="5303520" cy="4023360"/>
              </a:xfrm>
            </p:spPr>
            <p:txBody>
              <a:bodyPr/>
              <a:lstStyle/>
              <a:p>
                <a:pPr>
                  <a:buFont typeface="Wingdings" panose="05000000000000000000" pitchFamily="2" charset="2"/>
                  <a:buChar char="q"/>
                </a:pPr>
                <a:r>
                  <a:rPr lang="en-US" sz="1800" dirty="0">
                    <a:solidFill>
                      <a:srgbClr val="242021"/>
                    </a:solidFill>
                  </a:rPr>
                  <a:t>S</a:t>
                </a:r>
                <a:r>
                  <a:rPr lang="en-US" sz="1800" b="0" i="0" dirty="0">
                    <a:solidFill>
                      <a:srgbClr val="242021"/>
                    </a:solidFill>
                    <a:effectLst/>
                  </a:rPr>
                  <a:t>tate probability </a:t>
                </a:r>
                <a14:m>
                  <m:oMath xmlns:m="http://schemas.openxmlformats.org/officeDocument/2006/math">
                    <m:sSub>
                      <m:sSubPr>
                        <m:ctrlPr>
                          <a:rPr lang="en-US" sz="1800" b="0" i="1" smtClean="0">
                            <a:solidFill>
                              <a:srgbClr val="242021"/>
                            </a:solidFill>
                            <a:effectLst/>
                            <a:latin typeface="Cambria Math" panose="02040503050406030204" pitchFamily="18" charset="0"/>
                          </a:rPr>
                        </m:ctrlPr>
                      </m:sSubPr>
                      <m:e>
                        <m:r>
                          <a:rPr lang="en-US" sz="1800" b="0" i="1" smtClean="0">
                            <a:solidFill>
                              <a:srgbClr val="242021"/>
                            </a:solidFill>
                            <a:effectLst/>
                            <a:latin typeface="Cambria Math" panose="02040503050406030204" pitchFamily="18" charset="0"/>
                          </a:rPr>
                          <m:t>𝑝</m:t>
                        </m:r>
                      </m:e>
                      <m:sub>
                        <m:r>
                          <a:rPr lang="en-US" sz="1800" b="0" i="1" smtClean="0">
                            <a:solidFill>
                              <a:srgbClr val="242021"/>
                            </a:solidFill>
                            <a:effectLst/>
                            <a:latin typeface="Cambria Math" panose="02040503050406030204" pitchFamily="18" charset="0"/>
                          </a:rPr>
                          <m:t>𝑓</m:t>
                        </m:r>
                      </m:sub>
                    </m:sSub>
                  </m:oMath>
                </a14:m>
                <a:r>
                  <a:rPr lang="en-US" sz="1800" b="0" i="1" dirty="0">
                    <a:solidFill>
                      <a:srgbClr val="242021"/>
                    </a:solidFill>
                    <a:effectLst/>
                  </a:rPr>
                  <a:t> </a:t>
                </a:r>
                <a:r>
                  <a:rPr lang="en-US" sz="1800" b="0" i="0" dirty="0">
                    <a:solidFill>
                      <a:srgbClr val="242021"/>
                    </a:solidFill>
                    <a:effectLst/>
                  </a:rPr>
                  <a:t>of having </a:t>
                </a:r>
                <a:r>
                  <a:rPr lang="en-US" sz="1800" b="0" i="1" dirty="0">
                    <a:solidFill>
                      <a:srgbClr val="242021"/>
                    </a:solidFill>
                    <a:effectLst/>
                  </a:rPr>
                  <a:t>f </a:t>
                </a:r>
                <a:r>
                  <a:rPr lang="en-US" sz="1800" b="0" i="0" dirty="0">
                    <a:solidFill>
                      <a:srgbClr val="242021"/>
                    </a:solidFill>
                    <a:effectLst/>
                  </a:rPr>
                  <a:t>requests in the system</a:t>
                </a:r>
              </a:p>
              <a:p>
                <a:pPr lvl="1">
                  <a:buFont typeface="Wingdings" panose="05000000000000000000" pitchFamily="2" charset="2"/>
                  <a:buChar char="q"/>
                </a:pPr>
                <a:r>
                  <a:rPr lang="en-US" sz="1600" b="0" dirty="0">
                    <a:solidFill>
                      <a:srgbClr val="242021"/>
                    </a:solidFill>
                  </a:rPr>
                  <a:t>For </a:t>
                </a:r>
                <a14:m>
                  <m:oMath xmlns:m="http://schemas.openxmlformats.org/officeDocument/2006/math">
                    <m:r>
                      <a:rPr lang="en-US" sz="1600" b="0" i="1" smtClean="0">
                        <a:solidFill>
                          <a:srgbClr val="242021"/>
                        </a:solidFill>
                        <a:latin typeface="Cambria Math" panose="02040503050406030204" pitchFamily="18" charset="0"/>
                      </a:rPr>
                      <m:t>1≤</m:t>
                    </m:r>
                    <m:r>
                      <a:rPr lang="en-US" sz="1600" b="0" i="1" smtClean="0">
                        <a:solidFill>
                          <a:srgbClr val="242021"/>
                        </a:solidFill>
                        <a:latin typeface="Cambria Math" panose="02040503050406030204" pitchFamily="18" charset="0"/>
                      </a:rPr>
                      <m:t>𝑓</m:t>
                    </m:r>
                    <m:r>
                      <a:rPr lang="en-US" sz="1600" b="0" i="1" smtClean="0">
                        <a:solidFill>
                          <a:srgbClr val="242021"/>
                        </a:solidFill>
                        <a:latin typeface="Cambria Math" panose="02040503050406030204" pitchFamily="18" charset="0"/>
                      </a:rPr>
                      <m:t>≤</m:t>
                    </m:r>
                    <m:r>
                      <a:rPr lang="en-US" sz="1600" b="0" i="1" smtClean="0">
                        <a:solidFill>
                          <a:srgbClr val="242021"/>
                        </a:solidFill>
                        <a:latin typeface="Cambria Math" panose="02040503050406030204" pitchFamily="18" charset="0"/>
                      </a:rPr>
                      <m:t>𝐹</m:t>
                    </m:r>
                  </m:oMath>
                </a14:m>
                <a:r>
                  <a:rPr lang="en-US" sz="1600" dirty="0">
                    <a:solidFill>
                      <a:srgbClr val="242021"/>
                    </a:solidFill>
                    <a:latin typeface="Times-Roman"/>
                  </a:rPr>
                  <a:t> </a:t>
                </a:r>
                <a:r>
                  <a:rPr lang="en-US" sz="1600" dirty="0">
                    <a:solidFill>
                      <a:srgbClr val="242021"/>
                    </a:solidFill>
                  </a:rPr>
                  <a:t>equation (15)</a:t>
                </a:r>
              </a:p>
              <a:p>
                <a:pPr lvl="1">
                  <a:buFont typeface="Wingdings" panose="05000000000000000000" pitchFamily="2" charset="2"/>
                  <a:buChar char="q"/>
                </a:pPr>
                <a:r>
                  <a:rPr lang="en-US" sz="1600" dirty="0">
                    <a:solidFill>
                      <a:srgbClr val="242021"/>
                    </a:solidFill>
                  </a:rPr>
                  <a:t>For </a:t>
                </a:r>
                <a14:m>
                  <m:oMath xmlns:m="http://schemas.openxmlformats.org/officeDocument/2006/math">
                    <m:r>
                      <m:rPr>
                        <m:sty m:val="p"/>
                      </m:rPr>
                      <a:rPr lang="en-US" sz="1600" i="1">
                        <a:solidFill>
                          <a:srgbClr val="242021"/>
                        </a:solidFill>
                        <a:latin typeface="Cambria Math" panose="02040503050406030204" pitchFamily="18" charset="0"/>
                      </a:rPr>
                      <m:t>F</m:t>
                    </m:r>
                    <m:r>
                      <a:rPr lang="en-US" sz="1600" b="0" i="1" smtClean="0">
                        <a:solidFill>
                          <a:srgbClr val="242021"/>
                        </a:solidFill>
                        <a:latin typeface="Cambria Math" panose="02040503050406030204" pitchFamily="18" charset="0"/>
                      </a:rPr>
                      <m:t>≤</m:t>
                    </m:r>
                    <m:r>
                      <a:rPr lang="en-US" sz="1600" b="0" i="1" smtClean="0">
                        <a:solidFill>
                          <a:srgbClr val="242021"/>
                        </a:solidFill>
                        <a:latin typeface="Cambria Math" panose="02040503050406030204" pitchFamily="18" charset="0"/>
                      </a:rPr>
                      <m:t>𝑓</m:t>
                    </m:r>
                    <m:r>
                      <a:rPr lang="en-US" sz="1600" b="0" i="1" smtClean="0">
                        <a:solidFill>
                          <a:srgbClr val="242021"/>
                        </a:solidFill>
                        <a:latin typeface="Cambria Math" panose="02040503050406030204" pitchFamily="18" charset="0"/>
                      </a:rPr>
                      <m:t>≤</m:t>
                    </m:r>
                    <m:r>
                      <a:rPr lang="en-US" sz="1600" b="0" i="1" smtClean="0">
                        <a:solidFill>
                          <a:srgbClr val="242021"/>
                        </a:solidFill>
                        <a:latin typeface="Cambria Math" panose="02040503050406030204" pitchFamily="18" charset="0"/>
                      </a:rPr>
                      <m:t>𝐴</m:t>
                    </m:r>
                  </m:oMath>
                </a14:m>
                <a:r>
                  <a:rPr lang="en-US" sz="1600" dirty="0">
                    <a:solidFill>
                      <a:srgbClr val="242021"/>
                    </a:solidFill>
                    <a:latin typeface="Times-Roman"/>
                  </a:rPr>
                  <a:t> equation (16)</a:t>
                </a:r>
                <a:endParaRPr lang="en-US" sz="1600" dirty="0">
                  <a:solidFill>
                    <a:srgbClr val="242021"/>
                  </a:solidFill>
                </a:endParaRPr>
              </a:p>
              <a:p>
                <a:pPr>
                  <a:buFont typeface="Wingdings" panose="05000000000000000000" pitchFamily="2" charset="2"/>
                  <a:buChar char="q"/>
                </a:pPr>
                <a14:m>
                  <m:oMath xmlns:m="http://schemas.openxmlformats.org/officeDocument/2006/math">
                    <m:sSub>
                      <m:sSubPr>
                        <m:ctrlPr>
                          <a:rPr lang="en-US" i="1" smtClean="0">
                            <a:latin typeface="Cambria Math" panose="02040503050406030204" pitchFamily="18" charset="0"/>
                          </a:rPr>
                        </m:ctrlPr>
                      </m:sSubPr>
                      <m:e>
                        <m:r>
                          <a:rPr lang="en-US" b="0" i="1" smtClean="0">
                            <a:latin typeface="Cambria Math" panose="02040503050406030204" pitchFamily="18" charset="0"/>
                          </a:rPr>
                          <m:t>𝑝</m:t>
                        </m:r>
                      </m:e>
                      <m:sub>
                        <m:r>
                          <a:rPr lang="en-US" b="0" i="1" smtClean="0">
                            <a:latin typeface="Cambria Math" panose="02040503050406030204" pitchFamily="18" charset="0"/>
                          </a:rPr>
                          <m:t>0,</m:t>
                        </m:r>
                        <m:r>
                          <a:rPr lang="en-US" b="0" i="1" smtClean="0">
                            <a:latin typeface="Cambria Math" panose="02040503050406030204" pitchFamily="18" charset="0"/>
                          </a:rPr>
                          <m:t>𝐹𝑁</m:t>
                        </m:r>
                      </m:sub>
                    </m:sSub>
                  </m:oMath>
                </a14:m>
                <a:r>
                  <a:rPr lang="en-US" dirty="0"/>
                  <a:t>: probability of having to task in specified FCN</a:t>
                </a:r>
              </a:p>
              <a:p>
                <a:pPr>
                  <a:buFont typeface="Wingdings" panose="05000000000000000000" pitchFamily="2" charset="2"/>
                  <a:buChar char="q"/>
                </a:pPr>
                <a:r>
                  <a:rPr lang="en-US" dirty="0"/>
                  <a:t> (15) and (16) can derived by (17)</a:t>
                </a:r>
              </a:p>
              <a:p>
                <a:pPr>
                  <a:buFont typeface="Wingdings" panose="05000000000000000000" pitchFamily="2" charset="2"/>
                  <a:buChar char="q"/>
                </a:pPr>
                <a14:m>
                  <m:oMath xmlns:m="http://schemas.openxmlformats.org/officeDocument/2006/math">
                    <m:sSub>
                      <m:sSubPr>
                        <m:ctrlPr>
                          <a:rPr lang="en-US" i="1" smtClean="0">
                            <a:latin typeface="Cambria Math" panose="02040503050406030204" pitchFamily="18" charset="0"/>
                          </a:rPr>
                        </m:ctrlPr>
                      </m:sSubPr>
                      <m:e>
                        <m:r>
                          <a:rPr lang="en-US" b="0" i="1" smtClean="0">
                            <a:latin typeface="Cambria Math" panose="02040503050406030204" pitchFamily="18" charset="0"/>
                          </a:rPr>
                          <m:t>𝑃</m:t>
                        </m:r>
                      </m:e>
                      <m:sub>
                        <m:r>
                          <a:rPr lang="en-US" b="0" i="1" smtClean="0">
                            <a:latin typeface="Cambria Math" panose="02040503050406030204" pitchFamily="18" charset="0"/>
                          </a:rPr>
                          <m:t>𝐵</m:t>
                        </m:r>
                      </m:sub>
                    </m:sSub>
                    <m:r>
                      <a:rPr lang="en-US" b="0" i="1" smtClean="0">
                        <a:latin typeface="Cambria Math" panose="02040503050406030204" pitchFamily="18" charset="0"/>
                      </a:rPr>
                      <m:t>=</m:t>
                    </m:r>
                    <m:sSub>
                      <m:sSubPr>
                        <m:ctrlPr>
                          <a:rPr lang="en-US" b="0" i="1" smtClean="0">
                            <a:latin typeface="Cambria Math" panose="02040503050406030204" pitchFamily="18" charset="0"/>
                          </a:rPr>
                        </m:ctrlPr>
                      </m:sSubPr>
                      <m:e>
                        <m:r>
                          <a:rPr lang="en-US" b="0" i="1" smtClean="0">
                            <a:latin typeface="Cambria Math" panose="02040503050406030204" pitchFamily="18" charset="0"/>
                          </a:rPr>
                          <m:t>𝑝</m:t>
                        </m:r>
                      </m:e>
                      <m:sub>
                        <m:r>
                          <a:rPr lang="en-US" b="0" i="1" smtClean="0">
                            <a:latin typeface="Cambria Math" panose="02040503050406030204" pitchFamily="18" charset="0"/>
                          </a:rPr>
                          <m:t>𝐴</m:t>
                        </m:r>
                      </m:sub>
                    </m:sSub>
                  </m:oMath>
                </a14:m>
                <a:br>
                  <a:rPr lang="en-US" dirty="0"/>
                </a:br>
                <a:endParaRPr lang="en-US" dirty="0"/>
              </a:p>
            </p:txBody>
          </p:sp>
        </mc:Choice>
        <mc:Fallback xmlns="">
          <p:sp>
            <p:nvSpPr>
              <p:cNvPr id="3" name="Content Placeholder 2">
                <a:extLst>
                  <a:ext uri="{FF2B5EF4-FFF2-40B4-BE49-F238E27FC236}">
                    <a16:creationId xmlns:a16="http://schemas.microsoft.com/office/drawing/2014/main" id="{5F944126-01B8-4FB3-8CEE-BCA137D10DDC}"/>
                  </a:ext>
                </a:extLst>
              </p:cNvPr>
              <p:cNvSpPr>
                <a:spLocks noGrp="1" noRot="1" noChangeAspect="1" noMove="1" noResize="1" noEditPoints="1" noAdjustHandles="1" noChangeArrowheads="1" noChangeShapeType="1" noTextEdit="1"/>
              </p:cNvSpPr>
              <p:nvPr>
                <p:ph idx="1"/>
              </p:nvPr>
            </p:nvSpPr>
            <p:spPr>
              <a:xfrm>
                <a:off x="1097280" y="1845734"/>
                <a:ext cx="5303520" cy="4023360"/>
              </a:xfrm>
              <a:blipFill>
                <a:blip r:embed="rId2"/>
                <a:stretch>
                  <a:fillRect l="-2759" t="-1364" r="-575"/>
                </a:stretch>
              </a:blipFill>
            </p:spPr>
            <p:txBody>
              <a:bodyPr/>
              <a:lstStyle/>
              <a:p>
                <a:r>
                  <a:rPr lang="en-US">
                    <a:noFill/>
                  </a:rPr>
                  <a:t> </a:t>
                </a:r>
              </a:p>
            </p:txBody>
          </p:sp>
        </mc:Fallback>
      </mc:AlternateContent>
      <p:sp>
        <p:nvSpPr>
          <p:cNvPr id="4" name="Slide Number Placeholder 3">
            <a:extLst>
              <a:ext uri="{FF2B5EF4-FFF2-40B4-BE49-F238E27FC236}">
                <a16:creationId xmlns:a16="http://schemas.microsoft.com/office/drawing/2014/main" id="{66A56389-438B-4D9E-BE59-19A5273E5E89}"/>
              </a:ext>
            </a:extLst>
          </p:cNvPr>
          <p:cNvSpPr>
            <a:spLocks noGrp="1"/>
          </p:cNvSpPr>
          <p:nvPr>
            <p:ph type="sldNum" sz="quarter" idx="12"/>
          </p:nvPr>
        </p:nvSpPr>
        <p:spPr/>
        <p:txBody>
          <a:bodyPr/>
          <a:lstStyle/>
          <a:p>
            <a:fld id="{DC4CAFB8-3EF6-4FAF-BDFA-EA2F8D8834E4}" type="slidenum">
              <a:rPr lang="en-US" smtClean="0"/>
              <a:t>22</a:t>
            </a:fld>
            <a:endParaRPr lang="en-US"/>
          </a:p>
        </p:txBody>
      </p:sp>
      <p:pic>
        <p:nvPicPr>
          <p:cNvPr id="6" name="Picture 5">
            <a:extLst>
              <a:ext uri="{FF2B5EF4-FFF2-40B4-BE49-F238E27FC236}">
                <a16:creationId xmlns:a16="http://schemas.microsoft.com/office/drawing/2014/main" id="{4DD8ACA0-9628-4FE4-AE56-A2F203FC63F4}"/>
              </a:ext>
            </a:extLst>
          </p:cNvPr>
          <p:cNvPicPr>
            <a:picLocks noChangeAspect="1"/>
          </p:cNvPicPr>
          <p:nvPr/>
        </p:nvPicPr>
        <p:blipFill>
          <a:blip r:embed="rId3"/>
          <a:stretch>
            <a:fillRect/>
          </a:stretch>
        </p:blipFill>
        <p:spPr>
          <a:xfrm>
            <a:off x="6226074" y="2172226"/>
            <a:ext cx="5267277" cy="733657"/>
          </a:xfrm>
          <a:prstGeom prst="rect">
            <a:avLst/>
          </a:prstGeom>
        </p:spPr>
      </p:pic>
      <p:pic>
        <p:nvPicPr>
          <p:cNvPr id="8" name="Picture 7">
            <a:extLst>
              <a:ext uri="{FF2B5EF4-FFF2-40B4-BE49-F238E27FC236}">
                <a16:creationId xmlns:a16="http://schemas.microsoft.com/office/drawing/2014/main" id="{D1C6334C-D092-43D0-A0E8-96DDBD0E7BED}"/>
              </a:ext>
            </a:extLst>
          </p:cNvPr>
          <p:cNvPicPr>
            <a:picLocks noChangeAspect="1"/>
          </p:cNvPicPr>
          <p:nvPr/>
        </p:nvPicPr>
        <p:blipFill>
          <a:blip r:embed="rId4"/>
          <a:stretch>
            <a:fillRect/>
          </a:stretch>
        </p:blipFill>
        <p:spPr>
          <a:xfrm>
            <a:off x="6096000" y="3228082"/>
            <a:ext cx="5730737" cy="883997"/>
          </a:xfrm>
          <a:prstGeom prst="rect">
            <a:avLst/>
          </a:prstGeom>
        </p:spPr>
      </p:pic>
      <p:pic>
        <p:nvPicPr>
          <p:cNvPr id="10" name="Picture 9">
            <a:extLst>
              <a:ext uri="{FF2B5EF4-FFF2-40B4-BE49-F238E27FC236}">
                <a16:creationId xmlns:a16="http://schemas.microsoft.com/office/drawing/2014/main" id="{63CA6AF8-7DFE-45C8-BA13-6A6131FEA5C1}"/>
              </a:ext>
            </a:extLst>
          </p:cNvPr>
          <p:cNvPicPr>
            <a:picLocks noChangeAspect="1"/>
          </p:cNvPicPr>
          <p:nvPr/>
        </p:nvPicPr>
        <p:blipFill>
          <a:blip r:embed="rId5"/>
          <a:stretch>
            <a:fillRect/>
          </a:stretch>
        </p:blipFill>
        <p:spPr>
          <a:xfrm>
            <a:off x="1344492" y="5078677"/>
            <a:ext cx="10112616" cy="1112616"/>
          </a:xfrm>
          <a:prstGeom prst="rect">
            <a:avLst/>
          </a:prstGeom>
        </p:spPr>
      </p:pic>
      <p:sp>
        <p:nvSpPr>
          <p:cNvPr id="9" name="TextBox 8">
            <a:extLst>
              <a:ext uri="{FF2B5EF4-FFF2-40B4-BE49-F238E27FC236}">
                <a16:creationId xmlns:a16="http://schemas.microsoft.com/office/drawing/2014/main" id="{CB479AB8-5BA5-47D4-83F8-C6998EC560EE}"/>
              </a:ext>
            </a:extLst>
          </p:cNvPr>
          <p:cNvSpPr txBox="1"/>
          <p:nvPr/>
        </p:nvSpPr>
        <p:spPr>
          <a:xfrm>
            <a:off x="189571" y="6447755"/>
            <a:ext cx="3579542" cy="369332"/>
          </a:xfrm>
          <a:prstGeom prst="rect">
            <a:avLst/>
          </a:prstGeom>
          <a:noFill/>
        </p:spPr>
        <p:txBody>
          <a:bodyPr wrap="square" rtlCol="0">
            <a:spAutoFit/>
          </a:bodyPr>
          <a:lstStyle/>
          <a:p>
            <a:r>
              <a:rPr lang="en-US" dirty="0">
                <a:solidFill>
                  <a:schemeClr val="bg1"/>
                </a:solidFill>
              </a:rPr>
              <a:t>Mohammad Mahdi Manafi</a:t>
            </a:r>
          </a:p>
        </p:txBody>
      </p:sp>
    </p:spTree>
    <p:extLst>
      <p:ext uri="{BB962C8B-B14F-4D97-AF65-F5344CB8AC3E}">
        <p14:creationId xmlns:p14="http://schemas.microsoft.com/office/powerpoint/2010/main" val="189831125"/>
      </p:ext>
    </p:extLst>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EFD9045-FD4E-4240-B66B-4AC3155ABB41}"/>
              </a:ext>
            </a:extLst>
          </p:cNvPr>
          <p:cNvSpPr>
            <a:spLocks noGrp="1"/>
          </p:cNvSpPr>
          <p:nvPr>
            <p:ph type="title"/>
          </p:nvPr>
        </p:nvSpPr>
        <p:spPr/>
        <p:txBody>
          <a:bodyPr/>
          <a:lstStyle/>
          <a:p>
            <a:r>
              <a:rPr lang="en-US" dirty="0"/>
              <a:t>Fog subsystem analysis</a:t>
            </a:r>
          </a:p>
        </p:txBody>
      </p:sp>
      <p:sp>
        <p:nvSpPr>
          <p:cNvPr id="3" name="Content Placeholder 2">
            <a:extLst>
              <a:ext uri="{FF2B5EF4-FFF2-40B4-BE49-F238E27FC236}">
                <a16:creationId xmlns:a16="http://schemas.microsoft.com/office/drawing/2014/main" id="{E612F281-851D-449E-86CF-6497B146799B}"/>
              </a:ext>
            </a:extLst>
          </p:cNvPr>
          <p:cNvSpPr>
            <a:spLocks noGrp="1"/>
          </p:cNvSpPr>
          <p:nvPr>
            <p:ph idx="1"/>
          </p:nvPr>
        </p:nvSpPr>
        <p:spPr>
          <a:xfrm>
            <a:off x="1097280" y="1845734"/>
            <a:ext cx="4998720" cy="4023360"/>
          </a:xfrm>
        </p:spPr>
        <p:txBody>
          <a:bodyPr/>
          <a:lstStyle/>
          <a:p>
            <a:pPr>
              <a:buFont typeface="Wingdings" panose="05000000000000000000" pitchFamily="2" charset="2"/>
              <a:buChar char="q"/>
            </a:pPr>
            <a:r>
              <a:rPr lang="en-US" sz="2000" dirty="0">
                <a:solidFill>
                  <a:srgbClr val="242021"/>
                </a:solidFill>
              </a:rPr>
              <a:t>M</a:t>
            </a:r>
            <a:r>
              <a:rPr lang="en-US" sz="2000" b="0" i="0" dirty="0">
                <a:solidFill>
                  <a:srgbClr val="242021"/>
                </a:solidFill>
                <a:effectLst/>
              </a:rPr>
              <a:t>ean time spent by each task in a FCN through the Little’s formula</a:t>
            </a:r>
            <a:r>
              <a:rPr lang="en-US" sz="2000" dirty="0"/>
              <a:t> equation (18)</a:t>
            </a:r>
            <a:endParaRPr lang="en-US" dirty="0"/>
          </a:p>
        </p:txBody>
      </p:sp>
      <p:sp>
        <p:nvSpPr>
          <p:cNvPr id="4" name="Slide Number Placeholder 3">
            <a:extLst>
              <a:ext uri="{FF2B5EF4-FFF2-40B4-BE49-F238E27FC236}">
                <a16:creationId xmlns:a16="http://schemas.microsoft.com/office/drawing/2014/main" id="{4FEE048F-CBC1-494A-886D-55CA3A1392A8}"/>
              </a:ext>
            </a:extLst>
          </p:cNvPr>
          <p:cNvSpPr>
            <a:spLocks noGrp="1"/>
          </p:cNvSpPr>
          <p:nvPr>
            <p:ph type="sldNum" sz="quarter" idx="12"/>
          </p:nvPr>
        </p:nvSpPr>
        <p:spPr/>
        <p:txBody>
          <a:bodyPr/>
          <a:lstStyle/>
          <a:p>
            <a:fld id="{DC4CAFB8-3EF6-4FAF-BDFA-EA2F8D8834E4}" type="slidenum">
              <a:rPr lang="en-US" smtClean="0"/>
              <a:t>23</a:t>
            </a:fld>
            <a:endParaRPr lang="en-US"/>
          </a:p>
        </p:txBody>
      </p:sp>
      <p:pic>
        <p:nvPicPr>
          <p:cNvPr id="5" name="Picture 4">
            <a:extLst>
              <a:ext uri="{FF2B5EF4-FFF2-40B4-BE49-F238E27FC236}">
                <a16:creationId xmlns:a16="http://schemas.microsoft.com/office/drawing/2014/main" id="{A91DDA8C-5C67-446C-A4C9-33A7BECEAC3B}"/>
              </a:ext>
            </a:extLst>
          </p:cNvPr>
          <p:cNvPicPr>
            <a:picLocks noChangeAspect="1"/>
          </p:cNvPicPr>
          <p:nvPr/>
        </p:nvPicPr>
        <p:blipFill>
          <a:blip r:embed="rId2"/>
          <a:stretch>
            <a:fillRect/>
          </a:stretch>
        </p:blipFill>
        <p:spPr>
          <a:xfrm>
            <a:off x="7376279" y="2026658"/>
            <a:ext cx="2610601" cy="799557"/>
          </a:xfrm>
          <a:prstGeom prst="rect">
            <a:avLst/>
          </a:prstGeom>
        </p:spPr>
      </p:pic>
      <p:sp>
        <p:nvSpPr>
          <p:cNvPr id="6" name="TextBox 5">
            <a:extLst>
              <a:ext uri="{FF2B5EF4-FFF2-40B4-BE49-F238E27FC236}">
                <a16:creationId xmlns:a16="http://schemas.microsoft.com/office/drawing/2014/main" id="{FE305B4D-CDB6-4F05-9B34-6518C6294335}"/>
              </a:ext>
            </a:extLst>
          </p:cNvPr>
          <p:cNvSpPr txBox="1"/>
          <p:nvPr/>
        </p:nvSpPr>
        <p:spPr>
          <a:xfrm flipH="1">
            <a:off x="10962359" y="2275860"/>
            <a:ext cx="610294" cy="369332"/>
          </a:xfrm>
          <a:prstGeom prst="rect">
            <a:avLst/>
          </a:prstGeom>
          <a:noFill/>
        </p:spPr>
        <p:txBody>
          <a:bodyPr wrap="square" rtlCol="0">
            <a:spAutoFit/>
          </a:bodyPr>
          <a:lstStyle/>
          <a:p>
            <a:r>
              <a:rPr lang="en-US" dirty="0"/>
              <a:t>(18)</a:t>
            </a:r>
          </a:p>
        </p:txBody>
      </p:sp>
      <p:sp>
        <p:nvSpPr>
          <p:cNvPr id="7" name="TextBox 6">
            <a:extLst>
              <a:ext uri="{FF2B5EF4-FFF2-40B4-BE49-F238E27FC236}">
                <a16:creationId xmlns:a16="http://schemas.microsoft.com/office/drawing/2014/main" id="{C320EB37-274B-4268-8786-E43709F74F67}"/>
              </a:ext>
            </a:extLst>
          </p:cNvPr>
          <p:cNvSpPr txBox="1"/>
          <p:nvPr/>
        </p:nvSpPr>
        <p:spPr>
          <a:xfrm>
            <a:off x="189571" y="6447755"/>
            <a:ext cx="3579542" cy="369332"/>
          </a:xfrm>
          <a:prstGeom prst="rect">
            <a:avLst/>
          </a:prstGeom>
          <a:noFill/>
        </p:spPr>
        <p:txBody>
          <a:bodyPr wrap="square" rtlCol="0">
            <a:spAutoFit/>
          </a:bodyPr>
          <a:lstStyle/>
          <a:p>
            <a:r>
              <a:rPr lang="en-US" dirty="0">
                <a:solidFill>
                  <a:schemeClr val="bg1"/>
                </a:solidFill>
              </a:rPr>
              <a:t>Mohammad Mahdi Manafi</a:t>
            </a:r>
          </a:p>
        </p:txBody>
      </p:sp>
    </p:spTree>
    <p:extLst>
      <p:ext uri="{BB962C8B-B14F-4D97-AF65-F5344CB8AC3E}">
        <p14:creationId xmlns:p14="http://schemas.microsoft.com/office/powerpoint/2010/main" val="3902543102"/>
      </p:ext>
    </p:extLst>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Title 4">
            <a:extLst>
              <a:ext uri="{FF2B5EF4-FFF2-40B4-BE49-F238E27FC236}">
                <a16:creationId xmlns:a16="http://schemas.microsoft.com/office/drawing/2014/main" id="{395D6931-08AD-4EBE-8F85-043D5E00ECE6}"/>
              </a:ext>
            </a:extLst>
          </p:cNvPr>
          <p:cNvSpPr>
            <a:spLocks noGrp="1"/>
          </p:cNvSpPr>
          <p:nvPr>
            <p:ph type="title"/>
          </p:nvPr>
        </p:nvSpPr>
        <p:spPr>
          <a:xfrm>
            <a:off x="1097280" y="758952"/>
            <a:ext cx="10290190" cy="3566160"/>
          </a:xfrm>
        </p:spPr>
        <p:txBody>
          <a:bodyPr/>
          <a:lstStyle/>
          <a:p>
            <a:r>
              <a:rPr lang="en-US" dirty="0"/>
              <a:t>Cloud subsystem analysis</a:t>
            </a:r>
          </a:p>
        </p:txBody>
      </p:sp>
      <p:sp>
        <p:nvSpPr>
          <p:cNvPr id="6" name="Text Placeholder 5">
            <a:extLst>
              <a:ext uri="{FF2B5EF4-FFF2-40B4-BE49-F238E27FC236}">
                <a16:creationId xmlns:a16="http://schemas.microsoft.com/office/drawing/2014/main" id="{54D547B1-708C-4CC1-BDC5-A437EF148A93}"/>
              </a:ext>
            </a:extLst>
          </p:cNvPr>
          <p:cNvSpPr>
            <a:spLocks noGrp="1"/>
          </p:cNvSpPr>
          <p:nvPr>
            <p:ph type="body" idx="1"/>
          </p:nvPr>
        </p:nvSpPr>
        <p:spPr/>
        <p:txBody>
          <a:bodyPr/>
          <a:lstStyle/>
          <a:p>
            <a:r>
              <a:rPr lang="en-US" dirty="0"/>
              <a:t>Section 3</a:t>
            </a:r>
          </a:p>
        </p:txBody>
      </p:sp>
    </p:spTree>
    <p:extLst>
      <p:ext uri="{BB962C8B-B14F-4D97-AF65-F5344CB8AC3E}">
        <p14:creationId xmlns:p14="http://schemas.microsoft.com/office/powerpoint/2010/main" val="3419052980"/>
      </p:ext>
    </p:extLst>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57166EBA-EDD7-4BAF-ADF7-30520E246A22}"/>
              </a:ext>
            </a:extLst>
          </p:cNvPr>
          <p:cNvSpPr>
            <a:spLocks noGrp="1"/>
          </p:cNvSpPr>
          <p:nvPr>
            <p:ph type="title"/>
          </p:nvPr>
        </p:nvSpPr>
        <p:spPr/>
        <p:txBody>
          <a:bodyPr/>
          <a:lstStyle/>
          <a:p>
            <a:r>
              <a:rPr lang="en-US" dirty="0"/>
              <a:t>Cloud subsystem analysis</a:t>
            </a:r>
          </a:p>
        </p:txBody>
      </p:sp>
      <mc:AlternateContent xmlns:mc="http://schemas.openxmlformats.org/markup-compatibility/2006" xmlns:a14="http://schemas.microsoft.com/office/drawing/2010/main">
        <mc:Choice Requires="a14">
          <p:sp>
            <p:nvSpPr>
              <p:cNvPr id="3" name="Content Placeholder 2">
                <a:extLst>
                  <a:ext uri="{FF2B5EF4-FFF2-40B4-BE49-F238E27FC236}">
                    <a16:creationId xmlns:a16="http://schemas.microsoft.com/office/drawing/2014/main" id="{742BBDE5-BC9A-4642-8A19-91A609E40085}"/>
                  </a:ext>
                </a:extLst>
              </p:cNvPr>
              <p:cNvSpPr>
                <a:spLocks noGrp="1"/>
              </p:cNvSpPr>
              <p:nvPr>
                <p:ph idx="1"/>
              </p:nvPr>
            </p:nvSpPr>
            <p:spPr>
              <a:xfrm>
                <a:off x="1097280" y="1845734"/>
                <a:ext cx="4998720" cy="4023360"/>
              </a:xfrm>
            </p:spPr>
            <p:txBody>
              <a:bodyPr/>
              <a:lstStyle/>
              <a:p>
                <a:pPr>
                  <a:buFont typeface="Wingdings" panose="05000000000000000000" pitchFamily="2" charset="2"/>
                  <a:buChar char="q"/>
                </a:pPr>
                <a:r>
                  <a:rPr lang="en-US" dirty="0"/>
                  <a:t>Queuing model</a:t>
                </a:r>
              </a:p>
              <a:p>
                <a:pPr lvl="1">
                  <a:buFont typeface="Wingdings" panose="05000000000000000000" pitchFamily="2" charset="2"/>
                  <a:buChar char="q"/>
                </a:pPr>
                <a:r>
                  <a:rPr lang="en-US" sz="1800" b="0" i="0" dirty="0">
                    <a:solidFill>
                      <a:srgbClr val="242021"/>
                    </a:solidFill>
                    <a:effectLst/>
                    <a:latin typeface="Times-Roman"/>
                  </a:rPr>
                  <a:t>M/M/S</a:t>
                </a:r>
                <a:r>
                  <a:rPr lang="en-US" dirty="0"/>
                  <a:t> </a:t>
                </a:r>
              </a:p>
              <a:p>
                <a:pPr lvl="1">
                  <a:buFont typeface="Wingdings" panose="05000000000000000000" pitchFamily="2" charset="2"/>
                  <a:buChar char="q"/>
                </a:pPr>
                <a:r>
                  <a:rPr lang="en-US" dirty="0"/>
                  <a:t>FCFS</a:t>
                </a:r>
              </a:p>
              <a:p>
                <a:pPr>
                  <a:buFont typeface="Wingdings" panose="05000000000000000000" pitchFamily="2" charset="2"/>
                  <a:buChar char="q"/>
                </a:pPr>
                <a:r>
                  <a:rPr lang="en-US" dirty="0"/>
                  <a:t>Cloud connected to </a:t>
                </a:r>
                <a14:m>
                  <m:oMath xmlns:m="http://schemas.openxmlformats.org/officeDocument/2006/math">
                    <m:r>
                      <a:rPr lang="en-US" b="0" i="1" smtClean="0">
                        <a:latin typeface="Cambria Math" panose="02040503050406030204" pitchFamily="18" charset="0"/>
                      </a:rPr>
                      <m:t>𝐹</m:t>
                    </m:r>
                    <m:r>
                      <a:rPr lang="en-US" b="0" i="0" smtClean="0">
                        <a:latin typeface="Cambria Math" panose="02040503050406030204" pitchFamily="18" charset="0"/>
                      </a:rPr>
                      <m:t> </m:t>
                    </m:r>
                  </m:oMath>
                </a14:m>
                <a:r>
                  <a:rPr lang="en-US" dirty="0"/>
                  <a:t>FCN</a:t>
                </a:r>
              </a:p>
              <a:p>
                <a:pPr lvl="1">
                  <a:buFont typeface="Wingdings" panose="05000000000000000000" pitchFamily="2" charset="2"/>
                  <a:buChar char="q"/>
                </a:pPr>
                <a:r>
                  <a:rPr lang="en-US" dirty="0"/>
                  <a:t>Property of exponential distributions</a:t>
                </a:r>
              </a:p>
              <a:p>
                <a:pPr lvl="1">
                  <a:buFont typeface="Wingdings" panose="05000000000000000000" pitchFamily="2" charset="2"/>
                  <a:buChar char="q"/>
                </a:pPr>
                <a:r>
                  <a:rPr lang="en-US" dirty="0">
                    <a:ea typeface="Cambria Math" panose="02040503050406030204" pitchFamily="18" charset="0"/>
                  </a:rPr>
                  <a:t>Arrival rate </a:t>
                </a:r>
                <a14:m>
                  <m:oMath xmlns:m="http://schemas.openxmlformats.org/officeDocument/2006/math">
                    <m:r>
                      <m:rPr>
                        <m:sty m:val="p"/>
                      </m:rPr>
                      <a:rPr lang="el-GR" i="1" smtClean="0">
                        <a:latin typeface="Cambria Math" panose="02040503050406030204" pitchFamily="18" charset="0"/>
                        <a:ea typeface="Cambria Math" panose="02040503050406030204" pitchFamily="18" charset="0"/>
                      </a:rPr>
                      <m:t>Φ</m:t>
                    </m:r>
                    <m:r>
                      <a:rPr lang="en-US" b="0" i="1" smtClean="0">
                        <a:latin typeface="Cambria Math" panose="02040503050406030204" pitchFamily="18" charset="0"/>
                        <a:ea typeface="Cambria Math" panose="02040503050406030204" pitchFamily="18" charset="0"/>
                      </a:rPr>
                      <m:t>=</m:t>
                    </m:r>
                    <m:sSub>
                      <m:sSubPr>
                        <m:ctrlPr>
                          <a:rPr lang="en-US" i="1">
                            <a:solidFill>
                              <a:srgbClr val="242021"/>
                            </a:solidFill>
                            <a:latin typeface="Cambria Math" panose="02040503050406030204" pitchFamily="18" charset="0"/>
                            <a:ea typeface="Cambria Math" panose="02040503050406030204" pitchFamily="18" charset="0"/>
                          </a:rPr>
                        </m:ctrlPr>
                      </m:sSubPr>
                      <m:e>
                        <m:r>
                          <m:rPr>
                            <m:sty m:val="p"/>
                          </m:rPr>
                          <a:rPr lang="el-GR" i="1">
                            <a:solidFill>
                              <a:srgbClr val="242021"/>
                            </a:solidFill>
                            <a:latin typeface="Cambria Math" panose="02040503050406030204" pitchFamily="18" charset="0"/>
                            <a:ea typeface="Cambria Math" panose="02040503050406030204" pitchFamily="18" charset="0"/>
                          </a:rPr>
                          <m:t>Λ</m:t>
                        </m:r>
                      </m:e>
                      <m:sub>
                        <m:r>
                          <a:rPr lang="en-US" i="1">
                            <a:solidFill>
                              <a:srgbClr val="242021"/>
                            </a:solidFill>
                            <a:latin typeface="Cambria Math" panose="02040503050406030204" pitchFamily="18" charset="0"/>
                            <a:ea typeface="Cambria Math" panose="02040503050406030204" pitchFamily="18" charset="0"/>
                          </a:rPr>
                          <m:t>1</m:t>
                        </m:r>
                      </m:sub>
                    </m:sSub>
                    <m:r>
                      <a:rPr lang="en-US" i="1">
                        <a:solidFill>
                          <a:srgbClr val="242021"/>
                        </a:solidFill>
                        <a:latin typeface="Cambria Math" panose="02040503050406030204" pitchFamily="18" charset="0"/>
                        <a:ea typeface="Cambria Math" panose="02040503050406030204" pitchFamily="18" charset="0"/>
                      </a:rPr>
                      <m:t>+</m:t>
                    </m:r>
                    <m:sSub>
                      <m:sSubPr>
                        <m:ctrlPr>
                          <a:rPr lang="en-US" i="1">
                            <a:solidFill>
                              <a:srgbClr val="242021"/>
                            </a:solidFill>
                            <a:latin typeface="Cambria Math" panose="02040503050406030204" pitchFamily="18" charset="0"/>
                            <a:ea typeface="Cambria Math" panose="02040503050406030204" pitchFamily="18" charset="0"/>
                          </a:rPr>
                        </m:ctrlPr>
                      </m:sSubPr>
                      <m:e>
                        <m:r>
                          <m:rPr>
                            <m:sty m:val="p"/>
                          </m:rPr>
                          <a:rPr lang="el-GR" i="1">
                            <a:solidFill>
                              <a:srgbClr val="242021"/>
                            </a:solidFill>
                            <a:latin typeface="Cambria Math" panose="02040503050406030204" pitchFamily="18" charset="0"/>
                            <a:ea typeface="Cambria Math" panose="02040503050406030204" pitchFamily="18" charset="0"/>
                          </a:rPr>
                          <m:t>Λ</m:t>
                        </m:r>
                      </m:e>
                      <m:sub>
                        <m:r>
                          <a:rPr lang="en-US" i="1">
                            <a:solidFill>
                              <a:srgbClr val="242021"/>
                            </a:solidFill>
                            <a:latin typeface="Cambria Math" panose="02040503050406030204" pitchFamily="18" charset="0"/>
                            <a:ea typeface="Cambria Math" panose="02040503050406030204" pitchFamily="18" charset="0"/>
                          </a:rPr>
                          <m:t>2</m:t>
                        </m:r>
                      </m:sub>
                    </m:sSub>
                    <m:r>
                      <a:rPr lang="en-US">
                        <a:solidFill>
                          <a:srgbClr val="242021"/>
                        </a:solidFill>
                        <a:latin typeface="Cambria Math" panose="02040503050406030204" pitchFamily="18" charset="0"/>
                        <a:ea typeface="Cambria Math" panose="02040503050406030204" pitchFamily="18" charset="0"/>
                      </a:rPr>
                      <m:t>+…+</m:t>
                    </m:r>
                    <m:sSub>
                      <m:sSubPr>
                        <m:ctrlPr>
                          <a:rPr lang="en-US" i="1">
                            <a:solidFill>
                              <a:srgbClr val="242021"/>
                            </a:solidFill>
                            <a:latin typeface="Cambria Math" panose="02040503050406030204" pitchFamily="18" charset="0"/>
                            <a:ea typeface="Cambria Math" panose="02040503050406030204" pitchFamily="18" charset="0"/>
                          </a:rPr>
                        </m:ctrlPr>
                      </m:sSubPr>
                      <m:e>
                        <m:r>
                          <m:rPr>
                            <m:sty m:val="p"/>
                          </m:rPr>
                          <a:rPr lang="el-GR" i="1">
                            <a:solidFill>
                              <a:srgbClr val="242021"/>
                            </a:solidFill>
                            <a:latin typeface="Cambria Math" panose="02040503050406030204" pitchFamily="18" charset="0"/>
                            <a:ea typeface="Cambria Math" panose="02040503050406030204" pitchFamily="18" charset="0"/>
                          </a:rPr>
                          <m:t>Λ</m:t>
                        </m:r>
                      </m:e>
                      <m:sub>
                        <m:r>
                          <a:rPr lang="en-US" b="0" i="1" smtClean="0">
                            <a:solidFill>
                              <a:srgbClr val="242021"/>
                            </a:solidFill>
                            <a:latin typeface="Cambria Math" panose="02040503050406030204" pitchFamily="18" charset="0"/>
                            <a:ea typeface="Cambria Math" panose="02040503050406030204" pitchFamily="18" charset="0"/>
                          </a:rPr>
                          <m:t>𝐹</m:t>
                        </m:r>
                      </m:sub>
                    </m:sSub>
                    <m:r>
                      <a:rPr lang="en-US" i="1">
                        <a:solidFill>
                          <a:srgbClr val="242021"/>
                        </a:solidFill>
                        <a:latin typeface="Cambria Math" panose="02040503050406030204" pitchFamily="18" charset="0"/>
                        <a:ea typeface="Cambria Math" panose="02040503050406030204" pitchFamily="18" charset="0"/>
                      </a:rPr>
                      <m:t>=</m:t>
                    </m:r>
                    <m:r>
                      <a:rPr lang="en-US" b="0" i="1" smtClean="0">
                        <a:solidFill>
                          <a:srgbClr val="242021"/>
                        </a:solidFill>
                        <a:latin typeface="Cambria Math" panose="02040503050406030204" pitchFamily="18" charset="0"/>
                        <a:ea typeface="Cambria Math" panose="02040503050406030204" pitchFamily="18" charset="0"/>
                      </a:rPr>
                      <m:t>𝐹</m:t>
                    </m:r>
                    <m:r>
                      <m:rPr>
                        <m:sty m:val="p"/>
                      </m:rPr>
                      <a:rPr lang="el-GR" i="1">
                        <a:solidFill>
                          <a:srgbClr val="242021"/>
                        </a:solidFill>
                        <a:latin typeface="Cambria Math" panose="02040503050406030204" pitchFamily="18" charset="0"/>
                        <a:ea typeface="Cambria Math" panose="02040503050406030204" pitchFamily="18" charset="0"/>
                      </a:rPr>
                      <m:t>Λ</m:t>
                    </m:r>
                  </m:oMath>
                </a14:m>
                <a:endParaRPr lang="en-US" dirty="0">
                  <a:solidFill>
                    <a:srgbClr val="242021"/>
                  </a:solidFill>
                  <a:ea typeface="Cambria Math" panose="02040503050406030204" pitchFamily="18" charset="0"/>
                </a:endParaRPr>
              </a:p>
              <a:p>
                <a:pPr lvl="1">
                  <a:buFont typeface="Wingdings" panose="05000000000000000000" pitchFamily="2" charset="2"/>
                  <a:buChar char="q"/>
                </a:pPr>
                <a:r>
                  <a:rPr lang="en-US" dirty="0">
                    <a:solidFill>
                      <a:srgbClr val="242021"/>
                    </a:solidFill>
                    <a:ea typeface="Cambria Math" panose="02040503050406030204" pitchFamily="18" charset="0"/>
                  </a:rPr>
                  <a:t>Mean </a:t>
                </a:r>
                <a14:m>
                  <m:oMath xmlns:m="http://schemas.openxmlformats.org/officeDocument/2006/math">
                    <m:r>
                      <m:rPr>
                        <m:sty m:val="p"/>
                      </m:rPr>
                      <a:rPr lang="el-GR" sz="1800" b="0" i="1" smtClean="0">
                        <a:solidFill>
                          <a:srgbClr val="242021"/>
                        </a:solidFill>
                        <a:effectLst/>
                        <a:latin typeface="Cambria Math" panose="02040503050406030204" pitchFamily="18" charset="0"/>
                        <a:ea typeface="Cambria Math" panose="02040503050406030204" pitchFamily="18" charset="0"/>
                      </a:rPr>
                      <m:t>Γ</m:t>
                    </m:r>
                    <m:r>
                      <a:rPr lang="en-US" sz="1800" b="0" i="1" smtClean="0">
                        <a:solidFill>
                          <a:srgbClr val="242021"/>
                        </a:solidFill>
                        <a:effectLst/>
                        <a:latin typeface="Cambria Math" panose="02040503050406030204" pitchFamily="18" charset="0"/>
                        <a:ea typeface="Cambria Math" panose="02040503050406030204" pitchFamily="18" charset="0"/>
                      </a:rPr>
                      <m:t>=</m:t>
                    </m:r>
                    <m:r>
                      <a:rPr lang="en-US" i="1">
                        <a:solidFill>
                          <a:srgbClr val="242021"/>
                        </a:solidFill>
                        <a:latin typeface="Cambria Math" panose="02040503050406030204" pitchFamily="18" charset="0"/>
                        <a:ea typeface="Cambria Math" panose="02040503050406030204" pitchFamily="18" charset="0"/>
                      </a:rPr>
                      <m:t>𝛾</m:t>
                    </m:r>
                    <m:r>
                      <m:rPr>
                        <m:sty m:val="p"/>
                      </m:rPr>
                      <a:rPr lang="el-GR" i="1">
                        <a:solidFill>
                          <a:srgbClr val="242021"/>
                        </a:solidFill>
                        <a:latin typeface="Cambria Math" panose="02040503050406030204" pitchFamily="18" charset="0"/>
                        <a:ea typeface="Cambria Math" panose="02040503050406030204" pitchFamily="18" charset="0"/>
                      </a:rPr>
                      <m:t>Λ</m:t>
                    </m:r>
                    <m:sSub>
                      <m:sSubPr>
                        <m:ctrlPr>
                          <a:rPr lang="el-GR" i="1" smtClean="0">
                            <a:solidFill>
                              <a:srgbClr val="242021"/>
                            </a:solidFill>
                            <a:latin typeface="Cambria Math" panose="02040503050406030204" pitchFamily="18" charset="0"/>
                            <a:ea typeface="Cambria Math" panose="02040503050406030204" pitchFamily="18" charset="0"/>
                          </a:rPr>
                        </m:ctrlPr>
                      </m:sSubPr>
                      <m:e>
                        <m:r>
                          <a:rPr lang="en-US" b="0" i="1" smtClean="0">
                            <a:solidFill>
                              <a:srgbClr val="242021"/>
                            </a:solidFill>
                            <a:latin typeface="Cambria Math" panose="02040503050406030204" pitchFamily="18" charset="0"/>
                            <a:ea typeface="Cambria Math" panose="02040503050406030204" pitchFamily="18" charset="0"/>
                          </a:rPr>
                          <m:t>𝑃</m:t>
                        </m:r>
                      </m:e>
                      <m:sub>
                        <m:r>
                          <a:rPr lang="en-US" b="0" i="1" smtClean="0">
                            <a:solidFill>
                              <a:srgbClr val="242021"/>
                            </a:solidFill>
                            <a:latin typeface="Cambria Math" panose="02040503050406030204" pitchFamily="18" charset="0"/>
                            <a:ea typeface="Cambria Math" panose="02040503050406030204" pitchFamily="18" charset="0"/>
                          </a:rPr>
                          <m:t>𝐵</m:t>
                        </m:r>
                      </m:sub>
                    </m:sSub>
                  </m:oMath>
                </a14:m>
                <a:endParaRPr lang="en-US" dirty="0">
                  <a:solidFill>
                    <a:srgbClr val="242021"/>
                  </a:solidFill>
                  <a:ea typeface="Cambria Math" panose="02040503050406030204" pitchFamily="18" charset="0"/>
                </a:endParaRPr>
              </a:p>
              <a:p>
                <a:pPr lvl="1">
                  <a:buFont typeface="Wingdings" panose="05000000000000000000" pitchFamily="2" charset="2"/>
                  <a:buChar char="q"/>
                </a:pPr>
                <a:endParaRPr lang="en-US" dirty="0"/>
              </a:p>
              <a:p>
                <a:pPr>
                  <a:buFont typeface="Wingdings" panose="05000000000000000000" pitchFamily="2" charset="2"/>
                  <a:buChar char="q"/>
                </a:pPr>
                <a:endParaRPr lang="en-US" dirty="0"/>
              </a:p>
            </p:txBody>
          </p:sp>
        </mc:Choice>
        <mc:Fallback xmlns="">
          <p:sp>
            <p:nvSpPr>
              <p:cNvPr id="3" name="Content Placeholder 2">
                <a:extLst>
                  <a:ext uri="{FF2B5EF4-FFF2-40B4-BE49-F238E27FC236}">
                    <a16:creationId xmlns:a16="http://schemas.microsoft.com/office/drawing/2014/main" id="{742BBDE5-BC9A-4642-8A19-91A609E40085}"/>
                  </a:ext>
                </a:extLst>
              </p:cNvPr>
              <p:cNvSpPr>
                <a:spLocks noGrp="1" noRot="1" noChangeAspect="1" noMove="1" noResize="1" noEditPoints="1" noAdjustHandles="1" noChangeArrowheads="1" noChangeShapeType="1" noTextEdit="1"/>
              </p:cNvSpPr>
              <p:nvPr>
                <p:ph idx="1"/>
              </p:nvPr>
            </p:nvSpPr>
            <p:spPr>
              <a:xfrm>
                <a:off x="1097280" y="1845734"/>
                <a:ext cx="4998720" cy="4023360"/>
              </a:xfrm>
              <a:blipFill>
                <a:blip r:embed="rId2"/>
                <a:stretch>
                  <a:fillRect l="-2927" t="-1667"/>
                </a:stretch>
              </a:blipFill>
            </p:spPr>
            <p:txBody>
              <a:bodyPr/>
              <a:lstStyle/>
              <a:p>
                <a:r>
                  <a:rPr lang="en-US">
                    <a:noFill/>
                  </a:rPr>
                  <a:t> </a:t>
                </a:r>
              </a:p>
            </p:txBody>
          </p:sp>
        </mc:Fallback>
      </mc:AlternateContent>
      <p:sp>
        <p:nvSpPr>
          <p:cNvPr id="4" name="Slide Number Placeholder 3">
            <a:extLst>
              <a:ext uri="{FF2B5EF4-FFF2-40B4-BE49-F238E27FC236}">
                <a16:creationId xmlns:a16="http://schemas.microsoft.com/office/drawing/2014/main" id="{3A917913-971D-4098-A51E-9085B9CF7034}"/>
              </a:ext>
            </a:extLst>
          </p:cNvPr>
          <p:cNvSpPr>
            <a:spLocks noGrp="1"/>
          </p:cNvSpPr>
          <p:nvPr>
            <p:ph type="sldNum" sz="quarter" idx="12"/>
          </p:nvPr>
        </p:nvSpPr>
        <p:spPr/>
        <p:txBody>
          <a:bodyPr/>
          <a:lstStyle/>
          <a:p>
            <a:fld id="{DC4CAFB8-3EF6-4FAF-BDFA-EA2F8D8834E4}" type="slidenum">
              <a:rPr lang="en-US" smtClean="0"/>
              <a:t>25</a:t>
            </a:fld>
            <a:endParaRPr lang="en-US"/>
          </a:p>
        </p:txBody>
      </p:sp>
      <p:pic>
        <p:nvPicPr>
          <p:cNvPr id="6" name="Picture 5">
            <a:extLst>
              <a:ext uri="{FF2B5EF4-FFF2-40B4-BE49-F238E27FC236}">
                <a16:creationId xmlns:a16="http://schemas.microsoft.com/office/drawing/2014/main" id="{98B7F740-D534-4741-A004-685B9863C132}"/>
              </a:ext>
            </a:extLst>
          </p:cNvPr>
          <p:cNvPicPr>
            <a:picLocks noChangeAspect="1"/>
          </p:cNvPicPr>
          <p:nvPr/>
        </p:nvPicPr>
        <p:blipFill>
          <a:blip r:embed="rId3"/>
          <a:stretch>
            <a:fillRect/>
          </a:stretch>
        </p:blipFill>
        <p:spPr>
          <a:xfrm>
            <a:off x="341738" y="4678325"/>
            <a:ext cx="11508524" cy="1602564"/>
          </a:xfrm>
          <a:prstGeom prst="rect">
            <a:avLst/>
          </a:prstGeom>
        </p:spPr>
      </p:pic>
      <p:pic>
        <p:nvPicPr>
          <p:cNvPr id="8" name="Picture 7">
            <a:extLst>
              <a:ext uri="{FF2B5EF4-FFF2-40B4-BE49-F238E27FC236}">
                <a16:creationId xmlns:a16="http://schemas.microsoft.com/office/drawing/2014/main" id="{B0019225-ECE7-4A2F-BB5F-61E14F5C8346}"/>
              </a:ext>
            </a:extLst>
          </p:cNvPr>
          <p:cNvPicPr>
            <a:picLocks noChangeAspect="1"/>
          </p:cNvPicPr>
          <p:nvPr/>
        </p:nvPicPr>
        <p:blipFill>
          <a:blip r:embed="rId4"/>
          <a:stretch>
            <a:fillRect/>
          </a:stretch>
        </p:blipFill>
        <p:spPr>
          <a:xfrm>
            <a:off x="6415629" y="1845734"/>
            <a:ext cx="4740051" cy="1577477"/>
          </a:xfrm>
          <a:prstGeom prst="rect">
            <a:avLst/>
          </a:prstGeom>
        </p:spPr>
      </p:pic>
      <p:sp>
        <p:nvSpPr>
          <p:cNvPr id="7" name="TextBox 6">
            <a:extLst>
              <a:ext uri="{FF2B5EF4-FFF2-40B4-BE49-F238E27FC236}">
                <a16:creationId xmlns:a16="http://schemas.microsoft.com/office/drawing/2014/main" id="{3A2F417C-B2C5-495F-9337-1DA93143A7D3}"/>
              </a:ext>
            </a:extLst>
          </p:cNvPr>
          <p:cNvSpPr txBox="1"/>
          <p:nvPr/>
        </p:nvSpPr>
        <p:spPr>
          <a:xfrm>
            <a:off x="189571" y="6447755"/>
            <a:ext cx="3579542" cy="369332"/>
          </a:xfrm>
          <a:prstGeom prst="rect">
            <a:avLst/>
          </a:prstGeom>
          <a:noFill/>
        </p:spPr>
        <p:txBody>
          <a:bodyPr wrap="square" rtlCol="0">
            <a:spAutoFit/>
          </a:bodyPr>
          <a:lstStyle/>
          <a:p>
            <a:r>
              <a:rPr lang="en-US" dirty="0">
                <a:solidFill>
                  <a:schemeClr val="bg1"/>
                </a:solidFill>
              </a:rPr>
              <a:t>Mohammad Mahdi Manafi</a:t>
            </a:r>
          </a:p>
        </p:txBody>
      </p:sp>
    </p:spTree>
    <p:extLst>
      <p:ext uri="{BB962C8B-B14F-4D97-AF65-F5344CB8AC3E}">
        <p14:creationId xmlns:p14="http://schemas.microsoft.com/office/powerpoint/2010/main" val="1338962852"/>
      </p:ext>
    </p:extLst>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02401B7-3728-4F09-932F-1230C444E492}"/>
              </a:ext>
            </a:extLst>
          </p:cNvPr>
          <p:cNvSpPr>
            <a:spLocks noGrp="1"/>
          </p:cNvSpPr>
          <p:nvPr>
            <p:ph type="title"/>
          </p:nvPr>
        </p:nvSpPr>
        <p:spPr/>
        <p:txBody>
          <a:bodyPr/>
          <a:lstStyle/>
          <a:p>
            <a:r>
              <a:rPr lang="en-US" dirty="0"/>
              <a:t>Cloud subsystem analysis</a:t>
            </a:r>
          </a:p>
        </p:txBody>
      </p:sp>
      <mc:AlternateContent xmlns:mc="http://schemas.openxmlformats.org/markup-compatibility/2006" xmlns:a14="http://schemas.microsoft.com/office/drawing/2010/main">
        <mc:Choice Requires="a14">
          <p:sp>
            <p:nvSpPr>
              <p:cNvPr id="3" name="Content Placeholder 2">
                <a:extLst>
                  <a:ext uri="{FF2B5EF4-FFF2-40B4-BE49-F238E27FC236}">
                    <a16:creationId xmlns:a16="http://schemas.microsoft.com/office/drawing/2014/main" id="{D447D9B0-FD61-4400-A76C-555F2677BE9E}"/>
                  </a:ext>
                </a:extLst>
              </p:cNvPr>
              <p:cNvSpPr>
                <a:spLocks noGrp="1"/>
              </p:cNvSpPr>
              <p:nvPr>
                <p:ph idx="1"/>
              </p:nvPr>
            </p:nvSpPr>
            <p:spPr>
              <a:xfrm>
                <a:off x="1097280" y="1845734"/>
                <a:ext cx="5090869" cy="4023360"/>
              </a:xfrm>
            </p:spPr>
            <p:txBody>
              <a:bodyPr/>
              <a:lstStyle/>
              <a:p>
                <a:pPr>
                  <a:buFont typeface="Wingdings" panose="05000000000000000000" pitchFamily="2" charset="2"/>
                  <a:buChar char="q"/>
                </a:pPr>
                <a14:m>
                  <m:oMath xmlns:m="http://schemas.openxmlformats.org/officeDocument/2006/math">
                    <m:sSub>
                      <m:sSubPr>
                        <m:ctrlPr>
                          <a:rPr lang="en-US" i="1" smtClean="0">
                            <a:latin typeface="Cambria Math" panose="02040503050406030204" pitchFamily="18" charset="0"/>
                          </a:rPr>
                        </m:ctrlPr>
                      </m:sSubPr>
                      <m:e>
                        <m:r>
                          <a:rPr lang="en-US" b="0" i="1" smtClean="0">
                            <a:latin typeface="Cambria Math" panose="02040503050406030204" pitchFamily="18" charset="0"/>
                          </a:rPr>
                          <m:t>𝑝</m:t>
                        </m:r>
                      </m:e>
                      <m:sub>
                        <m:r>
                          <a:rPr lang="en-US" b="0" i="1" smtClean="0">
                            <a:latin typeface="Cambria Math" panose="02040503050406030204" pitchFamily="18" charset="0"/>
                          </a:rPr>
                          <m:t>𝑚</m:t>
                        </m:r>
                      </m:sub>
                    </m:sSub>
                  </m:oMath>
                </a14:m>
                <a:r>
                  <a:rPr lang="en-US" dirty="0"/>
                  <a:t>:state probability </a:t>
                </a:r>
              </a:p>
              <a:p>
                <a:pPr lvl="1">
                  <a:buFont typeface="Wingdings" panose="05000000000000000000" pitchFamily="2" charset="2"/>
                  <a:buChar char="q"/>
                </a:pPr>
                <a14:m>
                  <m:oMath xmlns:m="http://schemas.openxmlformats.org/officeDocument/2006/math">
                    <m:r>
                      <a:rPr lang="en-US" b="0" i="1" smtClean="0">
                        <a:latin typeface="Cambria Math" panose="02040503050406030204" pitchFamily="18" charset="0"/>
                      </a:rPr>
                      <m:t>1≤</m:t>
                    </m:r>
                    <m:r>
                      <a:rPr lang="en-US" b="0" i="1" smtClean="0">
                        <a:latin typeface="Cambria Math" panose="02040503050406030204" pitchFamily="18" charset="0"/>
                      </a:rPr>
                      <m:t>𝑚</m:t>
                    </m:r>
                    <m:r>
                      <a:rPr lang="en-US" b="0" i="1" smtClean="0">
                        <a:latin typeface="Cambria Math" panose="02040503050406030204" pitchFamily="18" charset="0"/>
                      </a:rPr>
                      <m:t>≤</m:t>
                    </m:r>
                    <m:r>
                      <a:rPr lang="en-US" b="0" i="1" smtClean="0">
                        <a:latin typeface="Cambria Math" panose="02040503050406030204" pitchFamily="18" charset="0"/>
                      </a:rPr>
                      <m:t>𝑆</m:t>
                    </m:r>
                  </m:oMath>
                </a14:m>
                <a:r>
                  <a:rPr lang="en-US" dirty="0"/>
                  <a:t> equation (21)</a:t>
                </a:r>
              </a:p>
              <a:p>
                <a:pPr lvl="1">
                  <a:buFont typeface="Wingdings" panose="05000000000000000000" pitchFamily="2" charset="2"/>
                  <a:buChar char="q"/>
                </a:pPr>
                <a14:m>
                  <m:oMath xmlns:m="http://schemas.openxmlformats.org/officeDocument/2006/math">
                    <m:r>
                      <a:rPr lang="en-US" b="0" i="1" smtClean="0">
                        <a:latin typeface="Cambria Math" panose="02040503050406030204" pitchFamily="18" charset="0"/>
                      </a:rPr>
                      <m:t>𝑚</m:t>
                    </m:r>
                    <m:r>
                      <a:rPr lang="en-US" b="0" i="1" smtClean="0">
                        <a:latin typeface="Cambria Math" panose="02040503050406030204" pitchFamily="18" charset="0"/>
                      </a:rPr>
                      <m:t>≥</m:t>
                    </m:r>
                    <m:r>
                      <a:rPr lang="en-US" b="0" i="1" smtClean="0">
                        <a:latin typeface="Cambria Math" panose="02040503050406030204" pitchFamily="18" charset="0"/>
                      </a:rPr>
                      <m:t>𝑆</m:t>
                    </m:r>
                  </m:oMath>
                </a14:m>
                <a:r>
                  <a:rPr lang="en-US" dirty="0"/>
                  <a:t> equation (22)</a:t>
                </a:r>
              </a:p>
              <a:p>
                <a:pPr>
                  <a:buFont typeface="Wingdings" panose="05000000000000000000" pitchFamily="2" charset="2"/>
                  <a:buChar char="q"/>
                </a:pPr>
                <a14:m>
                  <m:oMath xmlns:m="http://schemas.openxmlformats.org/officeDocument/2006/math">
                    <m:sSub>
                      <m:sSubPr>
                        <m:ctrlPr>
                          <a:rPr lang="en-US" i="1" smtClean="0">
                            <a:latin typeface="Cambria Math" panose="02040503050406030204" pitchFamily="18" charset="0"/>
                          </a:rPr>
                        </m:ctrlPr>
                      </m:sSubPr>
                      <m:e>
                        <m:r>
                          <a:rPr lang="en-US" b="0" i="1" smtClean="0">
                            <a:latin typeface="Cambria Math" panose="02040503050406030204" pitchFamily="18" charset="0"/>
                          </a:rPr>
                          <m:t>𝑝</m:t>
                        </m:r>
                      </m:e>
                      <m:sub>
                        <m:r>
                          <a:rPr lang="en-US" b="0" i="1" smtClean="0">
                            <a:latin typeface="Cambria Math" panose="02040503050406030204" pitchFamily="18" charset="0"/>
                          </a:rPr>
                          <m:t>0,</m:t>
                        </m:r>
                        <m:r>
                          <a:rPr lang="en-US" b="0" i="1" smtClean="0">
                            <a:latin typeface="Cambria Math" panose="02040503050406030204" pitchFamily="18" charset="0"/>
                          </a:rPr>
                          <m:t>𝑐</m:t>
                        </m:r>
                      </m:sub>
                    </m:sSub>
                  </m:oMath>
                </a14:m>
                <a:r>
                  <a:rPr lang="en-US" dirty="0"/>
                  <a:t>: having no task in cloud</a:t>
                </a:r>
              </a:p>
              <a:p>
                <a:pPr lvl="1">
                  <a:buFont typeface="Wingdings" panose="05000000000000000000" pitchFamily="2" charset="2"/>
                  <a:buChar char="q"/>
                </a:pPr>
                <a:r>
                  <a:rPr lang="en-US" dirty="0"/>
                  <a:t>Calculate it with (23)</a:t>
                </a:r>
              </a:p>
              <a:p>
                <a:pPr lvl="1">
                  <a:buFont typeface="Wingdings" panose="05000000000000000000" pitchFamily="2" charset="2"/>
                  <a:buChar char="q"/>
                </a:pPr>
                <a:r>
                  <a:rPr lang="en-US" dirty="0"/>
                  <a:t>Do not forget normalization condition</a:t>
                </a:r>
              </a:p>
              <a:p>
                <a:pPr>
                  <a:buFont typeface="Wingdings" panose="05000000000000000000" pitchFamily="2" charset="2"/>
                  <a:buChar char="q"/>
                </a:pPr>
                <a:endParaRPr lang="en-US" dirty="0"/>
              </a:p>
            </p:txBody>
          </p:sp>
        </mc:Choice>
        <mc:Fallback xmlns="">
          <p:sp>
            <p:nvSpPr>
              <p:cNvPr id="3" name="Content Placeholder 2">
                <a:extLst>
                  <a:ext uri="{FF2B5EF4-FFF2-40B4-BE49-F238E27FC236}">
                    <a16:creationId xmlns:a16="http://schemas.microsoft.com/office/drawing/2014/main" id="{D447D9B0-FD61-4400-A76C-555F2677BE9E}"/>
                  </a:ext>
                </a:extLst>
              </p:cNvPr>
              <p:cNvSpPr>
                <a:spLocks noGrp="1" noRot="1" noChangeAspect="1" noMove="1" noResize="1" noEditPoints="1" noAdjustHandles="1" noChangeArrowheads="1" noChangeShapeType="1" noTextEdit="1"/>
              </p:cNvSpPr>
              <p:nvPr>
                <p:ph idx="1"/>
              </p:nvPr>
            </p:nvSpPr>
            <p:spPr>
              <a:xfrm>
                <a:off x="1097280" y="1845734"/>
                <a:ext cx="5090869" cy="4023360"/>
              </a:xfrm>
              <a:blipFill>
                <a:blip r:embed="rId2"/>
                <a:stretch>
                  <a:fillRect l="-2874" t="-1667"/>
                </a:stretch>
              </a:blipFill>
            </p:spPr>
            <p:txBody>
              <a:bodyPr/>
              <a:lstStyle/>
              <a:p>
                <a:r>
                  <a:rPr lang="en-US">
                    <a:noFill/>
                  </a:rPr>
                  <a:t> </a:t>
                </a:r>
              </a:p>
            </p:txBody>
          </p:sp>
        </mc:Fallback>
      </mc:AlternateContent>
      <p:sp>
        <p:nvSpPr>
          <p:cNvPr id="4" name="Slide Number Placeholder 3">
            <a:extLst>
              <a:ext uri="{FF2B5EF4-FFF2-40B4-BE49-F238E27FC236}">
                <a16:creationId xmlns:a16="http://schemas.microsoft.com/office/drawing/2014/main" id="{9253A690-A7FC-45A1-BC7E-E02BA7D93154}"/>
              </a:ext>
            </a:extLst>
          </p:cNvPr>
          <p:cNvSpPr>
            <a:spLocks noGrp="1"/>
          </p:cNvSpPr>
          <p:nvPr>
            <p:ph type="sldNum" sz="quarter" idx="12"/>
          </p:nvPr>
        </p:nvSpPr>
        <p:spPr/>
        <p:txBody>
          <a:bodyPr/>
          <a:lstStyle/>
          <a:p>
            <a:fld id="{DC4CAFB8-3EF6-4FAF-BDFA-EA2F8D8834E4}" type="slidenum">
              <a:rPr lang="en-US" smtClean="0"/>
              <a:t>26</a:t>
            </a:fld>
            <a:endParaRPr lang="en-US"/>
          </a:p>
        </p:txBody>
      </p:sp>
      <p:pic>
        <p:nvPicPr>
          <p:cNvPr id="6" name="Picture 5">
            <a:extLst>
              <a:ext uri="{FF2B5EF4-FFF2-40B4-BE49-F238E27FC236}">
                <a16:creationId xmlns:a16="http://schemas.microsoft.com/office/drawing/2014/main" id="{B1E8FB44-885E-4F6F-99D1-A31A82FC9408}"/>
              </a:ext>
            </a:extLst>
          </p:cNvPr>
          <p:cNvPicPr>
            <a:picLocks noChangeAspect="1"/>
          </p:cNvPicPr>
          <p:nvPr/>
        </p:nvPicPr>
        <p:blipFill>
          <a:blip r:embed="rId3"/>
          <a:stretch>
            <a:fillRect/>
          </a:stretch>
        </p:blipFill>
        <p:spPr>
          <a:xfrm>
            <a:off x="6667597" y="1845734"/>
            <a:ext cx="4544886" cy="706080"/>
          </a:xfrm>
          <a:prstGeom prst="rect">
            <a:avLst/>
          </a:prstGeom>
        </p:spPr>
      </p:pic>
      <p:pic>
        <p:nvPicPr>
          <p:cNvPr id="8" name="Picture 7">
            <a:extLst>
              <a:ext uri="{FF2B5EF4-FFF2-40B4-BE49-F238E27FC236}">
                <a16:creationId xmlns:a16="http://schemas.microsoft.com/office/drawing/2014/main" id="{D1674512-245B-4C3F-9676-B888E17F791B}"/>
              </a:ext>
            </a:extLst>
          </p:cNvPr>
          <p:cNvPicPr>
            <a:picLocks noChangeAspect="1"/>
          </p:cNvPicPr>
          <p:nvPr/>
        </p:nvPicPr>
        <p:blipFill rotWithShape="1">
          <a:blip r:embed="rId4"/>
          <a:srcRect r="38558"/>
          <a:stretch/>
        </p:blipFill>
        <p:spPr>
          <a:xfrm>
            <a:off x="5912922" y="3078449"/>
            <a:ext cx="5290957" cy="701101"/>
          </a:xfrm>
          <a:prstGeom prst="rect">
            <a:avLst/>
          </a:prstGeom>
        </p:spPr>
      </p:pic>
      <p:sp>
        <p:nvSpPr>
          <p:cNvPr id="9" name="TextBox 8">
            <a:extLst>
              <a:ext uri="{FF2B5EF4-FFF2-40B4-BE49-F238E27FC236}">
                <a16:creationId xmlns:a16="http://schemas.microsoft.com/office/drawing/2014/main" id="{FE6D2512-97EF-40BC-BDDD-4EE13FA8922C}"/>
              </a:ext>
            </a:extLst>
          </p:cNvPr>
          <p:cNvSpPr txBox="1"/>
          <p:nvPr/>
        </p:nvSpPr>
        <p:spPr>
          <a:xfrm flipH="1">
            <a:off x="10716198" y="3078449"/>
            <a:ext cx="757044" cy="369332"/>
          </a:xfrm>
          <a:prstGeom prst="rect">
            <a:avLst/>
          </a:prstGeom>
          <a:noFill/>
        </p:spPr>
        <p:txBody>
          <a:bodyPr wrap="square" rtlCol="0">
            <a:spAutoFit/>
          </a:bodyPr>
          <a:lstStyle/>
          <a:p>
            <a:r>
              <a:rPr lang="en-US" dirty="0"/>
              <a:t>(22)</a:t>
            </a:r>
          </a:p>
        </p:txBody>
      </p:sp>
      <p:pic>
        <p:nvPicPr>
          <p:cNvPr id="11" name="Picture 10">
            <a:extLst>
              <a:ext uri="{FF2B5EF4-FFF2-40B4-BE49-F238E27FC236}">
                <a16:creationId xmlns:a16="http://schemas.microsoft.com/office/drawing/2014/main" id="{101E2656-D01E-43CD-9329-89530AC2EF7E}"/>
              </a:ext>
            </a:extLst>
          </p:cNvPr>
          <p:cNvPicPr>
            <a:picLocks noChangeAspect="1"/>
          </p:cNvPicPr>
          <p:nvPr/>
        </p:nvPicPr>
        <p:blipFill>
          <a:blip r:embed="rId5"/>
          <a:stretch>
            <a:fillRect/>
          </a:stretch>
        </p:blipFill>
        <p:spPr>
          <a:xfrm>
            <a:off x="3357239" y="4405882"/>
            <a:ext cx="8116003" cy="807790"/>
          </a:xfrm>
          <a:prstGeom prst="rect">
            <a:avLst/>
          </a:prstGeom>
        </p:spPr>
      </p:pic>
      <p:sp>
        <p:nvSpPr>
          <p:cNvPr id="12" name="TextBox 11">
            <a:extLst>
              <a:ext uri="{FF2B5EF4-FFF2-40B4-BE49-F238E27FC236}">
                <a16:creationId xmlns:a16="http://schemas.microsoft.com/office/drawing/2014/main" id="{651D230D-F58F-42D9-80C8-EE6FD8227DA1}"/>
              </a:ext>
            </a:extLst>
          </p:cNvPr>
          <p:cNvSpPr txBox="1"/>
          <p:nvPr/>
        </p:nvSpPr>
        <p:spPr>
          <a:xfrm flipH="1">
            <a:off x="10765464" y="4112842"/>
            <a:ext cx="780432" cy="369332"/>
          </a:xfrm>
          <a:prstGeom prst="rect">
            <a:avLst/>
          </a:prstGeom>
          <a:noFill/>
        </p:spPr>
        <p:txBody>
          <a:bodyPr wrap="square" rtlCol="0">
            <a:spAutoFit/>
          </a:bodyPr>
          <a:lstStyle/>
          <a:p>
            <a:r>
              <a:rPr lang="en-US" dirty="0"/>
              <a:t>(23)</a:t>
            </a:r>
          </a:p>
        </p:txBody>
      </p:sp>
      <p:sp>
        <p:nvSpPr>
          <p:cNvPr id="10" name="TextBox 9">
            <a:extLst>
              <a:ext uri="{FF2B5EF4-FFF2-40B4-BE49-F238E27FC236}">
                <a16:creationId xmlns:a16="http://schemas.microsoft.com/office/drawing/2014/main" id="{BD41340F-CE1D-4C2A-A27D-736BEF24E39D}"/>
              </a:ext>
            </a:extLst>
          </p:cNvPr>
          <p:cNvSpPr txBox="1"/>
          <p:nvPr/>
        </p:nvSpPr>
        <p:spPr>
          <a:xfrm>
            <a:off x="189571" y="6447755"/>
            <a:ext cx="3579542" cy="369332"/>
          </a:xfrm>
          <a:prstGeom prst="rect">
            <a:avLst/>
          </a:prstGeom>
          <a:noFill/>
        </p:spPr>
        <p:txBody>
          <a:bodyPr wrap="square" rtlCol="0">
            <a:spAutoFit/>
          </a:bodyPr>
          <a:lstStyle/>
          <a:p>
            <a:r>
              <a:rPr lang="en-US" dirty="0">
                <a:solidFill>
                  <a:schemeClr val="bg1"/>
                </a:solidFill>
              </a:rPr>
              <a:t>Mohammad Mahdi Manafi</a:t>
            </a:r>
          </a:p>
        </p:txBody>
      </p:sp>
    </p:spTree>
    <p:extLst>
      <p:ext uri="{BB962C8B-B14F-4D97-AF65-F5344CB8AC3E}">
        <p14:creationId xmlns:p14="http://schemas.microsoft.com/office/powerpoint/2010/main" val="4046322560"/>
      </p:ext>
    </p:extLst>
  </p:cSld>
  <p:clrMapOvr>
    <a:masterClrMapping/>
  </p:clrMapOvr>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FAB3657-FA8C-4ABE-B357-9BAF098976B6}"/>
              </a:ext>
            </a:extLst>
          </p:cNvPr>
          <p:cNvSpPr>
            <a:spLocks noGrp="1"/>
          </p:cNvSpPr>
          <p:nvPr>
            <p:ph type="title"/>
          </p:nvPr>
        </p:nvSpPr>
        <p:spPr/>
        <p:txBody>
          <a:bodyPr/>
          <a:lstStyle/>
          <a:p>
            <a:r>
              <a:rPr lang="en-US" dirty="0"/>
              <a:t>Cloud subsystem analysis</a:t>
            </a:r>
          </a:p>
        </p:txBody>
      </p:sp>
      <mc:AlternateContent xmlns:mc="http://schemas.openxmlformats.org/markup-compatibility/2006" xmlns:a14="http://schemas.microsoft.com/office/drawing/2010/main">
        <mc:Choice Requires="a14">
          <p:sp>
            <p:nvSpPr>
              <p:cNvPr id="3" name="Content Placeholder 2">
                <a:extLst>
                  <a:ext uri="{FF2B5EF4-FFF2-40B4-BE49-F238E27FC236}">
                    <a16:creationId xmlns:a16="http://schemas.microsoft.com/office/drawing/2014/main" id="{94D4BFE9-AB9E-4831-875F-84A8C6655086}"/>
                  </a:ext>
                </a:extLst>
              </p:cNvPr>
              <p:cNvSpPr>
                <a:spLocks noGrp="1"/>
              </p:cNvSpPr>
              <p:nvPr>
                <p:ph idx="1"/>
              </p:nvPr>
            </p:nvSpPr>
            <p:spPr>
              <a:xfrm>
                <a:off x="1097280" y="1845734"/>
                <a:ext cx="4998720" cy="4023360"/>
              </a:xfrm>
            </p:spPr>
            <p:txBody>
              <a:bodyPr/>
              <a:lstStyle/>
              <a:p>
                <a:pPr>
                  <a:buFont typeface="Wingdings" panose="05000000000000000000" pitchFamily="2" charset="2"/>
                  <a:buChar char="q"/>
                </a:pPr>
                <a14:m>
                  <m:oMath xmlns:m="http://schemas.openxmlformats.org/officeDocument/2006/math">
                    <m:sSub>
                      <m:sSubPr>
                        <m:ctrlPr>
                          <a:rPr lang="en-US" i="1" smtClean="0">
                            <a:latin typeface="Cambria Math" panose="02040503050406030204" pitchFamily="18" charset="0"/>
                          </a:rPr>
                        </m:ctrlPr>
                      </m:sSubPr>
                      <m:e>
                        <m:r>
                          <a:rPr lang="en-US" b="0" i="1" smtClean="0">
                            <a:latin typeface="Cambria Math" panose="02040503050406030204" pitchFamily="18" charset="0"/>
                          </a:rPr>
                          <m:t>𝑇</m:t>
                        </m:r>
                      </m:e>
                      <m:sub>
                        <m:r>
                          <a:rPr lang="en-US" b="0" i="1" smtClean="0">
                            <a:latin typeface="Cambria Math" panose="02040503050406030204" pitchFamily="18" charset="0"/>
                          </a:rPr>
                          <m:t>𝑝</m:t>
                        </m:r>
                        <m:r>
                          <a:rPr lang="en-US" b="0" i="1" smtClean="0">
                            <a:latin typeface="Cambria Math" panose="02040503050406030204" pitchFamily="18" charset="0"/>
                          </a:rPr>
                          <m:t>,</m:t>
                        </m:r>
                        <m:r>
                          <a:rPr lang="en-US" b="0" i="1" smtClean="0">
                            <a:latin typeface="Cambria Math" panose="02040503050406030204" pitchFamily="18" charset="0"/>
                          </a:rPr>
                          <m:t>𝐶</m:t>
                        </m:r>
                      </m:sub>
                    </m:sSub>
                  </m:oMath>
                </a14:m>
                <a:r>
                  <a:rPr lang="en-US" dirty="0"/>
                  <a:t>: mean service time for each task in cloud</a:t>
                </a:r>
              </a:p>
              <a:p>
                <a:pPr>
                  <a:buFont typeface="Wingdings" panose="05000000000000000000" pitchFamily="2" charset="2"/>
                  <a:buChar char="q"/>
                </a:pPr>
                <a:r>
                  <a:rPr lang="en-US" dirty="0"/>
                  <a:t>Reneging probability</a:t>
                </a:r>
              </a:p>
              <a:p>
                <a:pPr lvl="1">
                  <a:buFont typeface="Wingdings" panose="05000000000000000000" pitchFamily="2" charset="2"/>
                  <a:buChar char="q"/>
                </a:pPr>
                <a:r>
                  <a:rPr lang="en-US" dirty="0"/>
                  <a:t>Probability a task does not complete due expiration of it’s deadline </a:t>
                </a:r>
                <a14:m>
                  <m:oMath xmlns:m="http://schemas.openxmlformats.org/officeDocument/2006/math">
                    <m:sSub>
                      <m:sSubPr>
                        <m:ctrlPr>
                          <a:rPr lang="en-US" i="1" smtClean="0">
                            <a:latin typeface="Cambria Math" panose="02040503050406030204" pitchFamily="18" charset="0"/>
                          </a:rPr>
                        </m:ctrlPr>
                      </m:sSubPr>
                      <m:e>
                        <m:r>
                          <a:rPr lang="en-US" b="0" i="1" smtClean="0">
                            <a:latin typeface="Cambria Math" panose="02040503050406030204" pitchFamily="18" charset="0"/>
                          </a:rPr>
                          <m:t>𝑃</m:t>
                        </m:r>
                      </m:e>
                      <m:sub>
                        <m:r>
                          <a:rPr lang="en-US" b="0" i="1" smtClean="0">
                            <a:latin typeface="Cambria Math" panose="02040503050406030204" pitchFamily="18" charset="0"/>
                          </a:rPr>
                          <m:t>𝐷</m:t>
                        </m:r>
                      </m:sub>
                    </m:sSub>
                  </m:oMath>
                </a14:m>
                <a:endParaRPr lang="en-US" dirty="0"/>
              </a:p>
              <a:p>
                <a:pPr lvl="1">
                  <a:buFont typeface="Wingdings" panose="05000000000000000000" pitchFamily="2" charset="2"/>
                  <a:buChar char="q"/>
                </a:pPr>
                <a:r>
                  <a:rPr lang="en-US" dirty="0"/>
                  <a:t>Using (25) to calculate it</a:t>
                </a:r>
              </a:p>
              <a:p>
                <a:pPr>
                  <a:buFont typeface="Wingdings" panose="05000000000000000000" pitchFamily="2" charset="2"/>
                  <a:buChar char="q"/>
                </a:pPr>
                <a:endParaRPr lang="en-US" dirty="0"/>
              </a:p>
            </p:txBody>
          </p:sp>
        </mc:Choice>
        <mc:Fallback xmlns="">
          <p:sp>
            <p:nvSpPr>
              <p:cNvPr id="3" name="Content Placeholder 2">
                <a:extLst>
                  <a:ext uri="{FF2B5EF4-FFF2-40B4-BE49-F238E27FC236}">
                    <a16:creationId xmlns:a16="http://schemas.microsoft.com/office/drawing/2014/main" id="{94D4BFE9-AB9E-4831-875F-84A8C6655086}"/>
                  </a:ext>
                </a:extLst>
              </p:cNvPr>
              <p:cNvSpPr>
                <a:spLocks noGrp="1" noRot="1" noChangeAspect="1" noMove="1" noResize="1" noEditPoints="1" noAdjustHandles="1" noChangeArrowheads="1" noChangeShapeType="1" noTextEdit="1"/>
              </p:cNvSpPr>
              <p:nvPr>
                <p:ph idx="1"/>
              </p:nvPr>
            </p:nvSpPr>
            <p:spPr>
              <a:xfrm>
                <a:off x="1097280" y="1845734"/>
                <a:ext cx="4998720" cy="4023360"/>
              </a:xfrm>
              <a:blipFill>
                <a:blip r:embed="rId2"/>
                <a:stretch>
                  <a:fillRect l="-2927" t="-1364" r="-1585"/>
                </a:stretch>
              </a:blipFill>
            </p:spPr>
            <p:txBody>
              <a:bodyPr/>
              <a:lstStyle/>
              <a:p>
                <a:r>
                  <a:rPr lang="en-US">
                    <a:noFill/>
                  </a:rPr>
                  <a:t> </a:t>
                </a:r>
              </a:p>
            </p:txBody>
          </p:sp>
        </mc:Fallback>
      </mc:AlternateContent>
      <p:sp>
        <p:nvSpPr>
          <p:cNvPr id="4" name="Slide Number Placeholder 3">
            <a:extLst>
              <a:ext uri="{FF2B5EF4-FFF2-40B4-BE49-F238E27FC236}">
                <a16:creationId xmlns:a16="http://schemas.microsoft.com/office/drawing/2014/main" id="{8A692032-D5EC-4A3A-80B0-4ECA0832AA9C}"/>
              </a:ext>
            </a:extLst>
          </p:cNvPr>
          <p:cNvSpPr>
            <a:spLocks noGrp="1"/>
          </p:cNvSpPr>
          <p:nvPr>
            <p:ph type="sldNum" sz="quarter" idx="12"/>
          </p:nvPr>
        </p:nvSpPr>
        <p:spPr/>
        <p:txBody>
          <a:bodyPr/>
          <a:lstStyle/>
          <a:p>
            <a:fld id="{DC4CAFB8-3EF6-4FAF-BDFA-EA2F8D8834E4}" type="slidenum">
              <a:rPr lang="en-US" smtClean="0"/>
              <a:t>27</a:t>
            </a:fld>
            <a:endParaRPr lang="en-US"/>
          </a:p>
        </p:txBody>
      </p:sp>
      <p:pic>
        <p:nvPicPr>
          <p:cNvPr id="6" name="Picture 5">
            <a:extLst>
              <a:ext uri="{FF2B5EF4-FFF2-40B4-BE49-F238E27FC236}">
                <a16:creationId xmlns:a16="http://schemas.microsoft.com/office/drawing/2014/main" id="{286BB4FE-1833-4B27-9BC4-23A91B1CF260}"/>
              </a:ext>
            </a:extLst>
          </p:cNvPr>
          <p:cNvPicPr>
            <a:picLocks noChangeAspect="1"/>
          </p:cNvPicPr>
          <p:nvPr/>
        </p:nvPicPr>
        <p:blipFill>
          <a:blip r:embed="rId3"/>
          <a:stretch>
            <a:fillRect/>
          </a:stretch>
        </p:blipFill>
        <p:spPr>
          <a:xfrm>
            <a:off x="8301974" y="1909742"/>
            <a:ext cx="2336415" cy="702750"/>
          </a:xfrm>
          <a:prstGeom prst="rect">
            <a:avLst/>
          </a:prstGeom>
        </p:spPr>
      </p:pic>
      <p:sp>
        <p:nvSpPr>
          <p:cNvPr id="7" name="TextBox 6">
            <a:extLst>
              <a:ext uri="{FF2B5EF4-FFF2-40B4-BE49-F238E27FC236}">
                <a16:creationId xmlns:a16="http://schemas.microsoft.com/office/drawing/2014/main" id="{E5C12D6C-EEA9-43E6-AA45-295B8654BD57}"/>
              </a:ext>
            </a:extLst>
          </p:cNvPr>
          <p:cNvSpPr txBox="1"/>
          <p:nvPr/>
        </p:nvSpPr>
        <p:spPr>
          <a:xfrm flipH="1">
            <a:off x="10768299" y="2076451"/>
            <a:ext cx="652841" cy="369332"/>
          </a:xfrm>
          <a:prstGeom prst="rect">
            <a:avLst/>
          </a:prstGeom>
          <a:noFill/>
        </p:spPr>
        <p:txBody>
          <a:bodyPr wrap="square" rtlCol="0">
            <a:spAutoFit/>
          </a:bodyPr>
          <a:lstStyle/>
          <a:p>
            <a:r>
              <a:rPr lang="en-US" dirty="0"/>
              <a:t>(24)</a:t>
            </a:r>
          </a:p>
        </p:txBody>
      </p:sp>
      <p:pic>
        <p:nvPicPr>
          <p:cNvPr id="9" name="Picture 8">
            <a:extLst>
              <a:ext uri="{FF2B5EF4-FFF2-40B4-BE49-F238E27FC236}">
                <a16:creationId xmlns:a16="http://schemas.microsoft.com/office/drawing/2014/main" id="{4CC7F707-135F-4D10-BD65-59B0F2AA30B3}"/>
              </a:ext>
            </a:extLst>
          </p:cNvPr>
          <p:cNvPicPr>
            <a:picLocks noChangeAspect="1"/>
          </p:cNvPicPr>
          <p:nvPr/>
        </p:nvPicPr>
        <p:blipFill>
          <a:blip r:embed="rId4"/>
          <a:stretch>
            <a:fillRect/>
          </a:stretch>
        </p:blipFill>
        <p:spPr>
          <a:xfrm>
            <a:off x="8377032" y="2717461"/>
            <a:ext cx="2261357" cy="521852"/>
          </a:xfrm>
          <a:prstGeom prst="rect">
            <a:avLst/>
          </a:prstGeom>
        </p:spPr>
      </p:pic>
      <p:sp>
        <p:nvSpPr>
          <p:cNvPr id="10" name="TextBox 9">
            <a:extLst>
              <a:ext uri="{FF2B5EF4-FFF2-40B4-BE49-F238E27FC236}">
                <a16:creationId xmlns:a16="http://schemas.microsoft.com/office/drawing/2014/main" id="{BF022BB3-BA96-4DAF-A2F4-48D5FC78E471}"/>
              </a:ext>
            </a:extLst>
          </p:cNvPr>
          <p:cNvSpPr txBox="1"/>
          <p:nvPr/>
        </p:nvSpPr>
        <p:spPr>
          <a:xfrm>
            <a:off x="10768299" y="2741844"/>
            <a:ext cx="652841" cy="369332"/>
          </a:xfrm>
          <a:prstGeom prst="rect">
            <a:avLst/>
          </a:prstGeom>
          <a:noFill/>
        </p:spPr>
        <p:txBody>
          <a:bodyPr wrap="square" rtlCol="0">
            <a:spAutoFit/>
          </a:bodyPr>
          <a:lstStyle/>
          <a:p>
            <a:r>
              <a:rPr lang="en-US" dirty="0"/>
              <a:t>(25)</a:t>
            </a:r>
          </a:p>
        </p:txBody>
      </p:sp>
      <p:sp>
        <p:nvSpPr>
          <p:cNvPr id="11" name="TextBox 10">
            <a:extLst>
              <a:ext uri="{FF2B5EF4-FFF2-40B4-BE49-F238E27FC236}">
                <a16:creationId xmlns:a16="http://schemas.microsoft.com/office/drawing/2014/main" id="{74188ACD-1499-464D-8883-17585EB6E1B3}"/>
              </a:ext>
            </a:extLst>
          </p:cNvPr>
          <p:cNvSpPr txBox="1"/>
          <p:nvPr/>
        </p:nvSpPr>
        <p:spPr>
          <a:xfrm>
            <a:off x="189571" y="6447755"/>
            <a:ext cx="3579542" cy="369332"/>
          </a:xfrm>
          <a:prstGeom prst="rect">
            <a:avLst/>
          </a:prstGeom>
          <a:noFill/>
        </p:spPr>
        <p:txBody>
          <a:bodyPr wrap="square" rtlCol="0">
            <a:spAutoFit/>
          </a:bodyPr>
          <a:lstStyle/>
          <a:p>
            <a:r>
              <a:rPr lang="en-US" dirty="0">
                <a:solidFill>
                  <a:schemeClr val="bg1"/>
                </a:solidFill>
              </a:rPr>
              <a:t>Mohammad Mahdi Manafi</a:t>
            </a:r>
          </a:p>
        </p:txBody>
      </p:sp>
    </p:spTree>
    <p:extLst>
      <p:ext uri="{BB962C8B-B14F-4D97-AF65-F5344CB8AC3E}">
        <p14:creationId xmlns:p14="http://schemas.microsoft.com/office/powerpoint/2010/main" val="1232638258"/>
      </p:ext>
    </p:extLst>
  </p:cSld>
  <p:clrMapOvr>
    <a:masterClrMapping/>
  </p:clrMapOvr>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Title 4">
            <a:extLst>
              <a:ext uri="{FF2B5EF4-FFF2-40B4-BE49-F238E27FC236}">
                <a16:creationId xmlns:a16="http://schemas.microsoft.com/office/drawing/2014/main" id="{7D51432F-9E89-462B-AD6F-1A3088251E6F}"/>
              </a:ext>
            </a:extLst>
          </p:cNvPr>
          <p:cNvSpPr>
            <a:spLocks noGrp="1"/>
          </p:cNvSpPr>
          <p:nvPr>
            <p:ph type="title"/>
          </p:nvPr>
        </p:nvSpPr>
        <p:spPr/>
        <p:txBody>
          <a:bodyPr/>
          <a:lstStyle/>
          <a:p>
            <a:r>
              <a:rPr lang="en-US" dirty="0"/>
              <a:t>Problem formulation</a:t>
            </a:r>
          </a:p>
        </p:txBody>
      </p:sp>
      <p:sp>
        <p:nvSpPr>
          <p:cNvPr id="6" name="Text Placeholder 5">
            <a:extLst>
              <a:ext uri="{FF2B5EF4-FFF2-40B4-BE49-F238E27FC236}">
                <a16:creationId xmlns:a16="http://schemas.microsoft.com/office/drawing/2014/main" id="{AB9AD766-E598-41BB-A9D0-A02C0F67D270}"/>
              </a:ext>
            </a:extLst>
          </p:cNvPr>
          <p:cNvSpPr>
            <a:spLocks noGrp="1"/>
          </p:cNvSpPr>
          <p:nvPr>
            <p:ph type="body" idx="1"/>
          </p:nvPr>
        </p:nvSpPr>
        <p:spPr/>
        <p:txBody>
          <a:bodyPr/>
          <a:lstStyle/>
          <a:p>
            <a:endParaRPr lang="en-US" dirty="0"/>
          </a:p>
        </p:txBody>
      </p:sp>
    </p:spTree>
    <p:extLst>
      <p:ext uri="{BB962C8B-B14F-4D97-AF65-F5344CB8AC3E}">
        <p14:creationId xmlns:p14="http://schemas.microsoft.com/office/powerpoint/2010/main" val="4258004965"/>
      </p:ext>
    </p:extLst>
  </p:cSld>
  <p:clrMapOvr>
    <a:masterClrMapping/>
  </p:clrMapOvr>
</p:sld>
</file>

<file path=ppt/slides/slide2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Title 4">
            <a:extLst>
              <a:ext uri="{FF2B5EF4-FFF2-40B4-BE49-F238E27FC236}">
                <a16:creationId xmlns:a16="http://schemas.microsoft.com/office/drawing/2014/main" id="{4559B777-413C-4829-A0E2-8DA22A3F0F29}"/>
              </a:ext>
            </a:extLst>
          </p:cNvPr>
          <p:cNvSpPr>
            <a:spLocks noGrp="1"/>
          </p:cNvSpPr>
          <p:nvPr>
            <p:ph type="title"/>
          </p:nvPr>
        </p:nvSpPr>
        <p:spPr/>
        <p:txBody>
          <a:bodyPr/>
          <a:lstStyle/>
          <a:p>
            <a:r>
              <a:rPr lang="en-US" dirty="0"/>
              <a:t>Problem formulation</a:t>
            </a:r>
          </a:p>
        </p:txBody>
      </p:sp>
      <p:sp>
        <p:nvSpPr>
          <p:cNvPr id="6" name="Content Placeholder 5">
            <a:extLst>
              <a:ext uri="{FF2B5EF4-FFF2-40B4-BE49-F238E27FC236}">
                <a16:creationId xmlns:a16="http://schemas.microsoft.com/office/drawing/2014/main" id="{CA635FA5-08A6-4A03-986B-46BC1F9A0735}"/>
              </a:ext>
            </a:extLst>
          </p:cNvPr>
          <p:cNvSpPr>
            <a:spLocks noGrp="1"/>
          </p:cNvSpPr>
          <p:nvPr>
            <p:ph idx="1"/>
          </p:nvPr>
        </p:nvSpPr>
        <p:spPr>
          <a:xfrm>
            <a:off x="1097280" y="1845733"/>
            <a:ext cx="6122227" cy="4501903"/>
          </a:xfrm>
        </p:spPr>
        <p:txBody>
          <a:bodyPr/>
          <a:lstStyle/>
          <a:p>
            <a:pPr>
              <a:buFont typeface="Wingdings" panose="05000000000000000000" pitchFamily="2" charset="2"/>
              <a:buChar char="q"/>
            </a:pPr>
            <a:r>
              <a:rPr lang="en-US" sz="1800" dirty="0">
                <a:solidFill>
                  <a:srgbClr val="242021"/>
                </a:solidFill>
              </a:rPr>
              <a:t>Optimization</a:t>
            </a:r>
          </a:p>
          <a:p>
            <a:pPr lvl="1">
              <a:buFont typeface="Wingdings" panose="05000000000000000000" pitchFamily="2" charset="2"/>
              <a:buChar char="q"/>
            </a:pPr>
            <a:r>
              <a:rPr lang="en-US" sz="1600" dirty="0">
                <a:solidFill>
                  <a:srgbClr val="242021"/>
                </a:solidFill>
              </a:rPr>
              <a:t>D</a:t>
            </a:r>
            <a:r>
              <a:rPr lang="en-US" sz="1600" b="0" i="0" dirty="0">
                <a:solidFill>
                  <a:srgbClr val="242021"/>
                </a:solidFill>
                <a:effectLst/>
              </a:rPr>
              <a:t>erive the proper number of active processors for each ECN, FCN and cloud</a:t>
            </a:r>
          </a:p>
          <a:p>
            <a:pPr lvl="1">
              <a:buFont typeface="Wingdings" panose="05000000000000000000" pitchFamily="2" charset="2"/>
              <a:buChar char="q"/>
            </a:pPr>
            <a:r>
              <a:rPr lang="en-US" sz="1600" dirty="0">
                <a:solidFill>
                  <a:srgbClr val="242021"/>
                </a:solidFill>
              </a:rPr>
              <a:t>M</a:t>
            </a:r>
            <a:r>
              <a:rPr lang="en-US" sz="1600" b="0" i="0" dirty="0">
                <a:solidFill>
                  <a:srgbClr val="242021"/>
                </a:solidFill>
                <a:effectLst/>
              </a:rPr>
              <a:t>aximum number of tasks accepted by each ECN and FCN</a:t>
            </a:r>
          </a:p>
          <a:p>
            <a:pPr lvl="1">
              <a:buFont typeface="Wingdings" panose="05000000000000000000" pitchFamily="2" charset="2"/>
              <a:buChar char="q"/>
            </a:pPr>
            <a:r>
              <a:rPr lang="en-US" sz="1600" dirty="0">
                <a:solidFill>
                  <a:srgbClr val="242021"/>
                </a:solidFill>
              </a:rPr>
              <a:t>M</a:t>
            </a:r>
            <a:r>
              <a:rPr lang="en-US" sz="1600" b="0" i="0" dirty="0">
                <a:solidFill>
                  <a:srgbClr val="242021"/>
                </a:solidFill>
                <a:effectLst/>
              </a:rPr>
              <a:t>aximization of the social welfare</a:t>
            </a:r>
          </a:p>
          <a:p>
            <a:pPr lvl="2">
              <a:buFont typeface="Wingdings" panose="05000000000000000000" pitchFamily="2" charset="2"/>
              <a:buChar char="q"/>
            </a:pPr>
            <a:r>
              <a:rPr lang="en-US" b="0" i="0" dirty="0">
                <a:solidFill>
                  <a:srgbClr val="242021"/>
                </a:solidFill>
                <a:effectLst/>
              </a:rPr>
              <a:t>Consider both the users and provider perspective</a:t>
            </a:r>
          </a:p>
          <a:p>
            <a:pPr>
              <a:buFont typeface="Wingdings" panose="05000000000000000000" pitchFamily="2" charset="2"/>
              <a:buChar char="q"/>
            </a:pPr>
            <a:r>
              <a:rPr lang="en-US" dirty="0"/>
              <a:t>Objective function (26)</a:t>
            </a:r>
          </a:p>
          <a:p>
            <a:pPr lvl="1">
              <a:buFont typeface="Wingdings" panose="05000000000000000000" pitchFamily="2" charset="2"/>
              <a:buChar char="q"/>
            </a:pPr>
            <a:r>
              <a:rPr lang="en-US" sz="1800" b="0" i="0" dirty="0">
                <a:solidFill>
                  <a:srgbClr val="242021"/>
                </a:solidFill>
                <a:effectLst/>
              </a:rPr>
              <a:t>social welfare function</a:t>
            </a:r>
            <a:endParaRPr lang="en-US" dirty="0"/>
          </a:p>
          <a:p>
            <a:pPr lvl="1">
              <a:buFont typeface="Wingdings" panose="05000000000000000000" pitchFamily="2" charset="2"/>
              <a:buChar char="q"/>
            </a:pPr>
            <a:r>
              <a:rPr lang="en-US" dirty="0"/>
              <a:t>What should K, F, S, H, A be?</a:t>
            </a:r>
          </a:p>
          <a:p>
            <a:pPr lvl="1">
              <a:buFont typeface="Wingdings" panose="05000000000000000000" pitchFamily="2" charset="2"/>
              <a:buChar char="q"/>
            </a:pPr>
            <a:r>
              <a:rPr lang="en-US" dirty="0"/>
              <a:t>What is trade off?</a:t>
            </a:r>
          </a:p>
          <a:p>
            <a:pPr lvl="2">
              <a:buFont typeface="Wingdings" panose="05000000000000000000" pitchFamily="2" charset="2"/>
              <a:buChar char="q"/>
            </a:pPr>
            <a:r>
              <a:rPr lang="en-US" dirty="0"/>
              <a:t>More CPU more cost for provider</a:t>
            </a:r>
          </a:p>
          <a:p>
            <a:pPr lvl="2">
              <a:buFont typeface="Wingdings" panose="05000000000000000000" pitchFamily="2" charset="2"/>
              <a:buChar char="q"/>
            </a:pPr>
            <a:r>
              <a:rPr lang="en-US" dirty="0"/>
              <a:t>More CPU more better performance for user</a:t>
            </a:r>
          </a:p>
        </p:txBody>
      </p:sp>
      <p:sp>
        <p:nvSpPr>
          <p:cNvPr id="4" name="Slide Number Placeholder 3">
            <a:extLst>
              <a:ext uri="{FF2B5EF4-FFF2-40B4-BE49-F238E27FC236}">
                <a16:creationId xmlns:a16="http://schemas.microsoft.com/office/drawing/2014/main" id="{0922A283-615F-4C86-AF80-58FAC34818FD}"/>
              </a:ext>
            </a:extLst>
          </p:cNvPr>
          <p:cNvSpPr>
            <a:spLocks noGrp="1"/>
          </p:cNvSpPr>
          <p:nvPr>
            <p:ph type="sldNum" sz="quarter" idx="12"/>
          </p:nvPr>
        </p:nvSpPr>
        <p:spPr/>
        <p:txBody>
          <a:bodyPr/>
          <a:lstStyle/>
          <a:p>
            <a:fld id="{DC4CAFB8-3EF6-4FAF-BDFA-EA2F8D8834E4}" type="slidenum">
              <a:rPr lang="en-US" smtClean="0"/>
              <a:t>29</a:t>
            </a:fld>
            <a:endParaRPr lang="en-US"/>
          </a:p>
        </p:txBody>
      </p:sp>
      <p:pic>
        <p:nvPicPr>
          <p:cNvPr id="8" name="Picture 7">
            <a:extLst>
              <a:ext uri="{FF2B5EF4-FFF2-40B4-BE49-F238E27FC236}">
                <a16:creationId xmlns:a16="http://schemas.microsoft.com/office/drawing/2014/main" id="{7934DC6C-A27F-456C-9B0B-3AC0CE13B833}"/>
              </a:ext>
            </a:extLst>
          </p:cNvPr>
          <p:cNvPicPr>
            <a:picLocks noChangeAspect="1"/>
          </p:cNvPicPr>
          <p:nvPr/>
        </p:nvPicPr>
        <p:blipFill>
          <a:blip r:embed="rId2"/>
          <a:stretch>
            <a:fillRect/>
          </a:stretch>
        </p:blipFill>
        <p:spPr>
          <a:xfrm>
            <a:off x="7121410" y="2547364"/>
            <a:ext cx="4443493" cy="2552067"/>
          </a:xfrm>
          <a:prstGeom prst="rect">
            <a:avLst/>
          </a:prstGeom>
        </p:spPr>
      </p:pic>
      <p:sp>
        <p:nvSpPr>
          <p:cNvPr id="9" name="TextBox 8">
            <a:extLst>
              <a:ext uri="{FF2B5EF4-FFF2-40B4-BE49-F238E27FC236}">
                <a16:creationId xmlns:a16="http://schemas.microsoft.com/office/drawing/2014/main" id="{B3101131-0DD6-4F31-8AB9-2FB4815BC356}"/>
              </a:ext>
            </a:extLst>
          </p:cNvPr>
          <p:cNvSpPr txBox="1"/>
          <p:nvPr/>
        </p:nvSpPr>
        <p:spPr>
          <a:xfrm>
            <a:off x="10882873" y="2069658"/>
            <a:ext cx="659219" cy="369332"/>
          </a:xfrm>
          <a:prstGeom prst="rect">
            <a:avLst/>
          </a:prstGeom>
          <a:noFill/>
        </p:spPr>
        <p:txBody>
          <a:bodyPr wrap="square" rtlCol="0">
            <a:spAutoFit/>
          </a:bodyPr>
          <a:lstStyle/>
          <a:p>
            <a:r>
              <a:rPr lang="en-US" dirty="0"/>
              <a:t>(26)</a:t>
            </a:r>
          </a:p>
        </p:txBody>
      </p:sp>
      <p:sp>
        <p:nvSpPr>
          <p:cNvPr id="7" name="TextBox 6">
            <a:extLst>
              <a:ext uri="{FF2B5EF4-FFF2-40B4-BE49-F238E27FC236}">
                <a16:creationId xmlns:a16="http://schemas.microsoft.com/office/drawing/2014/main" id="{F24BD987-1534-48CD-8A54-67FCE2523421}"/>
              </a:ext>
            </a:extLst>
          </p:cNvPr>
          <p:cNvSpPr txBox="1"/>
          <p:nvPr/>
        </p:nvSpPr>
        <p:spPr>
          <a:xfrm>
            <a:off x="189571" y="6447755"/>
            <a:ext cx="3579542" cy="369332"/>
          </a:xfrm>
          <a:prstGeom prst="rect">
            <a:avLst/>
          </a:prstGeom>
          <a:noFill/>
        </p:spPr>
        <p:txBody>
          <a:bodyPr wrap="square" rtlCol="0">
            <a:spAutoFit/>
          </a:bodyPr>
          <a:lstStyle/>
          <a:p>
            <a:r>
              <a:rPr lang="en-US" dirty="0">
                <a:solidFill>
                  <a:schemeClr val="bg1"/>
                </a:solidFill>
              </a:rPr>
              <a:t>Mohammad Mahdi Manafi</a:t>
            </a:r>
          </a:p>
        </p:txBody>
      </p:sp>
    </p:spTree>
    <p:extLst>
      <p:ext uri="{BB962C8B-B14F-4D97-AF65-F5344CB8AC3E}">
        <p14:creationId xmlns:p14="http://schemas.microsoft.com/office/powerpoint/2010/main" val="2211784931"/>
      </p:ext>
    </p:extLst>
  </p:cSld>
  <p:clrMapOvr>
    <a:masterClrMapping/>
  </p:clrMapOvr>
</p:sld>
</file>

<file path=ppt/slides/slide3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Title 4">
            <a:extLst>
              <a:ext uri="{FF2B5EF4-FFF2-40B4-BE49-F238E27FC236}">
                <a16:creationId xmlns:a16="http://schemas.microsoft.com/office/drawing/2014/main" id="{1F9BFFB9-8FEF-40E7-B00C-3451BEA128F7}"/>
              </a:ext>
            </a:extLst>
          </p:cNvPr>
          <p:cNvSpPr>
            <a:spLocks noGrp="1"/>
          </p:cNvSpPr>
          <p:nvPr>
            <p:ph type="title"/>
          </p:nvPr>
        </p:nvSpPr>
        <p:spPr/>
        <p:txBody>
          <a:bodyPr/>
          <a:lstStyle/>
          <a:p>
            <a:r>
              <a:rPr lang="en-US" dirty="0"/>
              <a:t>Problem formulation</a:t>
            </a:r>
          </a:p>
        </p:txBody>
      </p:sp>
      <mc:AlternateContent xmlns:mc="http://schemas.openxmlformats.org/markup-compatibility/2006" xmlns:a14="http://schemas.microsoft.com/office/drawing/2010/main">
        <mc:Choice Requires="a14">
          <p:sp>
            <p:nvSpPr>
              <p:cNvPr id="6" name="Content Placeholder 5">
                <a:extLst>
                  <a:ext uri="{FF2B5EF4-FFF2-40B4-BE49-F238E27FC236}">
                    <a16:creationId xmlns:a16="http://schemas.microsoft.com/office/drawing/2014/main" id="{572560DB-4819-4368-82F8-98C4FF5124A2}"/>
                  </a:ext>
                </a:extLst>
              </p:cNvPr>
              <p:cNvSpPr>
                <a:spLocks noGrp="1"/>
              </p:cNvSpPr>
              <p:nvPr>
                <p:ph idx="1"/>
              </p:nvPr>
            </p:nvSpPr>
            <p:spPr>
              <a:xfrm>
                <a:off x="1097279" y="1845733"/>
                <a:ext cx="5941474" cy="4491271"/>
              </a:xfrm>
            </p:spPr>
            <p:txBody>
              <a:bodyPr>
                <a:normAutofit fontScale="92500" lnSpcReduction="20000"/>
              </a:bodyPr>
              <a:lstStyle/>
              <a:p>
                <a:pPr>
                  <a:buFont typeface="Wingdings" panose="05000000000000000000" pitchFamily="2" charset="2"/>
                  <a:buChar char="q"/>
                </a:pPr>
                <a14:m>
                  <m:oMath xmlns:m="http://schemas.openxmlformats.org/officeDocument/2006/math">
                    <m:sSub>
                      <m:sSubPr>
                        <m:ctrlPr>
                          <a:rPr lang="en-US" i="1" smtClean="0">
                            <a:latin typeface="Cambria Math" panose="02040503050406030204" pitchFamily="18" charset="0"/>
                          </a:rPr>
                        </m:ctrlPr>
                      </m:sSubPr>
                      <m:e>
                        <m:r>
                          <m:rPr>
                            <m:sty m:val="p"/>
                          </m:rPr>
                          <a:rPr lang="el-GR" i="1" smtClean="0">
                            <a:latin typeface="Cambria Math" panose="02040503050406030204" pitchFamily="18" charset="0"/>
                            <a:ea typeface="Cambria Math" panose="02040503050406030204" pitchFamily="18" charset="0"/>
                          </a:rPr>
                          <m:t>Δ</m:t>
                        </m:r>
                      </m:e>
                      <m:sub>
                        <m:r>
                          <a:rPr lang="en-US" b="0" i="1" smtClean="0">
                            <a:latin typeface="Cambria Math" panose="02040503050406030204" pitchFamily="18" charset="0"/>
                          </a:rPr>
                          <m:t>𝐸𝑓𝑓</m:t>
                        </m:r>
                      </m:sub>
                    </m:sSub>
                  </m:oMath>
                </a14:m>
                <a:r>
                  <a:rPr lang="en-US" dirty="0"/>
                  <a:t>: completed tasks rate of whole infrastructure </a:t>
                </a:r>
              </a:p>
              <a:p>
                <a:pPr lvl="1">
                  <a:buFont typeface="Wingdings" panose="05000000000000000000" pitchFamily="2" charset="2"/>
                  <a:buChar char="q"/>
                </a:pPr>
                <a14:m>
                  <m:oMath xmlns:m="http://schemas.openxmlformats.org/officeDocument/2006/math">
                    <m:sSub>
                      <m:sSubPr>
                        <m:ctrlPr>
                          <a:rPr lang="en-US" i="1" smtClean="0">
                            <a:latin typeface="Cambria Math" panose="02040503050406030204" pitchFamily="18" charset="0"/>
                          </a:rPr>
                        </m:ctrlPr>
                      </m:sSubPr>
                      <m:e>
                        <m:r>
                          <a:rPr lang="en-US" b="0" i="1" smtClean="0">
                            <a:latin typeface="Cambria Math" panose="02040503050406030204" pitchFamily="18" charset="0"/>
                          </a:rPr>
                          <m:t>=</m:t>
                        </m:r>
                        <m:r>
                          <m:rPr>
                            <m:sty m:val="p"/>
                          </m:rPr>
                          <a:rPr lang="el-GR" i="1" smtClean="0">
                            <a:latin typeface="Cambria Math" panose="02040503050406030204" pitchFamily="18" charset="0"/>
                            <a:ea typeface="Cambria Math" panose="02040503050406030204" pitchFamily="18" charset="0"/>
                          </a:rPr>
                          <m:t>Δ</m:t>
                        </m:r>
                      </m:e>
                      <m:sub>
                        <m:r>
                          <a:rPr lang="en-US" b="0" i="1" smtClean="0">
                            <a:latin typeface="Cambria Math" panose="02040503050406030204" pitchFamily="18" charset="0"/>
                          </a:rPr>
                          <m:t>𝐸𝑓𝑓</m:t>
                        </m:r>
                        <m:r>
                          <a:rPr lang="en-US" b="0" i="1" smtClean="0">
                            <a:latin typeface="Cambria Math" panose="02040503050406030204" pitchFamily="18" charset="0"/>
                          </a:rPr>
                          <m:t>,</m:t>
                        </m:r>
                        <m:r>
                          <a:rPr lang="en-US" b="0" i="1" smtClean="0">
                            <a:latin typeface="Cambria Math" panose="02040503050406030204" pitchFamily="18" charset="0"/>
                          </a:rPr>
                          <m:t>𝐸</m:t>
                        </m:r>
                      </m:sub>
                    </m:sSub>
                    <m:r>
                      <a:rPr lang="en-US" b="0" i="1" smtClean="0">
                        <a:latin typeface="Cambria Math" panose="02040503050406030204" pitchFamily="18" charset="0"/>
                      </a:rPr>
                      <m:t>+</m:t>
                    </m:r>
                    <m:sSub>
                      <m:sSubPr>
                        <m:ctrlPr>
                          <a:rPr lang="en-US" i="1">
                            <a:latin typeface="Cambria Math" panose="02040503050406030204" pitchFamily="18" charset="0"/>
                          </a:rPr>
                        </m:ctrlPr>
                      </m:sSubPr>
                      <m:e>
                        <m:r>
                          <m:rPr>
                            <m:sty m:val="p"/>
                          </m:rPr>
                          <a:rPr lang="el-GR" i="1">
                            <a:latin typeface="Cambria Math" panose="02040503050406030204" pitchFamily="18" charset="0"/>
                            <a:ea typeface="Cambria Math" panose="02040503050406030204" pitchFamily="18" charset="0"/>
                          </a:rPr>
                          <m:t>Δ</m:t>
                        </m:r>
                      </m:e>
                      <m:sub>
                        <m:r>
                          <a:rPr lang="en-US" i="1">
                            <a:latin typeface="Cambria Math" panose="02040503050406030204" pitchFamily="18" charset="0"/>
                          </a:rPr>
                          <m:t>𝐸𝑓𝑓</m:t>
                        </m:r>
                        <m:r>
                          <a:rPr lang="en-US" i="1">
                            <a:latin typeface="Cambria Math" panose="02040503050406030204" pitchFamily="18" charset="0"/>
                          </a:rPr>
                          <m:t>,</m:t>
                        </m:r>
                        <m:r>
                          <a:rPr lang="en-US" i="1">
                            <a:latin typeface="Cambria Math" panose="02040503050406030204" pitchFamily="18" charset="0"/>
                          </a:rPr>
                          <m:t>𝐹</m:t>
                        </m:r>
                      </m:sub>
                    </m:sSub>
                    <m:r>
                      <a:rPr lang="en-US" b="0" i="1" smtClean="0">
                        <a:latin typeface="Cambria Math" panose="02040503050406030204" pitchFamily="18" charset="0"/>
                      </a:rPr>
                      <m:t>+</m:t>
                    </m:r>
                    <m:sSub>
                      <m:sSubPr>
                        <m:ctrlPr>
                          <a:rPr lang="en-US" i="1">
                            <a:latin typeface="Cambria Math" panose="02040503050406030204" pitchFamily="18" charset="0"/>
                          </a:rPr>
                        </m:ctrlPr>
                      </m:sSubPr>
                      <m:e>
                        <m:r>
                          <m:rPr>
                            <m:sty m:val="p"/>
                          </m:rPr>
                          <a:rPr lang="el-GR" i="1">
                            <a:latin typeface="Cambria Math" panose="02040503050406030204" pitchFamily="18" charset="0"/>
                            <a:ea typeface="Cambria Math" panose="02040503050406030204" pitchFamily="18" charset="0"/>
                          </a:rPr>
                          <m:t>Δ</m:t>
                        </m:r>
                      </m:e>
                      <m:sub>
                        <m:r>
                          <a:rPr lang="en-US" i="1">
                            <a:latin typeface="Cambria Math" panose="02040503050406030204" pitchFamily="18" charset="0"/>
                          </a:rPr>
                          <m:t>𝐸𝑓𝑓</m:t>
                        </m:r>
                        <m:r>
                          <a:rPr lang="en-US" i="1">
                            <a:latin typeface="Cambria Math" panose="02040503050406030204" pitchFamily="18" charset="0"/>
                          </a:rPr>
                          <m:t>,</m:t>
                        </m:r>
                        <m:r>
                          <a:rPr lang="en-US" i="1">
                            <a:latin typeface="Cambria Math" panose="02040503050406030204" pitchFamily="18" charset="0"/>
                          </a:rPr>
                          <m:t>𝐶</m:t>
                        </m:r>
                      </m:sub>
                    </m:sSub>
                  </m:oMath>
                </a14:m>
                <a:endParaRPr lang="en-US" dirty="0"/>
              </a:p>
              <a:p>
                <a:pPr>
                  <a:buFont typeface="Wingdings" panose="05000000000000000000" pitchFamily="2" charset="2"/>
                  <a:buChar char="q"/>
                </a:pPr>
                <a14:m>
                  <m:oMath xmlns:m="http://schemas.openxmlformats.org/officeDocument/2006/math">
                    <m:sSub>
                      <m:sSubPr>
                        <m:ctrlPr>
                          <a:rPr lang="en-US" i="1" smtClean="0">
                            <a:latin typeface="Cambria Math" panose="02040503050406030204" pitchFamily="18" charset="0"/>
                          </a:rPr>
                        </m:ctrlPr>
                      </m:sSubPr>
                      <m:e>
                        <m:r>
                          <m:rPr>
                            <m:sty m:val="p"/>
                          </m:rPr>
                          <a:rPr lang="el-GR" i="1" smtClean="0">
                            <a:latin typeface="Cambria Math" panose="02040503050406030204" pitchFamily="18" charset="0"/>
                            <a:ea typeface="Cambria Math" panose="02040503050406030204" pitchFamily="18" charset="0"/>
                          </a:rPr>
                          <m:t>Δ</m:t>
                        </m:r>
                      </m:e>
                      <m:sub>
                        <m:r>
                          <a:rPr lang="en-US" b="0" i="1" smtClean="0">
                            <a:latin typeface="Cambria Math" panose="02040503050406030204" pitchFamily="18" charset="0"/>
                          </a:rPr>
                          <m:t>𝐸𝑓𝑓</m:t>
                        </m:r>
                        <m:r>
                          <a:rPr lang="en-US" b="0" i="1" smtClean="0">
                            <a:latin typeface="Cambria Math" panose="02040503050406030204" pitchFamily="18" charset="0"/>
                          </a:rPr>
                          <m:t>,</m:t>
                        </m:r>
                        <m:r>
                          <a:rPr lang="en-US" b="0" i="1" smtClean="0">
                            <a:latin typeface="Cambria Math" panose="02040503050406030204" pitchFamily="18" charset="0"/>
                          </a:rPr>
                          <m:t>𝐸</m:t>
                        </m:r>
                      </m:sub>
                    </m:sSub>
                    <m:r>
                      <a:rPr lang="en-US" b="0" i="1" smtClean="0">
                        <a:latin typeface="Cambria Math" panose="02040503050406030204" pitchFamily="18" charset="0"/>
                      </a:rPr>
                      <m:t>=</m:t>
                    </m:r>
                    <m:d>
                      <m:dPr>
                        <m:ctrlPr>
                          <a:rPr lang="en-US" b="0" i="1" smtClean="0">
                            <a:latin typeface="Cambria Math" panose="02040503050406030204" pitchFamily="18" charset="0"/>
                          </a:rPr>
                        </m:ctrlPr>
                      </m:dPr>
                      <m:e>
                        <m:r>
                          <a:rPr lang="en-US" b="0" i="1" smtClean="0">
                            <a:latin typeface="Cambria Math" panose="02040503050406030204" pitchFamily="18" charset="0"/>
                          </a:rPr>
                          <m:t>1−</m:t>
                        </m:r>
                        <m:sSub>
                          <m:sSubPr>
                            <m:ctrlPr>
                              <a:rPr lang="en-US" b="0" i="1" smtClean="0">
                                <a:latin typeface="Cambria Math" panose="02040503050406030204" pitchFamily="18" charset="0"/>
                              </a:rPr>
                            </m:ctrlPr>
                          </m:sSubPr>
                          <m:e>
                            <m:r>
                              <a:rPr lang="en-US" b="0" i="1" smtClean="0">
                                <a:latin typeface="Cambria Math" panose="02040503050406030204" pitchFamily="18" charset="0"/>
                              </a:rPr>
                              <m:t>𝑝</m:t>
                            </m:r>
                          </m:e>
                          <m:sub>
                            <m:r>
                              <a:rPr lang="en-US" b="0" i="1" smtClean="0">
                                <a:latin typeface="Cambria Math" panose="02040503050406030204" pitchFamily="18" charset="0"/>
                              </a:rPr>
                              <m:t>𝐻</m:t>
                            </m:r>
                          </m:sub>
                        </m:sSub>
                      </m:e>
                    </m:d>
                    <m:r>
                      <m:rPr>
                        <m:sty m:val="p"/>
                      </m:rPr>
                      <a:rPr lang="el-GR" b="0" i="1" smtClean="0">
                        <a:latin typeface="Cambria Math" panose="02040503050406030204" pitchFamily="18" charset="0"/>
                        <a:ea typeface="Cambria Math" panose="02040503050406030204" pitchFamily="18" charset="0"/>
                      </a:rPr>
                      <m:t>Λ</m:t>
                    </m:r>
                  </m:oMath>
                </a14:m>
                <a:endParaRPr lang="en-US" b="0" dirty="0">
                  <a:ea typeface="Cambria Math" panose="02040503050406030204" pitchFamily="18" charset="0"/>
                </a:endParaRPr>
              </a:p>
              <a:p>
                <a:pPr lvl="1">
                  <a:buFont typeface="Wingdings" panose="05000000000000000000" pitchFamily="2" charset="2"/>
                  <a:buChar char="q"/>
                </a:pPr>
                <a:r>
                  <a:rPr lang="en-US" dirty="0">
                    <a:ea typeface="Cambria Math" panose="02040503050406030204" pitchFamily="18" charset="0"/>
                  </a:rPr>
                  <a:t>Mean rate of accepted tasks of each ECN</a:t>
                </a:r>
                <a:endParaRPr lang="en-US" b="0" dirty="0">
                  <a:ea typeface="Cambria Math" panose="02040503050406030204" pitchFamily="18" charset="0"/>
                </a:endParaRPr>
              </a:p>
              <a:p>
                <a:pPr>
                  <a:buFont typeface="Wingdings" panose="05000000000000000000" pitchFamily="2" charset="2"/>
                  <a:buChar char="q"/>
                </a:pPr>
                <a14:m>
                  <m:oMath xmlns:m="http://schemas.openxmlformats.org/officeDocument/2006/math">
                    <m:sSub>
                      <m:sSubPr>
                        <m:ctrlPr>
                          <a:rPr lang="en-US" i="1" smtClean="0">
                            <a:latin typeface="Cambria Math" panose="02040503050406030204" pitchFamily="18" charset="0"/>
                          </a:rPr>
                        </m:ctrlPr>
                      </m:sSubPr>
                      <m:e>
                        <m:r>
                          <m:rPr>
                            <m:sty m:val="p"/>
                          </m:rPr>
                          <a:rPr lang="el-GR" i="1" smtClean="0">
                            <a:latin typeface="Cambria Math" panose="02040503050406030204" pitchFamily="18" charset="0"/>
                            <a:ea typeface="Cambria Math" panose="02040503050406030204" pitchFamily="18" charset="0"/>
                          </a:rPr>
                          <m:t>Δ</m:t>
                        </m:r>
                      </m:e>
                      <m:sub>
                        <m:r>
                          <a:rPr lang="en-US" b="0" i="1" smtClean="0">
                            <a:latin typeface="Cambria Math" panose="02040503050406030204" pitchFamily="18" charset="0"/>
                          </a:rPr>
                          <m:t>𝐸𝑓𝑓</m:t>
                        </m:r>
                        <m:r>
                          <a:rPr lang="en-US" b="0" i="1" smtClean="0">
                            <a:latin typeface="Cambria Math" panose="02040503050406030204" pitchFamily="18" charset="0"/>
                          </a:rPr>
                          <m:t>,</m:t>
                        </m:r>
                        <m:r>
                          <a:rPr lang="en-US" b="0" i="1" smtClean="0">
                            <a:latin typeface="Cambria Math" panose="02040503050406030204" pitchFamily="18" charset="0"/>
                          </a:rPr>
                          <m:t>𝐹</m:t>
                        </m:r>
                      </m:sub>
                    </m:sSub>
                    <m:r>
                      <a:rPr lang="en-US" b="0" i="1" smtClean="0">
                        <a:latin typeface="Cambria Math" panose="02040503050406030204" pitchFamily="18" charset="0"/>
                      </a:rPr>
                      <m:t>=</m:t>
                    </m:r>
                    <m:d>
                      <m:dPr>
                        <m:ctrlPr>
                          <a:rPr lang="en-US" b="0" i="1" smtClean="0">
                            <a:latin typeface="Cambria Math" panose="02040503050406030204" pitchFamily="18" charset="0"/>
                          </a:rPr>
                        </m:ctrlPr>
                      </m:dPr>
                      <m:e>
                        <m:r>
                          <a:rPr lang="en-US" b="0" i="1" smtClean="0">
                            <a:latin typeface="Cambria Math" panose="02040503050406030204" pitchFamily="18" charset="0"/>
                          </a:rPr>
                          <m:t>1−</m:t>
                        </m:r>
                        <m:sSub>
                          <m:sSubPr>
                            <m:ctrlPr>
                              <a:rPr lang="en-US" b="0" i="1" smtClean="0">
                                <a:latin typeface="Cambria Math" panose="02040503050406030204" pitchFamily="18" charset="0"/>
                              </a:rPr>
                            </m:ctrlPr>
                          </m:sSubPr>
                          <m:e>
                            <m:r>
                              <a:rPr lang="en-US" b="0" i="1" smtClean="0">
                                <a:latin typeface="Cambria Math" panose="02040503050406030204" pitchFamily="18" charset="0"/>
                              </a:rPr>
                              <m:t>𝑝</m:t>
                            </m:r>
                          </m:e>
                          <m:sub>
                            <m:r>
                              <a:rPr lang="en-US" b="0" i="1" smtClean="0">
                                <a:latin typeface="Cambria Math" panose="02040503050406030204" pitchFamily="18" charset="0"/>
                              </a:rPr>
                              <m:t>𝐴</m:t>
                            </m:r>
                          </m:sub>
                        </m:sSub>
                      </m:e>
                    </m:d>
                    <m:r>
                      <m:rPr>
                        <m:sty m:val="p"/>
                      </m:rPr>
                      <a:rPr lang="el-GR" b="0" i="1" smtClean="0">
                        <a:latin typeface="Cambria Math" panose="02040503050406030204" pitchFamily="18" charset="0"/>
                        <a:ea typeface="Cambria Math" panose="02040503050406030204" pitchFamily="18" charset="0"/>
                      </a:rPr>
                      <m:t>Γ</m:t>
                    </m:r>
                  </m:oMath>
                </a14:m>
                <a:endParaRPr lang="en-US" b="0" dirty="0">
                  <a:ea typeface="Cambria Math" panose="02040503050406030204" pitchFamily="18" charset="0"/>
                </a:endParaRPr>
              </a:p>
              <a:p>
                <a:pPr lvl="1">
                  <a:buFont typeface="Wingdings" panose="05000000000000000000" pitchFamily="2" charset="2"/>
                  <a:buChar char="q"/>
                </a:pPr>
                <a:r>
                  <a:rPr lang="en-US" dirty="0">
                    <a:ea typeface="Cambria Math" panose="02040503050406030204" pitchFamily="18" charset="0"/>
                  </a:rPr>
                  <a:t>Mean rate of accepted tasks of each FCN</a:t>
                </a:r>
                <a:endParaRPr lang="en-US" b="0" dirty="0">
                  <a:ea typeface="Cambria Math" panose="02040503050406030204" pitchFamily="18" charset="0"/>
                </a:endParaRPr>
              </a:p>
              <a:p>
                <a:pPr>
                  <a:buFont typeface="Wingdings" panose="05000000000000000000" pitchFamily="2" charset="2"/>
                  <a:buChar char="q"/>
                </a:pPr>
                <a14:m>
                  <m:oMath xmlns:m="http://schemas.openxmlformats.org/officeDocument/2006/math">
                    <m:sSub>
                      <m:sSubPr>
                        <m:ctrlPr>
                          <a:rPr lang="en-US" i="1" smtClean="0">
                            <a:latin typeface="Cambria Math" panose="02040503050406030204" pitchFamily="18" charset="0"/>
                          </a:rPr>
                        </m:ctrlPr>
                      </m:sSubPr>
                      <m:e>
                        <m:r>
                          <m:rPr>
                            <m:sty m:val="p"/>
                          </m:rPr>
                          <a:rPr lang="el-GR" i="1" smtClean="0">
                            <a:latin typeface="Cambria Math" panose="02040503050406030204" pitchFamily="18" charset="0"/>
                            <a:ea typeface="Cambria Math" panose="02040503050406030204" pitchFamily="18" charset="0"/>
                          </a:rPr>
                          <m:t>Δ</m:t>
                        </m:r>
                      </m:e>
                      <m:sub>
                        <m:r>
                          <a:rPr lang="en-US" b="0" i="1" smtClean="0">
                            <a:latin typeface="Cambria Math" panose="02040503050406030204" pitchFamily="18" charset="0"/>
                          </a:rPr>
                          <m:t>𝐸𝑓𝑓</m:t>
                        </m:r>
                        <m:r>
                          <a:rPr lang="en-US" b="0" i="1" smtClean="0">
                            <a:latin typeface="Cambria Math" panose="02040503050406030204" pitchFamily="18" charset="0"/>
                          </a:rPr>
                          <m:t>,</m:t>
                        </m:r>
                        <m:r>
                          <a:rPr lang="en-US" b="0" i="1" smtClean="0">
                            <a:latin typeface="Cambria Math" panose="02040503050406030204" pitchFamily="18" charset="0"/>
                          </a:rPr>
                          <m:t>𝐶</m:t>
                        </m:r>
                      </m:sub>
                    </m:sSub>
                    <m:r>
                      <a:rPr lang="en-US" b="0" i="1" smtClean="0">
                        <a:latin typeface="Cambria Math" panose="02040503050406030204" pitchFamily="18" charset="0"/>
                      </a:rPr>
                      <m:t>=(1−</m:t>
                    </m:r>
                    <m:sSub>
                      <m:sSubPr>
                        <m:ctrlPr>
                          <a:rPr lang="en-US" b="0" i="1" smtClean="0">
                            <a:latin typeface="Cambria Math" panose="02040503050406030204" pitchFamily="18" charset="0"/>
                          </a:rPr>
                        </m:ctrlPr>
                      </m:sSubPr>
                      <m:e>
                        <m:r>
                          <a:rPr lang="en-US" b="0" i="1" smtClean="0">
                            <a:latin typeface="Cambria Math" panose="02040503050406030204" pitchFamily="18" charset="0"/>
                          </a:rPr>
                          <m:t>𝑃</m:t>
                        </m:r>
                      </m:e>
                      <m:sub>
                        <m:r>
                          <a:rPr lang="en-US" b="0" i="1" smtClean="0">
                            <a:latin typeface="Cambria Math" panose="02040503050406030204" pitchFamily="18" charset="0"/>
                          </a:rPr>
                          <m:t>𝐷</m:t>
                        </m:r>
                      </m:sub>
                    </m:sSub>
                    <m:r>
                      <a:rPr lang="en-US" b="0" i="1" smtClean="0">
                        <a:latin typeface="Cambria Math" panose="02040503050406030204" pitchFamily="18" charset="0"/>
                      </a:rPr>
                      <m:t>)</m:t>
                    </m:r>
                    <m:r>
                      <m:rPr>
                        <m:sty m:val="p"/>
                      </m:rPr>
                      <a:rPr lang="el-GR" b="0" i="1" smtClean="0">
                        <a:latin typeface="Cambria Math" panose="02040503050406030204" pitchFamily="18" charset="0"/>
                        <a:ea typeface="Cambria Math" panose="02040503050406030204" pitchFamily="18" charset="0"/>
                      </a:rPr>
                      <m:t>Φ</m:t>
                    </m:r>
                  </m:oMath>
                </a14:m>
                <a:endParaRPr lang="en-US" dirty="0"/>
              </a:p>
              <a:p>
                <a:pPr lvl="1">
                  <a:buFont typeface="Wingdings" panose="05000000000000000000" pitchFamily="2" charset="2"/>
                  <a:buChar char="q"/>
                </a:pPr>
                <a:r>
                  <a:rPr lang="en-US" dirty="0"/>
                  <a:t>Mean rate of accepted tasks with out deadline expiration</a:t>
                </a:r>
              </a:p>
              <a:p>
                <a:pPr>
                  <a:buFont typeface="Wingdings" panose="05000000000000000000" pitchFamily="2" charset="2"/>
                  <a:buChar char="q"/>
                </a:pPr>
                <a:r>
                  <a:rPr lang="en-US" dirty="0"/>
                  <a:t>V(total delay) is punishment</a:t>
                </a:r>
              </a:p>
              <a:p>
                <a:pPr lvl="1">
                  <a:buFont typeface="Wingdings" panose="05000000000000000000" pitchFamily="2" charset="2"/>
                  <a:buChar char="q"/>
                </a:pPr>
                <a:r>
                  <a:rPr lang="en-US" dirty="0"/>
                  <a:t>Users do not like this</a:t>
                </a:r>
              </a:p>
              <a:p>
                <a:pPr>
                  <a:buFont typeface="Wingdings" panose="05000000000000000000" pitchFamily="2" charset="2"/>
                  <a:buChar char="q"/>
                </a:pPr>
                <a:r>
                  <a:rPr lang="en-US" dirty="0"/>
                  <a:t>V and U are constants (weight)</a:t>
                </a:r>
              </a:p>
              <a:p>
                <a:pPr>
                  <a:buFont typeface="Wingdings" panose="05000000000000000000" pitchFamily="2" charset="2"/>
                  <a:buChar char="q"/>
                </a:pPr>
                <a:r>
                  <a:rPr lang="en-US" dirty="0"/>
                  <a:t>Constraint (26.1) must be satisfied </a:t>
                </a:r>
              </a:p>
              <a:p>
                <a:pPr>
                  <a:buFont typeface="Wingdings" panose="05000000000000000000" pitchFamily="2" charset="2"/>
                  <a:buChar char="q"/>
                </a:pPr>
                <a14:m>
                  <m:oMath xmlns:m="http://schemas.openxmlformats.org/officeDocument/2006/math">
                    <m:sSub>
                      <m:sSubPr>
                        <m:ctrlPr>
                          <a:rPr lang="en-US" i="1" smtClean="0">
                            <a:latin typeface="Cambria Math" panose="02040503050406030204" pitchFamily="18" charset="0"/>
                          </a:rPr>
                        </m:ctrlPr>
                      </m:sSubPr>
                      <m:e>
                        <m:r>
                          <a:rPr lang="en-US" b="0" i="1" smtClean="0">
                            <a:latin typeface="Cambria Math" panose="02040503050406030204" pitchFamily="18" charset="0"/>
                          </a:rPr>
                          <m:t>𝑏</m:t>
                        </m:r>
                      </m:e>
                      <m:sub>
                        <m:r>
                          <a:rPr lang="en-US" b="0" i="1" smtClean="0">
                            <a:latin typeface="Cambria Math" panose="02040503050406030204" pitchFamily="18" charset="0"/>
                          </a:rPr>
                          <m:t>𝑧</m:t>
                        </m:r>
                      </m:sub>
                    </m:sSub>
                    <m:r>
                      <a:rPr lang="en-US" b="0" i="1" smtClean="0">
                        <a:latin typeface="Cambria Math" panose="02040503050406030204" pitchFamily="18" charset="0"/>
                      </a:rPr>
                      <m:t>,</m:t>
                    </m:r>
                    <m:sSub>
                      <m:sSubPr>
                        <m:ctrlPr>
                          <a:rPr lang="en-US" i="1">
                            <a:latin typeface="Cambria Math" panose="02040503050406030204" pitchFamily="18" charset="0"/>
                          </a:rPr>
                        </m:ctrlPr>
                      </m:sSubPr>
                      <m:e>
                        <m:r>
                          <a:rPr lang="en-US" b="0" i="1" smtClean="0">
                            <a:latin typeface="Cambria Math" panose="02040503050406030204" pitchFamily="18" charset="0"/>
                          </a:rPr>
                          <m:t>𝑐</m:t>
                        </m:r>
                      </m:e>
                      <m:sub>
                        <m:r>
                          <a:rPr lang="en-US" b="0" i="1" smtClean="0">
                            <a:latin typeface="Cambria Math" panose="02040503050406030204" pitchFamily="18" charset="0"/>
                          </a:rPr>
                          <m:t>𝑤</m:t>
                        </m:r>
                      </m:sub>
                    </m:sSub>
                    <m:r>
                      <a:rPr lang="en-US" b="0" i="1" smtClean="0">
                        <a:latin typeface="Cambria Math" panose="02040503050406030204" pitchFamily="18" charset="0"/>
                      </a:rPr>
                      <m:t>,</m:t>
                    </m:r>
                    <m:sSub>
                      <m:sSubPr>
                        <m:ctrlPr>
                          <a:rPr lang="en-US" i="1">
                            <a:latin typeface="Cambria Math" panose="02040503050406030204" pitchFamily="18" charset="0"/>
                          </a:rPr>
                        </m:ctrlPr>
                      </m:sSubPr>
                      <m:e>
                        <m:r>
                          <a:rPr lang="en-US" b="0" i="1" smtClean="0">
                            <a:latin typeface="Cambria Math" panose="02040503050406030204" pitchFamily="18" charset="0"/>
                          </a:rPr>
                          <m:t>𝑑</m:t>
                        </m:r>
                      </m:e>
                      <m:sub>
                        <m:r>
                          <a:rPr lang="en-US" b="0" i="1" smtClean="0">
                            <a:latin typeface="Cambria Math" panose="02040503050406030204" pitchFamily="18" charset="0"/>
                          </a:rPr>
                          <m:t>𝑗</m:t>
                        </m:r>
                      </m:sub>
                    </m:sSub>
                    <m:r>
                      <a:rPr lang="en-US" i="1" smtClean="0">
                        <a:latin typeface="Cambria Math" panose="02040503050406030204" pitchFamily="18" charset="0"/>
                        <a:ea typeface="Cambria Math" panose="02040503050406030204" pitchFamily="18" charset="0"/>
                      </a:rPr>
                      <m:t>∈</m:t>
                    </m:r>
                    <m:r>
                      <a:rPr lang="en-US" b="0" i="1" smtClean="0">
                        <a:latin typeface="Cambria Math" panose="02040503050406030204" pitchFamily="18" charset="0"/>
                        <a:ea typeface="Cambria Math" panose="02040503050406030204" pitchFamily="18" charset="0"/>
                      </a:rPr>
                      <m:t>{0,1}</m:t>
                    </m:r>
                  </m:oMath>
                </a14:m>
                <a:r>
                  <a:rPr lang="en-US" dirty="0"/>
                  <a:t>, r, u, s is cost of each ECN, FCN, cloud</a:t>
                </a:r>
              </a:p>
              <a:p>
                <a:pPr>
                  <a:buFont typeface="Wingdings" panose="05000000000000000000" pitchFamily="2" charset="2"/>
                  <a:buChar char="q"/>
                </a:pPr>
                <a:endParaRPr lang="en-US" dirty="0"/>
              </a:p>
              <a:p>
                <a:pPr>
                  <a:buFont typeface="Wingdings" panose="05000000000000000000" pitchFamily="2" charset="2"/>
                  <a:buChar char="q"/>
                </a:pPr>
                <a:endParaRPr lang="en-US" dirty="0"/>
              </a:p>
            </p:txBody>
          </p:sp>
        </mc:Choice>
        <mc:Fallback xmlns="">
          <p:sp>
            <p:nvSpPr>
              <p:cNvPr id="6" name="Content Placeholder 5">
                <a:extLst>
                  <a:ext uri="{FF2B5EF4-FFF2-40B4-BE49-F238E27FC236}">
                    <a16:creationId xmlns:a16="http://schemas.microsoft.com/office/drawing/2014/main" id="{572560DB-4819-4368-82F8-98C4FF5124A2}"/>
                  </a:ext>
                </a:extLst>
              </p:cNvPr>
              <p:cNvSpPr>
                <a:spLocks noGrp="1" noRot="1" noChangeAspect="1" noMove="1" noResize="1" noEditPoints="1" noAdjustHandles="1" noChangeArrowheads="1" noChangeShapeType="1" noTextEdit="1"/>
              </p:cNvSpPr>
              <p:nvPr>
                <p:ph idx="1"/>
              </p:nvPr>
            </p:nvSpPr>
            <p:spPr>
              <a:xfrm>
                <a:off x="1097279" y="1845733"/>
                <a:ext cx="5941474" cy="4491271"/>
              </a:xfrm>
              <a:blipFill>
                <a:blip r:embed="rId2"/>
                <a:stretch>
                  <a:fillRect l="-2256" t="-2171"/>
                </a:stretch>
              </a:blipFill>
            </p:spPr>
            <p:txBody>
              <a:bodyPr/>
              <a:lstStyle/>
              <a:p>
                <a:r>
                  <a:rPr lang="en-US">
                    <a:noFill/>
                  </a:rPr>
                  <a:t> </a:t>
                </a:r>
              </a:p>
            </p:txBody>
          </p:sp>
        </mc:Fallback>
      </mc:AlternateContent>
      <p:sp>
        <p:nvSpPr>
          <p:cNvPr id="4" name="Slide Number Placeholder 3">
            <a:extLst>
              <a:ext uri="{FF2B5EF4-FFF2-40B4-BE49-F238E27FC236}">
                <a16:creationId xmlns:a16="http://schemas.microsoft.com/office/drawing/2014/main" id="{45F816E8-80A3-431B-8F35-FB5C3B51529B}"/>
              </a:ext>
            </a:extLst>
          </p:cNvPr>
          <p:cNvSpPr>
            <a:spLocks noGrp="1"/>
          </p:cNvSpPr>
          <p:nvPr>
            <p:ph type="sldNum" sz="quarter" idx="12"/>
          </p:nvPr>
        </p:nvSpPr>
        <p:spPr/>
        <p:txBody>
          <a:bodyPr/>
          <a:lstStyle/>
          <a:p>
            <a:fld id="{DC4CAFB8-3EF6-4FAF-BDFA-EA2F8D8834E4}" type="slidenum">
              <a:rPr lang="en-US" smtClean="0"/>
              <a:t>30</a:t>
            </a:fld>
            <a:endParaRPr lang="en-US"/>
          </a:p>
        </p:txBody>
      </p:sp>
      <p:pic>
        <p:nvPicPr>
          <p:cNvPr id="8" name="Picture 7">
            <a:extLst>
              <a:ext uri="{FF2B5EF4-FFF2-40B4-BE49-F238E27FC236}">
                <a16:creationId xmlns:a16="http://schemas.microsoft.com/office/drawing/2014/main" id="{ECC424E6-83CB-49E6-9E92-E328115AF73C}"/>
              </a:ext>
            </a:extLst>
          </p:cNvPr>
          <p:cNvPicPr>
            <a:picLocks noChangeAspect="1"/>
          </p:cNvPicPr>
          <p:nvPr/>
        </p:nvPicPr>
        <p:blipFill>
          <a:blip r:embed="rId3"/>
          <a:stretch>
            <a:fillRect/>
          </a:stretch>
        </p:blipFill>
        <p:spPr>
          <a:xfrm>
            <a:off x="7121410" y="2547364"/>
            <a:ext cx="4443493" cy="2552067"/>
          </a:xfrm>
          <a:prstGeom prst="rect">
            <a:avLst/>
          </a:prstGeom>
        </p:spPr>
      </p:pic>
      <p:sp>
        <p:nvSpPr>
          <p:cNvPr id="9" name="TextBox 8">
            <a:extLst>
              <a:ext uri="{FF2B5EF4-FFF2-40B4-BE49-F238E27FC236}">
                <a16:creationId xmlns:a16="http://schemas.microsoft.com/office/drawing/2014/main" id="{46378BB5-B21E-46B9-8B83-FBEB4BBC0F7C}"/>
              </a:ext>
            </a:extLst>
          </p:cNvPr>
          <p:cNvSpPr txBox="1"/>
          <p:nvPr/>
        </p:nvSpPr>
        <p:spPr>
          <a:xfrm>
            <a:off x="10882873" y="2069658"/>
            <a:ext cx="659219" cy="369332"/>
          </a:xfrm>
          <a:prstGeom prst="rect">
            <a:avLst/>
          </a:prstGeom>
          <a:noFill/>
        </p:spPr>
        <p:txBody>
          <a:bodyPr wrap="square" rtlCol="0">
            <a:spAutoFit/>
          </a:bodyPr>
          <a:lstStyle/>
          <a:p>
            <a:r>
              <a:rPr lang="en-US" dirty="0"/>
              <a:t>(26)</a:t>
            </a:r>
          </a:p>
        </p:txBody>
      </p:sp>
      <mc:AlternateContent xmlns:mc="http://schemas.openxmlformats.org/markup-compatibility/2006" xmlns:a14="http://schemas.microsoft.com/office/drawing/2010/main">
        <mc:Choice Requires="a14">
          <p:sp>
            <p:nvSpPr>
              <p:cNvPr id="10" name="TextBox 9">
                <a:extLst>
                  <a:ext uri="{FF2B5EF4-FFF2-40B4-BE49-F238E27FC236}">
                    <a16:creationId xmlns:a16="http://schemas.microsoft.com/office/drawing/2014/main" id="{4C3AC1EF-0132-417D-9138-28EE2CC1A680}"/>
                  </a:ext>
                </a:extLst>
              </p:cNvPr>
              <p:cNvSpPr txBox="1"/>
              <p:nvPr/>
            </p:nvSpPr>
            <p:spPr>
              <a:xfrm>
                <a:off x="6276113" y="5258054"/>
                <a:ext cx="5448736" cy="276999"/>
              </a:xfrm>
              <a:prstGeom prst="rect">
                <a:avLst/>
              </a:prstGeom>
              <a:noFill/>
            </p:spPr>
            <p:txBody>
              <a:bodyPr wrap="none" lIns="0" tIns="0" rIns="0" bIns="0" rtlCol="0">
                <a:spAutoFit/>
              </a:bodyPr>
              <a:lstStyle/>
              <a:p>
                <a:pPr/>
                <a14:m>
                  <m:oMathPara xmlns:m="http://schemas.openxmlformats.org/officeDocument/2006/math">
                    <m:oMathParaPr>
                      <m:jc m:val="centerGroup"/>
                    </m:oMathParaPr>
                    <m:oMath xmlns:m="http://schemas.openxmlformats.org/officeDocument/2006/math">
                      <m:sSup>
                        <m:sSupPr>
                          <m:ctrlPr>
                            <a:rPr lang="en-US" i="1" smtClean="0">
                              <a:latin typeface="Cambria Math" panose="02040503050406030204" pitchFamily="18" charset="0"/>
                            </a:rPr>
                          </m:ctrlPr>
                        </m:sSupPr>
                        <m:e>
                          <m:r>
                            <a:rPr lang="en-US" b="0" i="1" smtClean="0">
                              <a:latin typeface="Cambria Math" panose="02040503050406030204" pitchFamily="18" charset="0"/>
                            </a:rPr>
                            <m:t>𝐾</m:t>
                          </m:r>
                        </m:e>
                        <m:sup>
                          <m:r>
                            <a:rPr lang="en-US" b="0" i="1" smtClean="0">
                              <a:latin typeface="Cambria Math" panose="02040503050406030204" pitchFamily="18" charset="0"/>
                            </a:rPr>
                            <m:t>′</m:t>
                          </m:r>
                        </m:sup>
                      </m:sSup>
                      <m:r>
                        <a:rPr lang="en-US" b="0" i="1" smtClean="0">
                          <a:latin typeface="Cambria Math" panose="02040503050406030204" pitchFamily="18" charset="0"/>
                        </a:rPr>
                        <m:t>≤</m:t>
                      </m:r>
                      <m:r>
                        <a:rPr lang="en-US" b="0" i="1" smtClean="0">
                          <a:latin typeface="Cambria Math" panose="02040503050406030204" pitchFamily="18" charset="0"/>
                        </a:rPr>
                        <m:t>𝐾</m:t>
                      </m:r>
                      <m:r>
                        <a:rPr lang="en-US" b="0" i="1" smtClean="0">
                          <a:latin typeface="Cambria Math" panose="02040503050406030204" pitchFamily="18" charset="0"/>
                        </a:rPr>
                        <m:t>,  </m:t>
                      </m:r>
                      <m:sSup>
                        <m:sSupPr>
                          <m:ctrlPr>
                            <a:rPr lang="en-US" i="1">
                              <a:latin typeface="Cambria Math" panose="02040503050406030204" pitchFamily="18" charset="0"/>
                            </a:rPr>
                          </m:ctrlPr>
                        </m:sSupPr>
                        <m:e>
                          <m:r>
                            <a:rPr lang="en-US" b="0" i="1" smtClean="0">
                              <a:latin typeface="Cambria Math" panose="02040503050406030204" pitchFamily="18" charset="0"/>
                            </a:rPr>
                            <m:t>𝐻</m:t>
                          </m:r>
                        </m:e>
                        <m:sup>
                          <m:r>
                            <a:rPr lang="en-US" b="0" i="1" smtClean="0">
                              <a:latin typeface="Cambria Math" panose="02040503050406030204" pitchFamily="18" charset="0"/>
                            </a:rPr>
                            <m:t>′</m:t>
                          </m:r>
                        </m:sup>
                      </m:sSup>
                      <m:r>
                        <a:rPr lang="en-US" b="0" i="1" smtClean="0">
                          <a:latin typeface="Cambria Math" panose="02040503050406030204" pitchFamily="18" charset="0"/>
                        </a:rPr>
                        <m:t>≤</m:t>
                      </m:r>
                      <m:r>
                        <a:rPr lang="en-US" b="0" i="1" smtClean="0">
                          <a:latin typeface="Cambria Math" panose="02040503050406030204" pitchFamily="18" charset="0"/>
                        </a:rPr>
                        <m:t>𝐻</m:t>
                      </m:r>
                      <m:r>
                        <a:rPr lang="en-US" b="0" i="1" smtClean="0">
                          <a:latin typeface="Cambria Math" panose="02040503050406030204" pitchFamily="18" charset="0"/>
                        </a:rPr>
                        <m:t>,  </m:t>
                      </m:r>
                      <m:sSup>
                        <m:sSupPr>
                          <m:ctrlPr>
                            <a:rPr lang="en-US" i="1">
                              <a:latin typeface="Cambria Math" panose="02040503050406030204" pitchFamily="18" charset="0"/>
                            </a:rPr>
                          </m:ctrlPr>
                        </m:sSupPr>
                        <m:e>
                          <m:r>
                            <a:rPr lang="en-US" b="0" i="1" smtClean="0">
                              <a:latin typeface="Cambria Math" panose="02040503050406030204" pitchFamily="18" charset="0"/>
                            </a:rPr>
                            <m:t>𝐹</m:t>
                          </m:r>
                        </m:e>
                        <m:sup>
                          <m:r>
                            <a:rPr lang="en-US" i="1">
                              <a:latin typeface="Cambria Math" panose="02040503050406030204" pitchFamily="18" charset="0"/>
                            </a:rPr>
                            <m:t>′</m:t>
                          </m:r>
                        </m:sup>
                      </m:sSup>
                      <m:r>
                        <a:rPr lang="en-US" b="0" i="0" smtClean="0">
                          <a:latin typeface="Cambria Math" panose="02040503050406030204" pitchFamily="18" charset="0"/>
                        </a:rPr>
                        <m:t>≤</m:t>
                      </m:r>
                      <m:r>
                        <m:rPr>
                          <m:sty m:val="p"/>
                        </m:rPr>
                        <a:rPr lang="en-US" b="0" i="0" smtClean="0">
                          <a:latin typeface="Cambria Math" panose="02040503050406030204" pitchFamily="18" charset="0"/>
                        </a:rPr>
                        <m:t>F</m:t>
                      </m:r>
                      <m:r>
                        <a:rPr lang="en-US" b="0" i="0" smtClean="0">
                          <a:latin typeface="Cambria Math" panose="02040503050406030204" pitchFamily="18" charset="0"/>
                        </a:rPr>
                        <m:t>,  </m:t>
                      </m:r>
                      <m:sSup>
                        <m:sSupPr>
                          <m:ctrlPr>
                            <a:rPr lang="en-US" i="1">
                              <a:latin typeface="Cambria Math" panose="02040503050406030204" pitchFamily="18" charset="0"/>
                            </a:rPr>
                          </m:ctrlPr>
                        </m:sSupPr>
                        <m:e>
                          <m:r>
                            <a:rPr lang="en-US" b="0" i="1" smtClean="0">
                              <a:latin typeface="Cambria Math" panose="02040503050406030204" pitchFamily="18" charset="0"/>
                            </a:rPr>
                            <m:t>𝐴</m:t>
                          </m:r>
                        </m:e>
                        <m:sup>
                          <m:r>
                            <a:rPr lang="en-US" i="1">
                              <a:latin typeface="Cambria Math" panose="02040503050406030204" pitchFamily="18" charset="0"/>
                            </a:rPr>
                            <m:t>′</m:t>
                          </m:r>
                        </m:sup>
                      </m:sSup>
                      <m:r>
                        <a:rPr lang="en-US" b="0" i="1" smtClean="0">
                          <a:latin typeface="Cambria Math" panose="02040503050406030204" pitchFamily="18" charset="0"/>
                        </a:rPr>
                        <m:t>≤</m:t>
                      </m:r>
                      <m:r>
                        <a:rPr lang="en-US" b="0" i="1" smtClean="0">
                          <a:latin typeface="Cambria Math" panose="02040503050406030204" pitchFamily="18" charset="0"/>
                        </a:rPr>
                        <m:t>𝐴</m:t>
                      </m:r>
                      <m:r>
                        <a:rPr lang="en-US" b="0" i="1" smtClean="0">
                          <a:latin typeface="Cambria Math" panose="02040503050406030204" pitchFamily="18" charset="0"/>
                        </a:rPr>
                        <m:t>,  </m:t>
                      </m:r>
                      <m:sSup>
                        <m:sSupPr>
                          <m:ctrlPr>
                            <a:rPr lang="en-US" i="1">
                              <a:latin typeface="Cambria Math" panose="02040503050406030204" pitchFamily="18" charset="0"/>
                            </a:rPr>
                          </m:ctrlPr>
                        </m:sSupPr>
                        <m:e>
                          <m:r>
                            <a:rPr lang="en-US" b="0" i="1" smtClean="0">
                              <a:latin typeface="Cambria Math" panose="02040503050406030204" pitchFamily="18" charset="0"/>
                            </a:rPr>
                            <m:t>𝑆</m:t>
                          </m:r>
                        </m:e>
                        <m:sup>
                          <m:r>
                            <a:rPr lang="en-US" i="1">
                              <a:latin typeface="Cambria Math" panose="02040503050406030204" pitchFamily="18" charset="0"/>
                            </a:rPr>
                            <m:t>′</m:t>
                          </m:r>
                        </m:sup>
                      </m:sSup>
                      <m:r>
                        <a:rPr lang="en-US" b="0" i="0" smtClean="0">
                          <a:latin typeface="Cambria Math" panose="02040503050406030204" pitchFamily="18" charset="0"/>
                        </a:rPr>
                        <m:t>≤</m:t>
                      </m:r>
                      <m:r>
                        <m:rPr>
                          <m:sty m:val="p"/>
                        </m:rPr>
                        <a:rPr lang="en-US" b="0" i="0" smtClean="0">
                          <a:latin typeface="Cambria Math" panose="02040503050406030204" pitchFamily="18" charset="0"/>
                        </a:rPr>
                        <m:t>S</m:t>
                      </m:r>
                    </m:oMath>
                  </m:oMathPara>
                </a14:m>
                <a:endParaRPr lang="en-US" dirty="0"/>
              </a:p>
            </p:txBody>
          </p:sp>
        </mc:Choice>
        <mc:Fallback xmlns="">
          <p:sp>
            <p:nvSpPr>
              <p:cNvPr id="10" name="TextBox 9">
                <a:extLst>
                  <a:ext uri="{FF2B5EF4-FFF2-40B4-BE49-F238E27FC236}">
                    <a16:creationId xmlns:a16="http://schemas.microsoft.com/office/drawing/2014/main" id="{4C3AC1EF-0132-417D-9138-28EE2CC1A680}"/>
                  </a:ext>
                </a:extLst>
              </p:cNvPr>
              <p:cNvSpPr txBox="1">
                <a:spLocks noRot="1" noChangeAspect="1" noMove="1" noResize="1" noEditPoints="1" noAdjustHandles="1" noChangeArrowheads="1" noChangeShapeType="1" noTextEdit="1"/>
              </p:cNvSpPr>
              <p:nvPr/>
            </p:nvSpPr>
            <p:spPr>
              <a:xfrm>
                <a:off x="6276113" y="5258054"/>
                <a:ext cx="5448736" cy="276999"/>
              </a:xfrm>
              <a:prstGeom prst="rect">
                <a:avLst/>
              </a:prstGeom>
              <a:blipFill>
                <a:blip r:embed="rId4"/>
                <a:stretch>
                  <a:fillRect l="-560" r="-672" b="-11111"/>
                </a:stretch>
              </a:blipFill>
            </p:spPr>
            <p:txBody>
              <a:bodyPr/>
              <a:lstStyle/>
              <a:p>
                <a:r>
                  <a:rPr lang="en-US">
                    <a:noFill/>
                  </a:rPr>
                  <a:t> </a:t>
                </a:r>
              </a:p>
            </p:txBody>
          </p:sp>
        </mc:Fallback>
      </mc:AlternateContent>
      <p:sp>
        <p:nvSpPr>
          <p:cNvPr id="12" name="TextBox 11">
            <a:extLst>
              <a:ext uri="{FF2B5EF4-FFF2-40B4-BE49-F238E27FC236}">
                <a16:creationId xmlns:a16="http://schemas.microsoft.com/office/drawing/2014/main" id="{8A41E87F-CB64-4FC2-BE72-20DA7FDDAA34}"/>
              </a:ext>
            </a:extLst>
          </p:cNvPr>
          <p:cNvSpPr txBox="1"/>
          <p:nvPr/>
        </p:nvSpPr>
        <p:spPr>
          <a:xfrm>
            <a:off x="11094721" y="5537710"/>
            <a:ext cx="829340" cy="369332"/>
          </a:xfrm>
          <a:prstGeom prst="rect">
            <a:avLst/>
          </a:prstGeom>
          <a:noFill/>
        </p:spPr>
        <p:txBody>
          <a:bodyPr wrap="square" rtlCol="0">
            <a:spAutoFit/>
          </a:bodyPr>
          <a:lstStyle/>
          <a:p>
            <a:r>
              <a:rPr lang="en-US" dirty="0"/>
              <a:t>(26.1)</a:t>
            </a:r>
          </a:p>
        </p:txBody>
      </p:sp>
      <p:sp>
        <p:nvSpPr>
          <p:cNvPr id="11" name="TextBox 10">
            <a:extLst>
              <a:ext uri="{FF2B5EF4-FFF2-40B4-BE49-F238E27FC236}">
                <a16:creationId xmlns:a16="http://schemas.microsoft.com/office/drawing/2014/main" id="{A18A1FBD-0E84-48CF-A41A-DD36F5BB6454}"/>
              </a:ext>
            </a:extLst>
          </p:cNvPr>
          <p:cNvSpPr txBox="1"/>
          <p:nvPr/>
        </p:nvSpPr>
        <p:spPr>
          <a:xfrm>
            <a:off x="189571" y="6447755"/>
            <a:ext cx="3579542" cy="369332"/>
          </a:xfrm>
          <a:prstGeom prst="rect">
            <a:avLst/>
          </a:prstGeom>
          <a:noFill/>
        </p:spPr>
        <p:txBody>
          <a:bodyPr wrap="square" rtlCol="0">
            <a:spAutoFit/>
          </a:bodyPr>
          <a:lstStyle/>
          <a:p>
            <a:r>
              <a:rPr lang="en-US" dirty="0">
                <a:solidFill>
                  <a:schemeClr val="bg1"/>
                </a:solidFill>
              </a:rPr>
              <a:t>Mohammad Mahdi Manafi</a:t>
            </a:r>
          </a:p>
        </p:txBody>
      </p:sp>
    </p:spTree>
    <p:extLst>
      <p:ext uri="{BB962C8B-B14F-4D97-AF65-F5344CB8AC3E}">
        <p14:creationId xmlns:p14="http://schemas.microsoft.com/office/powerpoint/2010/main" val="3548201559"/>
      </p:ext>
    </p:extLst>
  </p:cSld>
  <p:clrMapOvr>
    <a:masterClrMapping/>
  </p:clrMapOvr>
</p:sld>
</file>

<file path=ppt/slides/slide3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B7CB0BD-9892-4FE5-B985-CAB6293E22BD}"/>
              </a:ext>
            </a:extLst>
          </p:cNvPr>
          <p:cNvSpPr>
            <a:spLocks noGrp="1"/>
          </p:cNvSpPr>
          <p:nvPr>
            <p:ph type="title"/>
          </p:nvPr>
        </p:nvSpPr>
        <p:spPr/>
        <p:txBody>
          <a:bodyPr/>
          <a:lstStyle/>
          <a:p>
            <a:r>
              <a:rPr lang="en-US" dirty="0"/>
              <a:t>Problem formulation</a:t>
            </a:r>
          </a:p>
        </p:txBody>
      </p:sp>
      <p:sp>
        <p:nvSpPr>
          <p:cNvPr id="3" name="Content Placeholder 2">
            <a:extLst>
              <a:ext uri="{FF2B5EF4-FFF2-40B4-BE49-F238E27FC236}">
                <a16:creationId xmlns:a16="http://schemas.microsoft.com/office/drawing/2014/main" id="{1961B76A-1958-4B7E-AAC4-2DE027862CD8}"/>
              </a:ext>
            </a:extLst>
          </p:cNvPr>
          <p:cNvSpPr>
            <a:spLocks noGrp="1"/>
          </p:cNvSpPr>
          <p:nvPr>
            <p:ph idx="1"/>
          </p:nvPr>
        </p:nvSpPr>
        <p:spPr>
          <a:xfrm>
            <a:off x="1097280" y="1845734"/>
            <a:ext cx="4998720" cy="4023360"/>
          </a:xfrm>
        </p:spPr>
        <p:txBody>
          <a:bodyPr/>
          <a:lstStyle/>
          <a:p>
            <a:pPr>
              <a:buFont typeface="Wingdings" panose="05000000000000000000" pitchFamily="2" charset="2"/>
              <a:buChar char="q"/>
            </a:pPr>
            <a:r>
              <a:rPr lang="en-US" dirty="0"/>
              <a:t>Final and formal form of objective function</a:t>
            </a:r>
          </a:p>
        </p:txBody>
      </p:sp>
      <p:sp>
        <p:nvSpPr>
          <p:cNvPr id="4" name="Slide Number Placeholder 3">
            <a:extLst>
              <a:ext uri="{FF2B5EF4-FFF2-40B4-BE49-F238E27FC236}">
                <a16:creationId xmlns:a16="http://schemas.microsoft.com/office/drawing/2014/main" id="{31D0D576-300C-4644-B599-73A77666A669}"/>
              </a:ext>
            </a:extLst>
          </p:cNvPr>
          <p:cNvSpPr>
            <a:spLocks noGrp="1"/>
          </p:cNvSpPr>
          <p:nvPr>
            <p:ph type="sldNum" sz="quarter" idx="12"/>
          </p:nvPr>
        </p:nvSpPr>
        <p:spPr/>
        <p:txBody>
          <a:bodyPr/>
          <a:lstStyle/>
          <a:p>
            <a:fld id="{DC4CAFB8-3EF6-4FAF-BDFA-EA2F8D8834E4}" type="slidenum">
              <a:rPr lang="en-US" smtClean="0"/>
              <a:t>31</a:t>
            </a:fld>
            <a:endParaRPr lang="en-US"/>
          </a:p>
        </p:txBody>
      </p:sp>
      <p:pic>
        <p:nvPicPr>
          <p:cNvPr id="8" name="Picture 7">
            <a:extLst>
              <a:ext uri="{FF2B5EF4-FFF2-40B4-BE49-F238E27FC236}">
                <a16:creationId xmlns:a16="http://schemas.microsoft.com/office/drawing/2014/main" id="{CD6C0336-7A96-46A6-A8EE-6B7B381EE850}"/>
              </a:ext>
            </a:extLst>
          </p:cNvPr>
          <p:cNvPicPr>
            <a:picLocks noChangeAspect="1"/>
          </p:cNvPicPr>
          <p:nvPr/>
        </p:nvPicPr>
        <p:blipFill>
          <a:blip r:embed="rId2"/>
          <a:stretch>
            <a:fillRect/>
          </a:stretch>
        </p:blipFill>
        <p:spPr>
          <a:xfrm>
            <a:off x="5360626" y="2383924"/>
            <a:ext cx="6407651" cy="3687267"/>
          </a:xfrm>
          <a:prstGeom prst="rect">
            <a:avLst/>
          </a:prstGeom>
        </p:spPr>
      </p:pic>
      <p:sp>
        <p:nvSpPr>
          <p:cNvPr id="6" name="TextBox 5">
            <a:extLst>
              <a:ext uri="{FF2B5EF4-FFF2-40B4-BE49-F238E27FC236}">
                <a16:creationId xmlns:a16="http://schemas.microsoft.com/office/drawing/2014/main" id="{8F5931DD-68A1-49BB-A835-D46A31129A09}"/>
              </a:ext>
            </a:extLst>
          </p:cNvPr>
          <p:cNvSpPr txBox="1"/>
          <p:nvPr/>
        </p:nvSpPr>
        <p:spPr>
          <a:xfrm>
            <a:off x="189571" y="6447755"/>
            <a:ext cx="3579542" cy="369332"/>
          </a:xfrm>
          <a:prstGeom prst="rect">
            <a:avLst/>
          </a:prstGeom>
          <a:noFill/>
        </p:spPr>
        <p:txBody>
          <a:bodyPr wrap="square" rtlCol="0">
            <a:spAutoFit/>
          </a:bodyPr>
          <a:lstStyle/>
          <a:p>
            <a:r>
              <a:rPr lang="en-US" dirty="0">
                <a:solidFill>
                  <a:schemeClr val="bg1"/>
                </a:solidFill>
              </a:rPr>
              <a:t>Mohammad Mahdi Manafi</a:t>
            </a:r>
          </a:p>
        </p:txBody>
      </p:sp>
    </p:spTree>
    <p:extLst>
      <p:ext uri="{BB962C8B-B14F-4D97-AF65-F5344CB8AC3E}">
        <p14:creationId xmlns:p14="http://schemas.microsoft.com/office/powerpoint/2010/main" val="1355818060"/>
      </p:ext>
    </p:extLst>
  </p:cSld>
  <p:clrMapOvr>
    <a:masterClrMapping/>
  </p:clrMapOvr>
</p:sld>
</file>

<file path=ppt/slides/slide3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Title 4">
            <a:extLst>
              <a:ext uri="{FF2B5EF4-FFF2-40B4-BE49-F238E27FC236}">
                <a16:creationId xmlns:a16="http://schemas.microsoft.com/office/drawing/2014/main" id="{F42A4878-446B-4E0D-8277-90EF4BE2D485}"/>
              </a:ext>
            </a:extLst>
          </p:cNvPr>
          <p:cNvSpPr>
            <a:spLocks noGrp="1"/>
          </p:cNvSpPr>
          <p:nvPr>
            <p:ph type="title"/>
          </p:nvPr>
        </p:nvSpPr>
        <p:spPr/>
        <p:txBody>
          <a:bodyPr/>
          <a:lstStyle/>
          <a:p>
            <a:r>
              <a:rPr lang="en-US" dirty="0"/>
              <a:t>Proposed Heuristic</a:t>
            </a:r>
          </a:p>
        </p:txBody>
      </p:sp>
      <p:sp>
        <p:nvSpPr>
          <p:cNvPr id="6" name="Text Placeholder 5">
            <a:extLst>
              <a:ext uri="{FF2B5EF4-FFF2-40B4-BE49-F238E27FC236}">
                <a16:creationId xmlns:a16="http://schemas.microsoft.com/office/drawing/2014/main" id="{F9996385-8A1B-431E-A68C-B8FB74DB0FB4}"/>
              </a:ext>
            </a:extLst>
          </p:cNvPr>
          <p:cNvSpPr>
            <a:spLocks noGrp="1"/>
          </p:cNvSpPr>
          <p:nvPr>
            <p:ph type="body" idx="1"/>
          </p:nvPr>
        </p:nvSpPr>
        <p:spPr/>
        <p:txBody>
          <a:bodyPr/>
          <a:lstStyle/>
          <a:p>
            <a:r>
              <a:rPr lang="en-US" dirty="0"/>
              <a:t> </a:t>
            </a:r>
          </a:p>
        </p:txBody>
      </p:sp>
    </p:spTree>
    <p:extLst>
      <p:ext uri="{BB962C8B-B14F-4D97-AF65-F5344CB8AC3E}">
        <p14:creationId xmlns:p14="http://schemas.microsoft.com/office/powerpoint/2010/main" val="114829104"/>
      </p:ext>
    </p:extLst>
  </p:cSld>
  <p:clrMapOvr>
    <a:masterClrMapping/>
  </p:clrMapOvr>
</p:sld>
</file>

<file path=ppt/slides/slide3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Title 4">
            <a:extLst>
              <a:ext uri="{FF2B5EF4-FFF2-40B4-BE49-F238E27FC236}">
                <a16:creationId xmlns:a16="http://schemas.microsoft.com/office/drawing/2014/main" id="{406F73EE-FAFF-4A60-92DE-C0A6091D35B8}"/>
              </a:ext>
            </a:extLst>
          </p:cNvPr>
          <p:cNvSpPr>
            <a:spLocks noGrp="1"/>
          </p:cNvSpPr>
          <p:nvPr>
            <p:ph type="title"/>
          </p:nvPr>
        </p:nvSpPr>
        <p:spPr/>
        <p:txBody>
          <a:bodyPr/>
          <a:lstStyle/>
          <a:p>
            <a:r>
              <a:rPr lang="en-US" dirty="0"/>
              <a:t>Proposed Heuristic</a:t>
            </a:r>
          </a:p>
        </p:txBody>
      </p:sp>
      <p:sp>
        <p:nvSpPr>
          <p:cNvPr id="6" name="Content Placeholder 5">
            <a:extLst>
              <a:ext uri="{FF2B5EF4-FFF2-40B4-BE49-F238E27FC236}">
                <a16:creationId xmlns:a16="http://schemas.microsoft.com/office/drawing/2014/main" id="{D186CBA0-53E7-44CF-B070-1A6C9C263001}"/>
              </a:ext>
            </a:extLst>
          </p:cNvPr>
          <p:cNvSpPr>
            <a:spLocks noGrp="1"/>
          </p:cNvSpPr>
          <p:nvPr>
            <p:ph idx="1"/>
          </p:nvPr>
        </p:nvSpPr>
        <p:spPr/>
        <p:txBody>
          <a:bodyPr/>
          <a:lstStyle/>
          <a:p>
            <a:pPr>
              <a:buFont typeface="Wingdings" panose="05000000000000000000" pitchFamily="2" charset="2"/>
              <a:buChar char="q"/>
            </a:pPr>
            <a:r>
              <a:rPr lang="en-US" sz="1800" dirty="0">
                <a:solidFill>
                  <a:srgbClr val="242021"/>
                </a:solidFill>
                <a:latin typeface="Times-Roman"/>
              </a:rPr>
              <a:t>A</a:t>
            </a:r>
            <a:r>
              <a:rPr lang="en-US" sz="1800" b="0" i="0" dirty="0">
                <a:solidFill>
                  <a:srgbClr val="242021"/>
                </a:solidFill>
                <a:effectLst/>
                <a:latin typeface="Times-Roman"/>
              </a:rPr>
              <a:t>pproximated heuristic to determine the suitable number of CPUs to be allocated at each computation site</a:t>
            </a:r>
            <a:r>
              <a:rPr lang="en-US" dirty="0"/>
              <a:t> </a:t>
            </a:r>
          </a:p>
          <a:p>
            <a:pPr>
              <a:buFont typeface="Wingdings" panose="05000000000000000000" pitchFamily="2" charset="2"/>
              <a:buChar char="q"/>
            </a:pPr>
            <a:r>
              <a:rPr lang="en-US" sz="1800" dirty="0">
                <a:solidFill>
                  <a:srgbClr val="242021"/>
                </a:solidFill>
                <a:latin typeface="Times-Roman"/>
              </a:rPr>
              <a:t>M</a:t>
            </a:r>
            <a:r>
              <a:rPr lang="en-US" sz="1800" b="0" i="0" dirty="0">
                <a:solidFill>
                  <a:srgbClr val="242021"/>
                </a:solidFill>
                <a:effectLst/>
                <a:latin typeface="Times-Roman"/>
              </a:rPr>
              <a:t>aximum number of accepted tasks at each ECN and FCN in order to guarantee a specific QoS</a:t>
            </a:r>
            <a:r>
              <a:rPr lang="en-US" dirty="0"/>
              <a:t> </a:t>
            </a:r>
          </a:p>
          <a:p>
            <a:pPr>
              <a:buFont typeface="Wingdings" panose="05000000000000000000" pitchFamily="2" charset="2"/>
              <a:buChar char="q"/>
            </a:pPr>
            <a:r>
              <a:rPr lang="en-US" dirty="0"/>
              <a:t>Proposed procedure is iterative</a:t>
            </a:r>
            <a:br>
              <a:rPr lang="en-US" dirty="0"/>
            </a:br>
            <a:endParaRPr lang="en-US" dirty="0"/>
          </a:p>
        </p:txBody>
      </p:sp>
      <p:sp>
        <p:nvSpPr>
          <p:cNvPr id="4" name="Slide Number Placeholder 3">
            <a:extLst>
              <a:ext uri="{FF2B5EF4-FFF2-40B4-BE49-F238E27FC236}">
                <a16:creationId xmlns:a16="http://schemas.microsoft.com/office/drawing/2014/main" id="{2F828E14-C0AF-4BFC-8AAB-DBA1101C8FDF}"/>
              </a:ext>
            </a:extLst>
          </p:cNvPr>
          <p:cNvSpPr>
            <a:spLocks noGrp="1"/>
          </p:cNvSpPr>
          <p:nvPr>
            <p:ph type="sldNum" sz="quarter" idx="12"/>
          </p:nvPr>
        </p:nvSpPr>
        <p:spPr/>
        <p:txBody>
          <a:bodyPr/>
          <a:lstStyle/>
          <a:p>
            <a:fld id="{DC4CAFB8-3EF6-4FAF-BDFA-EA2F8D8834E4}" type="slidenum">
              <a:rPr lang="en-US" smtClean="0"/>
              <a:t>33</a:t>
            </a:fld>
            <a:endParaRPr lang="en-US"/>
          </a:p>
        </p:txBody>
      </p:sp>
      <p:sp>
        <p:nvSpPr>
          <p:cNvPr id="7" name="TextBox 6">
            <a:extLst>
              <a:ext uri="{FF2B5EF4-FFF2-40B4-BE49-F238E27FC236}">
                <a16:creationId xmlns:a16="http://schemas.microsoft.com/office/drawing/2014/main" id="{D7583493-4ABA-4BB3-8B5D-351F9DBBBFD4}"/>
              </a:ext>
            </a:extLst>
          </p:cNvPr>
          <p:cNvSpPr txBox="1"/>
          <p:nvPr/>
        </p:nvSpPr>
        <p:spPr>
          <a:xfrm>
            <a:off x="189571" y="6447755"/>
            <a:ext cx="3579542" cy="369332"/>
          </a:xfrm>
          <a:prstGeom prst="rect">
            <a:avLst/>
          </a:prstGeom>
          <a:noFill/>
        </p:spPr>
        <p:txBody>
          <a:bodyPr wrap="square" rtlCol="0">
            <a:spAutoFit/>
          </a:bodyPr>
          <a:lstStyle/>
          <a:p>
            <a:r>
              <a:rPr lang="en-US" dirty="0">
                <a:solidFill>
                  <a:schemeClr val="bg1"/>
                </a:solidFill>
              </a:rPr>
              <a:t>Mohammad Mahdi Manafi</a:t>
            </a:r>
          </a:p>
        </p:txBody>
      </p:sp>
    </p:spTree>
    <p:extLst>
      <p:ext uri="{BB962C8B-B14F-4D97-AF65-F5344CB8AC3E}">
        <p14:creationId xmlns:p14="http://schemas.microsoft.com/office/powerpoint/2010/main" val="2780298380"/>
      </p:ext>
    </p:extLst>
  </p:cSld>
  <p:clrMapOvr>
    <a:masterClrMapping/>
  </p:clrMapOvr>
</p:sld>
</file>

<file path=ppt/slides/slide3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Slide Number Placeholder 3">
            <a:extLst>
              <a:ext uri="{FF2B5EF4-FFF2-40B4-BE49-F238E27FC236}">
                <a16:creationId xmlns:a16="http://schemas.microsoft.com/office/drawing/2014/main" id="{92206949-F4C1-48ED-BA0C-D0E3E9245E1B}"/>
              </a:ext>
            </a:extLst>
          </p:cNvPr>
          <p:cNvSpPr>
            <a:spLocks noGrp="1"/>
          </p:cNvSpPr>
          <p:nvPr>
            <p:ph type="sldNum" sz="quarter" idx="12"/>
          </p:nvPr>
        </p:nvSpPr>
        <p:spPr/>
        <p:txBody>
          <a:bodyPr/>
          <a:lstStyle/>
          <a:p>
            <a:fld id="{DC4CAFB8-3EF6-4FAF-BDFA-EA2F8D8834E4}" type="slidenum">
              <a:rPr lang="en-US" smtClean="0"/>
              <a:t>34</a:t>
            </a:fld>
            <a:endParaRPr lang="en-US"/>
          </a:p>
        </p:txBody>
      </p:sp>
      <p:pic>
        <p:nvPicPr>
          <p:cNvPr id="7" name="Picture 6">
            <a:extLst>
              <a:ext uri="{FF2B5EF4-FFF2-40B4-BE49-F238E27FC236}">
                <a16:creationId xmlns:a16="http://schemas.microsoft.com/office/drawing/2014/main" id="{F310FDF3-F4E2-4361-87B7-813C652AA692}"/>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3810000" y="0"/>
            <a:ext cx="4572000" cy="6858000"/>
          </a:xfrm>
          <a:prstGeom prst="rect">
            <a:avLst/>
          </a:prstGeom>
        </p:spPr>
      </p:pic>
    </p:spTree>
    <p:extLst>
      <p:ext uri="{BB962C8B-B14F-4D97-AF65-F5344CB8AC3E}">
        <p14:creationId xmlns:p14="http://schemas.microsoft.com/office/powerpoint/2010/main" val="4213580430"/>
      </p:ext>
    </p:extLst>
  </p:cSld>
  <p:clrMapOvr>
    <a:masterClrMapping/>
  </p:clrMapOvr>
</p:sld>
</file>

<file path=ppt/slides/slide3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F33C20D-1744-4D6B-862A-B84418622EAA}"/>
              </a:ext>
            </a:extLst>
          </p:cNvPr>
          <p:cNvSpPr>
            <a:spLocks noGrp="1"/>
          </p:cNvSpPr>
          <p:nvPr>
            <p:ph type="title"/>
          </p:nvPr>
        </p:nvSpPr>
        <p:spPr/>
        <p:txBody>
          <a:bodyPr/>
          <a:lstStyle/>
          <a:p>
            <a:r>
              <a:rPr lang="en-US" dirty="0"/>
              <a:t>Numerical results</a:t>
            </a:r>
          </a:p>
        </p:txBody>
      </p:sp>
      <p:sp>
        <p:nvSpPr>
          <p:cNvPr id="3" name="Text Placeholder 2">
            <a:extLst>
              <a:ext uri="{FF2B5EF4-FFF2-40B4-BE49-F238E27FC236}">
                <a16:creationId xmlns:a16="http://schemas.microsoft.com/office/drawing/2014/main" id="{EB850ACD-0233-4DA9-8C1B-120B23CBDAA0}"/>
              </a:ext>
            </a:extLst>
          </p:cNvPr>
          <p:cNvSpPr>
            <a:spLocks noGrp="1"/>
          </p:cNvSpPr>
          <p:nvPr>
            <p:ph type="body" idx="1"/>
          </p:nvPr>
        </p:nvSpPr>
        <p:spPr/>
        <p:txBody>
          <a:bodyPr/>
          <a:lstStyle/>
          <a:p>
            <a:endParaRPr lang="en-US"/>
          </a:p>
        </p:txBody>
      </p:sp>
    </p:spTree>
    <p:extLst>
      <p:ext uri="{BB962C8B-B14F-4D97-AF65-F5344CB8AC3E}">
        <p14:creationId xmlns:p14="http://schemas.microsoft.com/office/powerpoint/2010/main" val="2178306949"/>
      </p:ext>
    </p:extLst>
  </p:cSld>
  <p:clrMapOvr>
    <a:masterClrMapping/>
  </p:clrMapOvr>
</p:sld>
</file>

<file path=ppt/slides/slide3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Title 4">
            <a:extLst>
              <a:ext uri="{FF2B5EF4-FFF2-40B4-BE49-F238E27FC236}">
                <a16:creationId xmlns:a16="http://schemas.microsoft.com/office/drawing/2014/main" id="{0F39D4E3-704A-49D7-B8C3-B4AE76FC17AB}"/>
              </a:ext>
            </a:extLst>
          </p:cNvPr>
          <p:cNvSpPr>
            <a:spLocks noGrp="1"/>
          </p:cNvSpPr>
          <p:nvPr>
            <p:ph type="title"/>
          </p:nvPr>
        </p:nvSpPr>
        <p:spPr/>
        <p:txBody>
          <a:bodyPr/>
          <a:lstStyle/>
          <a:p>
            <a:r>
              <a:rPr lang="en-US" dirty="0"/>
              <a:t>Setup  </a:t>
            </a:r>
          </a:p>
        </p:txBody>
      </p:sp>
      <p:sp>
        <p:nvSpPr>
          <p:cNvPr id="6" name="Content Placeholder 5">
            <a:extLst>
              <a:ext uri="{FF2B5EF4-FFF2-40B4-BE49-F238E27FC236}">
                <a16:creationId xmlns:a16="http://schemas.microsoft.com/office/drawing/2014/main" id="{E1364615-F592-4448-B47B-7205D116CAE3}"/>
              </a:ext>
            </a:extLst>
          </p:cNvPr>
          <p:cNvSpPr>
            <a:spLocks noGrp="1"/>
          </p:cNvSpPr>
          <p:nvPr>
            <p:ph idx="1"/>
          </p:nvPr>
        </p:nvSpPr>
        <p:spPr>
          <a:xfrm>
            <a:off x="1097280" y="1845734"/>
            <a:ext cx="5845780" cy="4023360"/>
          </a:xfrm>
        </p:spPr>
        <p:txBody>
          <a:bodyPr>
            <a:normAutofit/>
          </a:bodyPr>
          <a:lstStyle/>
          <a:p>
            <a:pPr>
              <a:buFont typeface="Wingdings" panose="05000000000000000000" pitchFamily="2" charset="2"/>
              <a:buChar char="q"/>
            </a:pPr>
            <a:r>
              <a:rPr lang="en-US" sz="1800" dirty="0">
                <a:solidFill>
                  <a:srgbClr val="242021"/>
                </a:solidFill>
                <a:latin typeface="Times-Roman"/>
              </a:rPr>
              <a:t>A</a:t>
            </a:r>
            <a:r>
              <a:rPr lang="en-US" sz="1800" b="0" i="0" dirty="0">
                <a:solidFill>
                  <a:srgbClr val="242021"/>
                </a:solidFill>
                <a:effectLst/>
                <a:latin typeface="Times-Roman"/>
              </a:rPr>
              <a:t>nalytical results (AR)</a:t>
            </a:r>
            <a:r>
              <a:rPr lang="en-US" dirty="0"/>
              <a:t> </a:t>
            </a:r>
          </a:p>
          <a:p>
            <a:pPr lvl="1">
              <a:buFont typeface="Wingdings" panose="05000000000000000000" pitchFamily="2" charset="2"/>
              <a:buChar char="q"/>
            </a:pPr>
            <a:r>
              <a:rPr lang="en-US" dirty="0"/>
              <a:t>From their Markov queueing models.</a:t>
            </a:r>
          </a:p>
          <a:p>
            <a:pPr>
              <a:buFont typeface="Wingdings" panose="05000000000000000000" pitchFamily="2" charset="2"/>
              <a:buChar char="q"/>
            </a:pPr>
            <a:r>
              <a:rPr lang="en-US" sz="1800" dirty="0">
                <a:solidFill>
                  <a:srgbClr val="242021"/>
                </a:solidFill>
                <a:latin typeface="Times-Roman"/>
              </a:rPr>
              <a:t>N</a:t>
            </a:r>
            <a:r>
              <a:rPr lang="en-US" sz="1800" b="0" i="0" dirty="0">
                <a:solidFill>
                  <a:srgbClr val="242021"/>
                </a:solidFill>
                <a:effectLst/>
                <a:latin typeface="Times-Roman"/>
              </a:rPr>
              <a:t>umerical results (SR)</a:t>
            </a:r>
            <a:r>
              <a:rPr lang="en-US" dirty="0"/>
              <a:t> </a:t>
            </a:r>
          </a:p>
          <a:p>
            <a:pPr lvl="1">
              <a:buFont typeface="Wingdings" panose="05000000000000000000" pitchFamily="2" charset="2"/>
              <a:buChar char="q"/>
            </a:pPr>
            <a:r>
              <a:rPr lang="en-US" dirty="0"/>
              <a:t>Monte Carlo simulations</a:t>
            </a:r>
          </a:p>
          <a:p>
            <a:pPr lvl="1">
              <a:buFont typeface="Wingdings" panose="05000000000000000000" pitchFamily="2" charset="2"/>
              <a:buChar char="q"/>
            </a:pPr>
            <a:r>
              <a:rPr lang="en-US" dirty="0"/>
              <a:t>2000 iteration</a:t>
            </a:r>
          </a:p>
          <a:p>
            <a:pPr>
              <a:buFont typeface="Wingdings" panose="05000000000000000000" pitchFamily="2" charset="2"/>
              <a:buChar char="q"/>
            </a:pPr>
            <a:r>
              <a:rPr lang="en-US" dirty="0"/>
              <a:t>Deliberately violate some of the Markov assumptions</a:t>
            </a:r>
          </a:p>
          <a:p>
            <a:pPr lvl="1">
              <a:buFont typeface="Wingdings" panose="05000000000000000000" pitchFamily="2" charset="2"/>
              <a:buChar char="q"/>
            </a:pPr>
            <a:r>
              <a:rPr lang="en-US" dirty="0"/>
              <a:t>Arrivals: Normal distribution</a:t>
            </a:r>
          </a:p>
          <a:p>
            <a:pPr lvl="1">
              <a:buFont typeface="Wingdings" panose="05000000000000000000" pitchFamily="2" charset="2"/>
              <a:buChar char="q"/>
            </a:pPr>
            <a:r>
              <a:rPr lang="en-US" dirty="0"/>
              <a:t>Service times: </a:t>
            </a:r>
            <a:r>
              <a:rPr lang="en-US" dirty="0" err="1"/>
              <a:t>Hyperexponential</a:t>
            </a:r>
            <a:r>
              <a:rPr lang="en-US" dirty="0"/>
              <a:t> distribution</a:t>
            </a:r>
          </a:p>
          <a:p>
            <a:pPr lvl="1">
              <a:buFont typeface="Wingdings" panose="05000000000000000000" pitchFamily="2" charset="2"/>
              <a:buChar char="q"/>
            </a:pPr>
            <a:r>
              <a:rPr lang="en-US" dirty="0"/>
              <a:t>also Weibull distribution</a:t>
            </a:r>
          </a:p>
          <a:p>
            <a:pPr lvl="1">
              <a:buFont typeface="Wingdings" panose="05000000000000000000" pitchFamily="2" charset="2"/>
              <a:buChar char="q"/>
            </a:pPr>
            <a:r>
              <a:rPr lang="en-US" dirty="0"/>
              <a:t>If the analytical model still matches simulation, then the queueing approximation is robust.</a:t>
            </a:r>
          </a:p>
          <a:p>
            <a:pPr>
              <a:buFont typeface="Wingdings" panose="05000000000000000000" pitchFamily="2" charset="2"/>
              <a:buChar char="q"/>
            </a:pPr>
            <a:endParaRPr lang="en-US" dirty="0"/>
          </a:p>
        </p:txBody>
      </p:sp>
      <p:sp>
        <p:nvSpPr>
          <p:cNvPr id="4" name="Slide Number Placeholder 3">
            <a:extLst>
              <a:ext uri="{FF2B5EF4-FFF2-40B4-BE49-F238E27FC236}">
                <a16:creationId xmlns:a16="http://schemas.microsoft.com/office/drawing/2014/main" id="{AA6A4A08-EFB9-4A3D-89BA-32DDD97BE348}"/>
              </a:ext>
            </a:extLst>
          </p:cNvPr>
          <p:cNvSpPr>
            <a:spLocks noGrp="1"/>
          </p:cNvSpPr>
          <p:nvPr>
            <p:ph type="sldNum" sz="quarter" idx="12"/>
          </p:nvPr>
        </p:nvSpPr>
        <p:spPr/>
        <p:txBody>
          <a:bodyPr/>
          <a:lstStyle/>
          <a:p>
            <a:fld id="{DC4CAFB8-3EF6-4FAF-BDFA-EA2F8D8834E4}" type="slidenum">
              <a:rPr lang="en-US" smtClean="0"/>
              <a:t>36</a:t>
            </a:fld>
            <a:endParaRPr lang="en-US"/>
          </a:p>
        </p:txBody>
      </p:sp>
      <p:sp>
        <p:nvSpPr>
          <p:cNvPr id="7" name="TextBox 6">
            <a:extLst>
              <a:ext uri="{FF2B5EF4-FFF2-40B4-BE49-F238E27FC236}">
                <a16:creationId xmlns:a16="http://schemas.microsoft.com/office/drawing/2014/main" id="{77EEF7FB-0591-4DF0-8540-034E3C351232}"/>
              </a:ext>
            </a:extLst>
          </p:cNvPr>
          <p:cNvSpPr txBox="1"/>
          <p:nvPr/>
        </p:nvSpPr>
        <p:spPr>
          <a:xfrm>
            <a:off x="189571" y="6447755"/>
            <a:ext cx="3579542" cy="369332"/>
          </a:xfrm>
          <a:prstGeom prst="rect">
            <a:avLst/>
          </a:prstGeom>
          <a:noFill/>
        </p:spPr>
        <p:txBody>
          <a:bodyPr wrap="square" rtlCol="0">
            <a:spAutoFit/>
          </a:bodyPr>
          <a:lstStyle/>
          <a:p>
            <a:r>
              <a:rPr lang="en-US" dirty="0">
                <a:solidFill>
                  <a:schemeClr val="bg1"/>
                </a:solidFill>
              </a:rPr>
              <a:t>Mohammad Mahdi Manafi</a:t>
            </a:r>
          </a:p>
        </p:txBody>
      </p:sp>
      <p:pic>
        <p:nvPicPr>
          <p:cNvPr id="3" name="Picture 2">
            <a:extLst>
              <a:ext uri="{FF2B5EF4-FFF2-40B4-BE49-F238E27FC236}">
                <a16:creationId xmlns:a16="http://schemas.microsoft.com/office/drawing/2014/main" id="{AB11D8EF-02B4-4402-8310-8F74BFC58EA8}"/>
              </a:ext>
            </a:extLst>
          </p:cNvPr>
          <p:cNvPicPr>
            <a:picLocks noChangeAspect="1"/>
          </p:cNvPicPr>
          <p:nvPr/>
        </p:nvPicPr>
        <p:blipFill>
          <a:blip r:embed="rId2"/>
          <a:stretch>
            <a:fillRect/>
          </a:stretch>
        </p:blipFill>
        <p:spPr>
          <a:xfrm>
            <a:off x="6943060" y="2127687"/>
            <a:ext cx="4764511" cy="2105976"/>
          </a:xfrm>
          <a:prstGeom prst="rect">
            <a:avLst/>
          </a:prstGeom>
        </p:spPr>
      </p:pic>
    </p:spTree>
    <p:extLst>
      <p:ext uri="{BB962C8B-B14F-4D97-AF65-F5344CB8AC3E}">
        <p14:creationId xmlns:p14="http://schemas.microsoft.com/office/powerpoint/2010/main" val="141935652"/>
      </p:ext>
    </p:extLst>
  </p:cSld>
  <p:clrMapOvr>
    <a:masterClrMapping/>
  </p:clrMapOvr>
</p:sld>
</file>

<file path=ppt/slides/slide3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BA90090-86CC-451D-B53E-30478B823CD1}"/>
              </a:ext>
            </a:extLst>
          </p:cNvPr>
          <p:cNvSpPr>
            <a:spLocks noGrp="1"/>
          </p:cNvSpPr>
          <p:nvPr>
            <p:ph type="title"/>
          </p:nvPr>
        </p:nvSpPr>
        <p:spPr/>
        <p:txBody>
          <a:bodyPr/>
          <a:lstStyle/>
          <a:p>
            <a:r>
              <a:rPr lang="en-US" dirty="0"/>
              <a:t>System parameters</a:t>
            </a:r>
          </a:p>
        </p:txBody>
      </p:sp>
      <mc:AlternateContent xmlns:mc="http://schemas.openxmlformats.org/markup-compatibility/2006" xmlns:a14="http://schemas.microsoft.com/office/drawing/2010/main">
        <mc:Choice Requires="a14">
          <p:graphicFrame>
            <p:nvGraphicFramePr>
              <p:cNvPr id="5" name="Table 5">
                <a:extLst>
                  <a:ext uri="{FF2B5EF4-FFF2-40B4-BE49-F238E27FC236}">
                    <a16:creationId xmlns:a16="http://schemas.microsoft.com/office/drawing/2014/main" id="{9AFB843B-9EE6-40BE-AE01-A88FF22080A2}"/>
                  </a:ext>
                </a:extLst>
              </p:cNvPr>
              <p:cNvGraphicFramePr>
                <a:graphicFrameLocks noGrp="1"/>
              </p:cNvGraphicFramePr>
              <p:nvPr>
                <p:ph idx="1"/>
                <p:extLst>
                  <p:ext uri="{D42A27DB-BD31-4B8C-83A1-F6EECF244321}">
                    <p14:modId xmlns:p14="http://schemas.microsoft.com/office/powerpoint/2010/main" val="1314481965"/>
                  </p:ext>
                </p:extLst>
              </p:nvPr>
            </p:nvGraphicFramePr>
            <p:xfrm>
              <a:off x="1999824" y="1821059"/>
              <a:ext cx="8429812" cy="2117260"/>
            </p:xfrm>
            <a:graphic>
              <a:graphicData uri="http://schemas.openxmlformats.org/drawingml/2006/table">
                <a:tbl>
                  <a:tblPr firstRow="1" bandRow="1">
                    <a:tableStyleId>{5C22544A-7EE6-4342-B048-85BDC9FD1C3A}</a:tableStyleId>
                  </a:tblPr>
                  <a:tblGrid>
                    <a:gridCol w="2107453">
                      <a:extLst>
                        <a:ext uri="{9D8B030D-6E8A-4147-A177-3AD203B41FA5}">
                          <a16:colId xmlns:a16="http://schemas.microsoft.com/office/drawing/2014/main" val="1071375460"/>
                        </a:ext>
                      </a:extLst>
                    </a:gridCol>
                    <a:gridCol w="2107453">
                      <a:extLst>
                        <a:ext uri="{9D8B030D-6E8A-4147-A177-3AD203B41FA5}">
                          <a16:colId xmlns:a16="http://schemas.microsoft.com/office/drawing/2014/main" val="2920769899"/>
                        </a:ext>
                      </a:extLst>
                    </a:gridCol>
                    <a:gridCol w="2107453">
                      <a:extLst>
                        <a:ext uri="{9D8B030D-6E8A-4147-A177-3AD203B41FA5}">
                          <a16:colId xmlns:a16="http://schemas.microsoft.com/office/drawing/2014/main" val="3368368193"/>
                        </a:ext>
                      </a:extLst>
                    </a:gridCol>
                    <a:gridCol w="2107453">
                      <a:extLst>
                        <a:ext uri="{9D8B030D-6E8A-4147-A177-3AD203B41FA5}">
                          <a16:colId xmlns:a16="http://schemas.microsoft.com/office/drawing/2014/main" val="2598599235"/>
                        </a:ext>
                      </a:extLst>
                    </a:gridCol>
                  </a:tblGrid>
                  <a:tr h="423452">
                    <a:tc>
                      <a:txBody>
                        <a:bodyPr/>
                        <a:lstStyle/>
                        <a:p>
                          <a:pPr algn="ctr"/>
                          <a:endParaRPr lang="en-US" dirty="0"/>
                        </a:p>
                      </a:txBody>
                      <a:tcPr/>
                    </a:tc>
                    <a:tc>
                      <a:txBody>
                        <a:bodyPr/>
                        <a:lstStyle/>
                        <a:p>
                          <a:pPr algn="ctr"/>
                          <a:r>
                            <a:rPr lang="en-US" dirty="0"/>
                            <a:t>Edge (each node)</a:t>
                          </a:r>
                        </a:p>
                      </a:txBody>
                      <a:tcPr/>
                    </a:tc>
                    <a:tc>
                      <a:txBody>
                        <a:bodyPr/>
                        <a:lstStyle/>
                        <a:p>
                          <a:pPr algn="ctr"/>
                          <a:r>
                            <a:rPr lang="en-US" dirty="0"/>
                            <a:t>Fog (each node)</a:t>
                          </a:r>
                        </a:p>
                      </a:txBody>
                      <a:tcPr/>
                    </a:tc>
                    <a:tc>
                      <a:txBody>
                        <a:bodyPr/>
                        <a:lstStyle/>
                        <a:p>
                          <a:pPr algn="ctr"/>
                          <a:r>
                            <a:rPr lang="en-US" dirty="0"/>
                            <a:t>Cloud</a:t>
                          </a:r>
                        </a:p>
                      </a:txBody>
                      <a:tcPr/>
                    </a:tc>
                    <a:extLst>
                      <a:ext uri="{0D108BD9-81ED-4DB2-BD59-A6C34878D82A}">
                        <a16:rowId xmlns:a16="http://schemas.microsoft.com/office/drawing/2014/main" val="2887533741"/>
                      </a:ext>
                    </a:extLst>
                  </a:tr>
                  <a:tr h="423452">
                    <a:tc>
                      <a:txBody>
                        <a:bodyPr/>
                        <a:lstStyle/>
                        <a:p>
                          <a:pPr algn="ctr"/>
                          <a:r>
                            <a:rPr lang="en-US" dirty="0"/>
                            <a:t>CPUs</a:t>
                          </a:r>
                        </a:p>
                      </a:txBody>
                      <a:tcP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lang="en-US" dirty="0"/>
                            <a:t>K = 14</a:t>
                          </a:r>
                        </a:p>
                      </a:txBody>
                      <a:tcPr/>
                    </a:tc>
                    <a:tc>
                      <a:txBody>
                        <a:bodyPr/>
                        <a:lstStyle/>
                        <a:p>
                          <a:pPr algn="ctr"/>
                          <a:r>
                            <a:rPr lang="en-US" dirty="0"/>
                            <a:t>F = 13</a:t>
                          </a:r>
                        </a:p>
                      </a:txBody>
                      <a:tcPr/>
                    </a:tc>
                    <a:tc>
                      <a:txBody>
                        <a:bodyPr/>
                        <a:lstStyle/>
                        <a:p>
                          <a:pPr algn="ctr"/>
                          <a:r>
                            <a:rPr lang="en-US" dirty="0"/>
                            <a:t>S = 16</a:t>
                          </a:r>
                        </a:p>
                      </a:txBody>
                      <a:tcPr/>
                    </a:tc>
                    <a:extLst>
                      <a:ext uri="{0D108BD9-81ED-4DB2-BD59-A6C34878D82A}">
                        <a16:rowId xmlns:a16="http://schemas.microsoft.com/office/drawing/2014/main" val="3537927691"/>
                      </a:ext>
                    </a:extLst>
                  </a:tr>
                  <a:tr h="423452">
                    <a:tc>
                      <a:txBody>
                        <a:bodyPr/>
                        <a:lstStyle/>
                        <a:p>
                          <a:pPr algn="ctr"/>
                          <a:r>
                            <a:rPr lang="en-US" dirty="0"/>
                            <a:t>Node count</a:t>
                          </a:r>
                        </a:p>
                      </a:txBody>
                      <a:tcP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lang="en-US" dirty="0"/>
                            <a:t>6</a:t>
                          </a:r>
                        </a:p>
                      </a:txBody>
                      <a:tcPr/>
                    </a:tc>
                    <a:tc>
                      <a:txBody>
                        <a:bodyPr/>
                        <a:lstStyle/>
                        <a:p>
                          <a:pPr algn="ctr"/>
                          <a:r>
                            <a:rPr lang="en-US" dirty="0"/>
                            <a:t>3</a:t>
                          </a:r>
                        </a:p>
                      </a:txBody>
                      <a:tcPr/>
                    </a:tc>
                    <a:tc>
                      <a:txBody>
                        <a:bodyPr/>
                        <a:lstStyle/>
                        <a:p>
                          <a:pPr algn="ctr"/>
                          <a:r>
                            <a:rPr lang="en-US" dirty="0"/>
                            <a:t>1</a:t>
                          </a:r>
                        </a:p>
                      </a:txBody>
                      <a:tcPr/>
                    </a:tc>
                    <a:extLst>
                      <a:ext uri="{0D108BD9-81ED-4DB2-BD59-A6C34878D82A}">
                        <a16:rowId xmlns:a16="http://schemas.microsoft.com/office/drawing/2014/main" val="2720970404"/>
                      </a:ext>
                    </a:extLst>
                  </a:tr>
                  <a:tr h="423452">
                    <a:tc>
                      <a:txBody>
                        <a:bodyPr/>
                        <a:lstStyle/>
                        <a:p>
                          <a:pPr algn="ctr"/>
                          <a:r>
                            <a:rPr lang="en-US" dirty="0"/>
                            <a:t>Mean service time</a:t>
                          </a:r>
                        </a:p>
                      </a:txBody>
                      <a:tcP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14:m>
                            <m:oMath xmlns:m="http://schemas.openxmlformats.org/officeDocument/2006/math">
                              <m:sSub>
                                <m:sSubPr>
                                  <m:ctrlPr>
                                    <a:rPr lang="en-US" i="1" smtClean="0">
                                      <a:latin typeface="Cambria Math" panose="02040503050406030204" pitchFamily="18" charset="0"/>
                                    </a:rPr>
                                  </m:ctrlPr>
                                </m:sSubPr>
                                <m:e>
                                  <m:r>
                                    <a:rPr lang="en-US" b="0" i="1" smtClean="0">
                                      <a:latin typeface="Cambria Math" panose="02040503050406030204" pitchFamily="18" charset="0"/>
                                    </a:rPr>
                                    <m:t>𝑇</m:t>
                                  </m:r>
                                </m:e>
                                <m:sub>
                                  <m:r>
                                    <a:rPr lang="en-US" b="0" i="1" smtClean="0">
                                      <a:latin typeface="Cambria Math" panose="02040503050406030204" pitchFamily="18" charset="0"/>
                                    </a:rPr>
                                    <m:t>𝐸</m:t>
                                  </m:r>
                                </m:sub>
                              </m:sSub>
                              <m:r>
                                <a:rPr lang="en-US" b="0" i="1" smtClean="0">
                                  <a:latin typeface="Cambria Math" panose="02040503050406030204" pitchFamily="18" charset="0"/>
                                </a:rPr>
                                <m:t>=</m:t>
                              </m:r>
                              <m:sSub>
                                <m:sSubPr>
                                  <m:ctrlPr>
                                    <a:rPr lang="en-US" i="1" smtClean="0">
                                      <a:latin typeface="Cambria Math" panose="02040503050406030204" pitchFamily="18" charset="0"/>
                                    </a:rPr>
                                  </m:ctrlPr>
                                </m:sSubPr>
                                <m:e>
                                  <m:r>
                                    <a:rPr lang="en-US" b="0" i="1" smtClean="0">
                                      <a:latin typeface="Cambria Math" panose="02040503050406030204" pitchFamily="18" charset="0"/>
                                    </a:rPr>
                                    <m:t>𝐸</m:t>
                                  </m:r>
                                  <m:r>
                                    <a:rPr lang="en-US" b="0" i="1" smtClean="0">
                                      <a:latin typeface="Cambria Math" panose="02040503050406030204" pitchFamily="18" charset="0"/>
                                    </a:rPr>
                                    <m:t>[</m:t>
                                  </m:r>
                                  <m:r>
                                    <a:rPr lang="en-US" i="1" smtClean="0">
                                      <a:latin typeface="Cambria Math" panose="02040503050406030204" pitchFamily="18" charset="0"/>
                                      <a:ea typeface="Cambria Math" panose="02040503050406030204" pitchFamily="18" charset="0"/>
                                    </a:rPr>
                                    <m:t>𝜇</m:t>
                                  </m:r>
                                </m:e>
                                <m:sub>
                                  <m:r>
                                    <a:rPr lang="en-US" b="0" i="1" smtClean="0">
                                      <a:latin typeface="Cambria Math" panose="02040503050406030204" pitchFamily="18" charset="0"/>
                                    </a:rPr>
                                    <m:t>𝐸</m:t>
                                  </m:r>
                                </m:sub>
                              </m:sSub>
                              <m:r>
                                <a:rPr lang="en-US" b="0" i="1" smtClean="0">
                                  <a:latin typeface="Cambria Math" panose="02040503050406030204" pitchFamily="18" charset="0"/>
                                </a:rPr>
                                <m:t>]=</m:t>
                              </m:r>
                            </m:oMath>
                          </a14:m>
                          <a:r>
                            <a:rPr lang="en-US" dirty="0"/>
                            <a:t> 0.1s</a:t>
                          </a:r>
                        </a:p>
                      </a:txBody>
                      <a:tcPr/>
                    </a:tc>
                    <a:tc>
                      <a:txBody>
                        <a:bodyPr/>
                        <a:lstStyle/>
                        <a:p>
                          <a:pPr algn="ctr"/>
                          <a14:m>
                            <m:oMath xmlns:m="http://schemas.openxmlformats.org/officeDocument/2006/math">
                              <m:sSub>
                                <m:sSubPr>
                                  <m:ctrlPr>
                                    <a:rPr lang="en-US" i="1" smtClean="0">
                                      <a:latin typeface="Cambria Math" panose="02040503050406030204" pitchFamily="18" charset="0"/>
                                    </a:rPr>
                                  </m:ctrlPr>
                                </m:sSubPr>
                                <m:e>
                                  <m:r>
                                    <a:rPr lang="en-US" b="0" i="1" smtClean="0">
                                      <a:latin typeface="Cambria Math" panose="02040503050406030204" pitchFamily="18" charset="0"/>
                                    </a:rPr>
                                    <m:t>𝑇</m:t>
                                  </m:r>
                                </m:e>
                                <m:sub>
                                  <m:r>
                                    <a:rPr lang="en-US" b="0" i="1" smtClean="0">
                                      <a:latin typeface="Cambria Math" panose="02040503050406030204" pitchFamily="18" charset="0"/>
                                    </a:rPr>
                                    <m:t>𝐹𝐶</m:t>
                                  </m:r>
                                </m:sub>
                              </m:sSub>
                              <m:r>
                                <a:rPr lang="en-US" b="0" i="1" smtClean="0">
                                  <a:latin typeface="Cambria Math" panose="02040503050406030204" pitchFamily="18" charset="0"/>
                                </a:rPr>
                                <m:t>=</m:t>
                              </m:r>
                              <m:sSub>
                                <m:sSubPr>
                                  <m:ctrlPr>
                                    <a:rPr lang="en-US" i="1" smtClean="0">
                                      <a:latin typeface="Cambria Math" panose="02040503050406030204" pitchFamily="18" charset="0"/>
                                    </a:rPr>
                                  </m:ctrlPr>
                                </m:sSubPr>
                                <m:e>
                                  <m:r>
                                    <a:rPr lang="en-US" b="0" i="1" smtClean="0">
                                      <a:latin typeface="Cambria Math" panose="02040503050406030204" pitchFamily="18" charset="0"/>
                                    </a:rPr>
                                    <m:t>𝐸</m:t>
                                  </m:r>
                                  <m:r>
                                    <a:rPr lang="en-US" b="0" i="1" smtClean="0">
                                      <a:latin typeface="Cambria Math" panose="02040503050406030204" pitchFamily="18" charset="0"/>
                                    </a:rPr>
                                    <m:t>[</m:t>
                                  </m:r>
                                  <m:r>
                                    <a:rPr lang="en-US" i="1" smtClean="0">
                                      <a:latin typeface="Cambria Math" panose="02040503050406030204" pitchFamily="18" charset="0"/>
                                      <a:ea typeface="Cambria Math" panose="02040503050406030204" pitchFamily="18" charset="0"/>
                                    </a:rPr>
                                    <m:t>𝜇</m:t>
                                  </m:r>
                                </m:e>
                                <m:sub>
                                  <m:r>
                                    <a:rPr lang="en-US" b="0" i="1" smtClean="0">
                                      <a:latin typeface="Cambria Math" panose="02040503050406030204" pitchFamily="18" charset="0"/>
                                      <a:ea typeface="Cambria Math" panose="02040503050406030204" pitchFamily="18" charset="0"/>
                                    </a:rPr>
                                    <m:t>𝐹</m:t>
                                  </m:r>
                                </m:sub>
                              </m:sSub>
                              <m:r>
                                <a:rPr lang="en-US" b="0" i="1" smtClean="0">
                                  <a:latin typeface="Cambria Math" panose="02040503050406030204" pitchFamily="18" charset="0"/>
                                  <a:ea typeface="Cambria Math" panose="02040503050406030204" pitchFamily="18" charset="0"/>
                                </a:rPr>
                                <m:t>]=</m:t>
                              </m:r>
                            </m:oMath>
                          </a14:m>
                          <a:r>
                            <a:rPr lang="en-US" dirty="0"/>
                            <a:t> 0.2s</a:t>
                          </a:r>
                        </a:p>
                      </a:txBody>
                      <a:tcPr/>
                    </a:tc>
                    <a:tc>
                      <a:txBody>
                        <a:bodyPr/>
                        <a:lstStyle/>
                        <a:p>
                          <a:pPr algn="ctr"/>
                          <a14:m>
                            <m:oMath xmlns:m="http://schemas.openxmlformats.org/officeDocument/2006/math">
                              <m:sSub>
                                <m:sSubPr>
                                  <m:ctrlPr>
                                    <a:rPr lang="en-US" i="1" smtClean="0">
                                      <a:latin typeface="Cambria Math" panose="02040503050406030204" pitchFamily="18" charset="0"/>
                                    </a:rPr>
                                  </m:ctrlPr>
                                </m:sSubPr>
                                <m:e>
                                  <m:sSub>
                                    <m:sSubPr>
                                      <m:ctrlPr>
                                        <a:rPr lang="en-US" i="1" smtClean="0">
                                          <a:latin typeface="Cambria Math" panose="02040503050406030204" pitchFamily="18" charset="0"/>
                                        </a:rPr>
                                      </m:ctrlPr>
                                    </m:sSubPr>
                                    <m:e>
                                      <m:r>
                                        <a:rPr lang="en-US" b="0" i="1" smtClean="0">
                                          <a:latin typeface="Cambria Math" panose="02040503050406030204" pitchFamily="18" charset="0"/>
                                        </a:rPr>
                                        <m:t>𝑇</m:t>
                                      </m:r>
                                    </m:e>
                                    <m:sub>
                                      <m:r>
                                        <a:rPr lang="en-US" b="0" i="1" smtClean="0">
                                          <a:latin typeface="Cambria Math" panose="02040503050406030204" pitchFamily="18" charset="0"/>
                                        </a:rPr>
                                        <m:t>𝐶</m:t>
                                      </m:r>
                                    </m:sub>
                                  </m:sSub>
                                  <m:r>
                                    <a:rPr lang="en-US" b="0" i="1" smtClean="0">
                                      <a:latin typeface="Cambria Math" panose="02040503050406030204" pitchFamily="18" charset="0"/>
                                    </a:rPr>
                                    <m:t>=</m:t>
                                  </m:r>
                                  <m:r>
                                    <a:rPr lang="en-US" b="0" i="1" smtClean="0">
                                      <a:latin typeface="Cambria Math" panose="02040503050406030204" pitchFamily="18" charset="0"/>
                                    </a:rPr>
                                    <m:t>𝐸</m:t>
                                  </m:r>
                                  <m:r>
                                    <a:rPr lang="en-US" b="0" i="1" smtClean="0">
                                      <a:latin typeface="Cambria Math" panose="02040503050406030204" pitchFamily="18" charset="0"/>
                                    </a:rPr>
                                    <m:t>[</m:t>
                                  </m:r>
                                  <m:r>
                                    <a:rPr lang="en-US" i="1" smtClean="0">
                                      <a:latin typeface="Cambria Math" panose="02040503050406030204" pitchFamily="18" charset="0"/>
                                      <a:ea typeface="Cambria Math" panose="02040503050406030204" pitchFamily="18" charset="0"/>
                                    </a:rPr>
                                    <m:t>𝜇</m:t>
                                  </m:r>
                                </m:e>
                                <m:sub>
                                  <m:r>
                                    <a:rPr lang="en-US" b="0" i="1" smtClean="0">
                                      <a:latin typeface="Cambria Math" panose="02040503050406030204" pitchFamily="18" charset="0"/>
                                      <a:ea typeface="Cambria Math" panose="02040503050406030204" pitchFamily="18" charset="0"/>
                                    </a:rPr>
                                    <m:t>𝐶</m:t>
                                  </m:r>
                                </m:sub>
                              </m:sSub>
                              <m:r>
                                <a:rPr lang="en-US" b="0" i="1" smtClean="0">
                                  <a:latin typeface="Cambria Math" panose="02040503050406030204" pitchFamily="18" charset="0"/>
                                  <a:ea typeface="Cambria Math" panose="02040503050406030204" pitchFamily="18" charset="0"/>
                                </a:rPr>
                                <m:t>]=</m:t>
                              </m:r>
                            </m:oMath>
                          </a14:m>
                          <a:r>
                            <a:rPr lang="en-US" dirty="0"/>
                            <a:t> 0.4s</a:t>
                          </a:r>
                        </a:p>
                      </a:txBody>
                      <a:tcPr/>
                    </a:tc>
                    <a:extLst>
                      <a:ext uri="{0D108BD9-81ED-4DB2-BD59-A6C34878D82A}">
                        <a16:rowId xmlns:a16="http://schemas.microsoft.com/office/drawing/2014/main" val="2586122978"/>
                      </a:ext>
                    </a:extLst>
                  </a:tr>
                  <a:tr h="423452">
                    <a:tc>
                      <a:txBody>
                        <a:bodyPr/>
                        <a:lstStyle/>
                        <a:p>
                          <a:pPr algn="ctr"/>
                          <a:r>
                            <a:rPr lang="en-US" dirty="0"/>
                            <a:t>Rate (job per sec)</a:t>
                          </a:r>
                        </a:p>
                      </a:txBody>
                      <a:tcP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14:m>
                            <m:oMathPara xmlns:m="http://schemas.openxmlformats.org/officeDocument/2006/math">
                              <m:oMathParaPr>
                                <m:jc m:val="centerGroup"/>
                              </m:oMathParaPr>
                              <m:oMath xmlns:m="http://schemas.openxmlformats.org/officeDocument/2006/math">
                                <m:sSub>
                                  <m:sSubPr>
                                    <m:ctrlPr>
                                      <a:rPr lang="en-US" i="1" smtClean="0">
                                        <a:latin typeface="Cambria Math" panose="02040503050406030204" pitchFamily="18" charset="0"/>
                                      </a:rPr>
                                    </m:ctrlPr>
                                  </m:sSubPr>
                                  <m:e>
                                    <m:r>
                                      <a:rPr lang="en-US" i="1" smtClean="0">
                                        <a:latin typeface="Cambria Math" panose="02040503050406030204" pitchFamily="18" charset="0"/>
                                        <a:ea typeface="Cambria Math" panose="02040503050406030204" pitchFamily="18" charset="0"/>
                                      </a:rPr>
                                      <m:t>𝜇</m:t>
                                    </m:r>
                                  </m:e>
                                  <m:sub>
                                    <m:r>
                                      <a:rPr lang="en-US" b="0" i="1" smtClean="0">
                                        <a:latin typeface="Cambria Math" panose="02040503050406030204" pitchFamily="18" charset="0"/>
                                      </a:rPr>
                                      <m:t>𝐸</m:t>
                                    </m:r>
                                  </m:sub>
                                </m:sSub>
                                <m:r>
                                  <a:rPr lang="en-US" b="0" i="1" smtClean="0">
                                    <a:latin typeface="Cambria Math" panose="02040503050406030204" pitchFamily="18" charset="0"/>
                                  </a:rPr>
                                  <m:t>=10</m:t>
                                </m:r>
                              </m:oMath>
                            </m:oMathPara>
                          </a14:m>
                          <a:endParaRPr lang="en-US" dirty="0"/>
                        </a:p>
                      </a:txBody>
                      <a:tcP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14:m>
                            <m:oMathPara xmlns:m="http://schemas.openxmlformats.org/officeDocument/2006/math">
                              <m:oMathParaPr>
                                <m:jc m:val="centerGroup"/>
                              </m:oMathParaPr>
                              <m:oMath xmlns:m="http://schemas.openxmlformats.org/officeDocument/2006/math">
                                <m:sSub>
                                  <m:sSubPr>
                                    <m:ctrlPr>
                                      <a:rPr lang="en-US" i="1" smtClean="0">
                                        <a:latin typeface="Cambria Math" panose="02040503050406030204" pitchFamily="18" charset="0"/>
                                      </a:rPr>
                                    </m:ctrlPr>
                                  </m:sSubPr>
                                  <m:e>
                                    <m:r>
                                      <a:rPr lang="en-US" i="1" smtClean="0">
                                        <a:latin typeface="Cambria Math" panose="02040503050406030204" pitchFamily="18" charset="0"/>
                                        <a:ea typeface="Cambria Math" panose="02040503050406030204" pitchFamily="18" charset="0"/>
                                      </a:rPr>
                                      <m:t>𝜇</m:t>
                                    </m:r>
                                  </m:e>
                                  <m:sub>
                                    <m:r>
                                      <a:rPr lang="en-US" b="0" i="1" smtClean="0">
                                        <a:latin typeface="Cambria Math" panose="02040503050406030204" pitchFamily="18" charset="0"/>
                                        <a:ea typeface="Cambria Math" panose="02040503050406030204" pitchFamily="18" charset="0"/>
                                      </a:rPr>
                                      <m:t>𝐹</m:t>
                                    </m:r>
                                  </m:sub>
                                </m:sSub>
                                <m:r>
                                  <a:rPr lang="en-US" b="0" i="1" smtClean="0">
                                    <a:latin typeface="Cambria Math" panose="02040503050406030204" pitchFamily="18" charset="0"/>
                                  </a:rPr>
                                  <m:t>=5</m:t>
                                </m:r>
                              </m:oMath>
                            </m:oMathPara>
                          </a14:m>
                          <a:endParaRPr lang="en-US" dirty="0"/>
                        </a:p>
                      </a:txBody>
                      <a:tcP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14:m>
                            <m:oMathPara xmlns:m="http://schemas.openxmlformats.org/officeDocument/2006/math">
                              <m:oMathParaPr>
                                <m:jc m:val="centerGroup"/>
                              </m:oMathParaPr>
                              <m:oMath xmlns:m="http://schemas.openxmlformats.org/officeDocument/2006/math">
                                <m:sSub>
                                  <m:sSubPr>
                                    <m:ctrlPr>
                                      <a:rPr lang="en-US" i="1" smtClean="0">
                                        <a:latin typeface="Cambria Math" panose="02040503050406030204" pitchFamily="18" charset="0"/>
                                      </a:rPr>
                                    </m:ctrlPr>
                                  </m:sSubPr>
                                  <m:e>
                                    <m:r>
                                      <a:rPr lang="en-US" i="1" smtClean="0">
                                        <a:latin typeface="Cambria Math" panose="02040503050406030204" pitchFamily="18" charset="0"/>
                                        <a:ea typeface="Cambria Math" panose="02040503050406030204" pitchFamily="18" charset="0"/>
                                      </a:rPr>
                                      <m:t>𝜇</m:t>
                                    </m:r>
                                  </m:e>
                                  <m:sub>
                                    <m:r>
                                      <a:rPr lang="en-US" b="0" i="1" smtClean="0">
                                        <a:latin typeface="Cambria Math" panose="02040503050406030204" pitchFamily="18" charset="0"/>
                                        <a:ea typeface="Cambria Math" panose="02040503050406030204" pitchFamily="18" charset="0"/>
                                      </a:rPr>
                                      <m:t>𝐶</m:t>
                                    </m:r>
                                  </m:sub>
                                </m:sSub>
                                <m:r>
                                  <a:rPr lang="en-US" b="0" i="1" smtClean="0">
                                    <a:latin typeface="Cambria Math" panose="02040503050406030204" pitchFamily="18" charset="0"/>
                                  </a:rPr>
                                  <m:t>=2.5</m:t>
                                </m:r>
                              </m:oMath>
                            </m:oMathPara>
                          </a14:m>
                          <a:endParaRPr lang="en-US" dirty="0"/>
                        </a:p>
                      </a:txBody>
                      <a:tcPr/>
                    </a:tc>
                    <a:extLst>
                      <a:ext uri="{0D108BD9-81ED-4DB2-BD59-A6C34878D82A}">
                        <a16:rowId xmlns:a16="http://schemas.microsoft.com/office/drawing/2014/main" val="2055302913"/>
                      </a:ext>
                    </a:extLst>
                  </a:tr>
                </a:tbl>
              </a:graphicData>
            </a:graphic>
          </p:graphicFrame>
        </mc:Choice>
        <mc:Fallback xmlns="">
          <p:graphicFrame>
            <p:nvGraphicFramePr>
              <p:cNvPr id="5" name="Table 5">
                <a:extLst>
                  <a:ext uri="{FF2B5EF4-FFF2-40B4-BE49-F238E27FC236}">
                    <a16:creationId xmlns:a16="http://schemas.microsoft.com/office/drawing/2014/main" id="{9AFB843B-9EE6-40BE-AE01-A88FF22080A2}"/>
                  </a:ext>
                </a:extLst>
              </p:cNvPr>
              <p:cNvGraphicFramePr>
                <a:graphicFrameLocks noGrp="1"/>
              </p:cNvGraphicFramePr>
              <p:nvPr>
                <p:ph idx="1"/>
                <p:extLst>
                  <p:ext uri="{D42A27DB-BD31-4B8C-83A1-F6EECF244321}">
                    <p14:modId xmlns:p14="http://schemas.microsoft.com/office/powerpoint/2010/main" val="1314481965"/>
                  </p:ext>
                </p:extLst>
              </p:nvPr>
            </p:nvGraphicFramePr>
            <p:xfrm>
              <a:off x="1999824" y="1821059"/>
              <a:ext cx="8429812" cy="2117260"/>
            </p:xfrm>
            <a:graphic>
              <a:graphicData uri="http://schemas.openxmlformats.org/drawingml/2006/table">
                <a:tbl>
                  <a:tblPr firstRow="1" bandRow="1">
                    <a:tableStyleId>{5C22544A-7EE6-4342-B048-85BDC9FD1C3A}</a:tableStyleId>
                  </a:tblPr>
                  <a:tblGrid>
                    <a:gridCol w="2107453">
                      <a:extLst>
                        <a:ext uri="{9D8B030D-6E8A-4147-A177-3AD203B41FA5}">
                          <a16:colId xmlns:a16="http://schemas.microsoft.com/office/drawing/2014/main" val="1071375460"/>
                        </a:ext>
                      </a:extLst>
                    </a:gridCol>
                    <a:gridCol w="2107453">
                      <a:extLst>
                        <a:ext uri="{9D8B030D-6E8A-4147-A177-3AD203B41FA5}">
                          <a16:colId xmlns:a16="http://schemas.microsoft.com/office/drawing/2014/main" val="2920769899"/>
                        </a:ext>
                      </a:extLst>
                    </a:gridCol>
                    <a:gridCol w="2107453">
                      <a:extLst>
                        <a:ext uri="{9D8B030D-6E8A-4147-A177-3AD203B41FA5}">
                          <a16:colId xmlns:a16="http://schemas.microsoft.com/office/drawing/2014/main" val="3368368193"/>
                        </a:ext>
                      </a:extLst>
                    </a:gridCol>
                    <a:gridCol w="2107453">
                      <a:extLst>
                        <a:ext uri="{9D8B030D-6E8A-4147-A177-3AD203B41FA5}">
                          <a16:colId xmlns:a16="http://schemas.microsoft.com/office/drawing/2014/main" val="2598599235"/>
                        </a:ext>
                      </a:extLst>
                    </a:gridCol>
                  </a:tblGrid>
                  <a:tr h="423452">
                    <a:tc>
                      <a:txBody>
                        <a:bodyPr/>
                        <a:lstStyle/>
                        <a:p>
                          <a:pPr algn="ctr"/>
                          <a:endParaRPr lang="en-US" dirty="0"/>
                        </a:p>
                      </a:txBody>
                      <a:tcPr/>
                    </a:tc>
                    <a:tc>
                      <a:txBody>
                        <a:bodyPr/>
                        <a:lstStyle/>
                        <a:p>
                          <a:pPr algn="ctr"/>
                          <a:r>
                            <a:rPr lang="en-US" dirty="0"/>
                            <a:t>Edge (each node)</a:t>
                          </a:r>
                        </a:p>
                      </a:txBody>
                      <a:tcPr/>
                    </a:tc>
                    <a:tc>
                      <a:txBody>
                        <a:bodyPr/>
                        <a:lstStyle/>
                        <a:p>
                          <a:pPr algn="ctr"/>
                          <a:r>
                            <a:rPr lang="en-US" dirty="0"/>
                            <a:t>Fog (each node)</a:t>
                          </a:r>
                        </a:p>
                      </a:txBody>
                      <a:tcPr/>
                    </a:tc>
                    <a:tc>
                      <a:txBody>
                        <a:bodyPr/>
                        <a:lstStyle/>
                        <a:p>
                          <a:pPr algn="ctr"/>
                          <a:r>
                            <a:rPr lang="en-US" dirty="0"/>
                            <a:t>Cloud</a:t>
                          </a:r>
                        </a:p>
                      </a:txBody>
                      <a:tcPr/>
                    </a:tc>
                    <a:extLst>
                      <a:ext uri="{0D108BD9-81ED-4DB2-BD59-A6C34878D82A}">
                        <a16:rowId xmlns:a16="http://schemas.microsoft.com/office/drawing/2014/main" val="2887533741"/>
                      </a:ext>
                    </a:extLst>
                  </a:tr>
                  <a:tr h="423452">
                    <a:tc>
                      <a:txBody>
                        <a:bodyPr/>
                        <a:lstStyle/>
                        <a:p>
                          <a:pPr algn="ctr"/>
                          <a:r>
                            <a:rPr lang="en-US" dirty="0"/>
                            <a:t>CPUs</a:t>
                          </a:r>
                        </a:p>
                      </a:txBody>
                      <a:tcP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lang="en-US" dirty="0"/>
                            <a:t>K = 14</a:t>
                          </a:r>
                        </a:p>
                      </a:txBody>
                      <a:tcPr/>
                    </a:tc>
                    <a:tc>
                      <a:txBody>
                        <a:bodyPr/>
                        <a:lstStyle/>
                        <a:p>
                          <a:pPr algn="ctr"/>
                          <a:r>
                            <a:rPr lang="en-US" dirty="0"/>
                            <a:t>F = 13</a:t>
                          </a:r>
                        </a:p>
                      </a:txBody>
                      <a:tcPr/>
                    </a:tc>
                    <a:tc>
                      <a:txBody>
                        <a:bodyPr/>
                        <a:lstStyle/>
                        <a:p>
                          <a:pPr algn="ctr"/>
                          <a:r>
                            <a:rPr lang="en-US" dirty="0"/>
                            <a:t>S = 16</a:t>
                          </a:r>
                        </a:p>
                      </a:txBody>
                      <a:tcPr/>
                    </a:tc>
                    <a:extLst>
                      <a:ext uri="{0D108BD9-81ED-4DB2-BD59-A6C34878D82A}">
                        <a16:rowId xmlns:a16="http://schemas.microsoft.com/office/drawing/2014/main" val="3537927691"/>
                      </a:ext>
                    </a:extLst>
                  </a:tr>
                  <a:tr h="423452">
                    <a:tc>
                      <a:txBody>
                        <a:bodyPr/>
                        <a:lstStyle/>
                        <a:p>
                          <a:pPr algn="ctr"/>
                          <a:r>
                            <a:rPr lang="en-US" dirty="0"/>
                            <a:t>Node count</a:t>
                          </a:r>
                        </a:p>
                      </a:txBody>
                      <a:tcP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lang="en-US" dirty="0"/>
                            <a:t>6</a:t>
                          </a:r>
                        </a:p>
                      </a:txBody>
                      <a:tcPr/>
                    </a:tc>
                    <a:tc>
                      <a:txBody>
                        <a:bodyPr/>
                        <a:lstStyle/>
                        <a:p>
                          <a:pPr algn="ctr"/>
                          <a:r>
                            <a:rPr lang="en-US" dirty="0"/>
                            <a:t>3</a:t>
                          </a:r>
                        </a:p>
                      </a:txBody>
                      <a:tcPr/>
                    </a:tc>
                    <a:tc>
                      <a:txBody>
                        <a:bodyPr/>
                        <a:lstStyle/>
                        <a:p>
                          <a:pPr algn="ctr"/>
                          <a:r>
                            <a:rPr lang="en-US" dirty="0"/>
                            <a:t>1</a:t>
                          </a:r>
                        </a:p>
                      </a:txBody>
                      <a:tcPr/>
                    </a:tc>
                    <a:extLst>
                      <a:ext uri="{0D108BD9-81ED-4DB2-BD59-A6C34878D82A}">
                        <a16:rowId xmlns:a16="http://schemas.microsoft.com/office/drawing/2014/main" val="2720970404"/>
                      </a:ext>
                    </a:extLst>
                  </a:tr>
                  <a:tr h="423452">
                    <a:tc>
                      <a:txBody>
                        <a:bodyPr/>
                        <a:lstStyle/>
                        <a:p>
                          <a:pPr algn="ctr"/>
                          <a:r>
                            <a:rPr lang="en-US" dirty="0"/>
                            <a:t>Mean service time</a:t>
                          </a:r>
                        </a:p>
                      </a:txBody>
                      <a:tcPr/>
                    </a:tc>
                    <a:tc>
                      <a:txBody>
                        <a:bodyPr/>
                        <a:lstStyle/>
                        <a:p>
                          <a:endParaRPr lang="en-US"/>
                        </a:p>
                      </a:txBody>
                      <a:tcPr>
                        <a:blipFill>
                          <a:blip r:embed="rId2"/>
                          <a:stretch>
                            <a:fillRect l="-100289" t="-305714" r="-201156" b="-108571"/>
                          </a:stretch>
                        </a:blipFill>
                      </a:tcPr>
                    </a:tc>
                    <a:tc>
                      <a:txBody>
                        <a:bodyPr/>
                        <a:lstStyle/>
                        <a:p>
                          <a:endParaRPr lang="en-US"/>
                        </a:p>
                      </a:txBody>
                      <a:tcPr>
                        <a:blipFill>
                          <a:blip r:embed="rId2"/>
                          <a:stretch>
                            <a:fillRect l="-200870" t="-305714" r="-101739" b="-108571"/>
                          </a:stretch>
                        </a:blipFill>
                      </a:tcPr>
                    </a:tc>
                    <a:tc>
                      <a:txBody>
                        <a:bodyPr/>
                        <a:lstStyle/>
                        <a:p>
                          <a:endParaRPr lang="en-US"/>
                        </a:p>
                      </a:txBody>
                      <a:tcPr>
                        <a:blipFill>
                          <a:blip r:embed="rId2"/>
                          <a:stretch>
                            <a:fillRect l="-300000" t="-305714" r="-1445" b="-108571"/>
                          </a:stretch>
                        </a:blipFill>
                      </a:tcPr>
                    </a:tc>
                    <a:extLst>
                      <a:ext uri="{0D108BD9-81ED-4DB2-BD59-A6C34878D82A}">
                        <a16:rowId xmlns:a16="http://schemas.microsoft.com/office/drawing/2014/main" val="2586122978"/>
                      </a:ext>
                    </a:extLst>
                  </a:tr>
                  <a:tr h="423452">
                    <a:tc>
                      <a:txBody>
                        <a:bodyPr/>
                        <a:lstStyle/>
                        <a:p>
                          <a:pPr algn="ctr"/>
                          <a:r>
                            <a:rPr lang="en-US" dirty="0"/>
                            <a:t>Rate (job per sec)</a:t>
                          </a:r>
                        </a:p>
                      </a:txBody>
                      <a:tcPr/>
                    </a:tc>
                    <a:tc>
                      <a:txBody>
                        <a:bodyPr/>
                        <a:lstStyle/>
                        <a:p>
                          <a:endParaRPr lang="en-US"/>
                        </a:p>
                      </a:txBody>
                      <a:tcPr>
                        <a:blipFill>
                          <a:blip r:embed="rId2"/>
                          <a:stretch>
                            <a:fillRect l="-100289" t="-405714" r="-201156" b="-8571"/>
                          </a:stretch>
                        </a:blipFill>
                      </a:tcPr>
                    </a:tc>
                    <a:tc>
                      <a:txBody>
                        <a:bodyPr/>
                        <a:lstStyle/>
                        <a:p>
                          <a:endParaRPr lang="en-US"/>
                        </a:p>
                      </a:txBody>
                      <a:tcPr>
                        <a:blipFill>
                          <a:blip r:embed="rId2"/>
                          <a:stretch>
                            <a:fillRect l="-200870" t="-405714" r="-101739" b="-8571"/>
                          </a:stretch>
                        </a:blipFill>
                      </a:tcPr>
                    </a:tc>
                    <a:tc>
                      <a:txBody>
                        <a:bodyPr/>
                        <a:lstStyle/>
                        <a:p>
                          <a:endParaRPr lang="en-US"/>
                        </a:p>
                      </a:txBody>
                      <a:tcPr>
                        <a:blipFill>
                          <a:blip r:embed="rId2"/>
                          <a:stretch>
                            <a:fillRect l="-300000" t="-405714" r="-1445" b="-8571"/>
                          </a:stretch>
                        </a:blipFill>
                      </a:tcPr>
                    </a:tc>
                    <a:extLst>
                      <a:ext uri="{0D108BD9-81ED-4DB2-BD59-A6C34878D82A}">
                        <a16:rowId xmlns:a16="http://schemas.microsoft.com/office/drawing/2014/main" val="2055302913"/>
                      </a:ext>
                    </a:extLst>
                  </a:tr>
                </a:tbl>
              </a:graphicData>
            </a:graphic>
          </p:graphicFrame>
        </mc:Fallback>
      </mc:AlternateContent>
      <p:sp>
        <p:nvSpPr>
          <p:cNvPr id="4" name="Slide Number Placeholder 3">
            <a:extLst>
              <a:ext uri="{FF2B5EF4-FFF2-40B4-BE49-F238E27FC236}">
                <a16:creationId xmlns:a16="http://schemas.microsoft.com/office/drawing/2014/main" id="{AA70A17E-884A-4085-9193-9D7DCA135591}"/>
              </a:ext>
            </a:extLst>
          </p:cNvPr>
          <p:cNvSpPr>
            <a:spLocks noGrp="1"/>
          </p:cNvSpPr>
          <p:nvPr>
            <p:ph type="sldNum" sz="quarter" idx="12"/>
          </p:nvPr>
        </p:nvSpPr>
        <p:spPr/>
        <p:txBody>
          <a:bodyPr/>
          <a:lstStyle/>
          <a:p>
            <a:fld id="{DC4CAFB8-3EF6-4FAF-BDFA-EA2F8D8834E4}" type="slidenum">
              <a:rPr lang="en-US" smtClean="0"/>
              <a:t>37</a:t>
            </a:fld>
            <a:endParaRPr lang="en-US"/>
          </a:p>
        </p:txBody>
      </p:sp>
      <p:sp>
        <p:nvSpPr>
          <p:cNvPr id="6" name="TextBox 5">
            <a:extLst>
              <a:ext uri="{FF2B5EF4-FFF2-40B4-BE49-F238E27FC236}">
                <a16:creationId xmlns:a16="http://schemas.microsoft.com/office/drawing/2014/main" id="{638C8D82-3C79-4521-90DC-13FC753DA0FA}"/>
              </a:ext>
            </a:extLst>
          </p:cNvPr>
          <p:cNvSpPr txBox="1"/>
          <p:nvPr/>
        </p:nvSpPr>
        <p:spPr>
          <a:xfrm>
            <a:off x="3657600" y="4022019"/>
            <a:ext cx="5114261" cy="461665"/>
          </a:xfrm>
          <a:prstGeom prst="rect">
            <a:avLst/>
          </a:prstGeom>
          <a:noFill/>
        </p:spPr>
        <p:txBody>
          <a:bodyPr wrap="square" rtlCol="0">
            <a:spAutoFit/>
          </a:bodyPr>
          <a:lstStyle/>
          <a:p>
            <a:r>
              <a:rPr lang="en-US" sz="2400" dirty="0"/>
              <a:t>Cloud speed &lt; Fog speed &lt; Edge speed</a:t>
            </a:r>
          </a:p>
        </p:txBody>
      </p:sp>
      <p:sp>
        <p:nvSpPr>
          <p:cNvPr id="7" name="TextBox 6">
            <a:extLst>
              <a:ext uri="{FF2B5EF4-FFF2-40B4-BE49-F238E27FC236}">
                <a16:creationId xmlns:a16="http://schemas.microsoft.com/office/drawing/2014/main" id="{B07A7631-D262-4EB4-8226-38403A42AFBD}"/>
              </a:ext>
            </a:extLst>
          </p:cNvPr>
          <p:cNvSpPr txBox="1"/>
          <p:nvPr/>
        </p:nvSpPr>
        <p:spPr>
          <a:xfrm>
            <a:off x="2591154" y="4418553"/>
            <a:ext cx="7070651" cy="369332"/>
          </a:xfrm>
          <a:prstGeom prst="rect">
            <a:avLst/>
          </a:prstGeom>
          <a:noFill/>
        </p:spPr>
        <p:txBody>
          <a:bodyPr wrap="square" rtlCol="0">
            <a:spAutoFit/>
          </a:bodyPr>
          <a:lstStyle/>
          <a:p>
            <a:r>
              <a:rPr lang="en-US" dirty="0"/>
              <a:t>This is because of Simplicity and execution delay only not communication</a:t>
            </a:r>
          </a:p>
        </p:txBody>
      </p:sp>
      <p:sp>
        <p:nvSpPr>
          <p:cNvPr id="8" name="TextBox 7">
            <a:extLst>
              <a:ext uri="{FF2B5EF4-FFF2-40B4-BE49-F238E27FC236}">
                <a16:creationId xmlns:a16="http://schemas.microsoft.com/office/drawing/2014/main" id="{FAE6897D-D0C8-443C-81EA-5D863E494DC3}"/>
              </a:ext>
            </a:extLst>
          </p:cNvPr>
          <p:cNvSpPr txBox="1"/>
          <p:nvPr/>
        </p:nvSpPr>
        <p:spPr>
          <a:xfrm>
            <a:off x="2996786" y="4736694"/>
            <a:ext cx="6435888" cy="369332"/>
          </a:xfrm>
          <a:prstGeom prst="rect">
            <a:avLst/>
          </a:prstGeom>
          <a:noFill/>
        </p:spPr>
        <p:txBody>
          <a:bodyPr wrap="square" rtlCol="0">
            <a:spAutoFit/>
          </a:bodyPr>
          <a:lstStyle/>
          <a:p>
            <a:r>
              <a:rPr lang="en-US" dirty="0"/>
              <a:t>Why cloud is still useful? Because cloud has more CPU (16 * 2.5)</a:t>
            </a:r>
          </a:p>
        </p:txBody>
      </p:sp>
      <p:sp>
        <p:nvSpPr>
          <p:cNvPr id="9" name="TextBox 8">
            <a:extLst>
              <a:ext uri="{FF2B5EF4-FFF2-40B4-BE49-F238E27FC236}">
                <a16:creationId xmlns:a16="http://schemas.microsoft.com/office/drawing/2014/main" id="{27DCCF28-5BE3-4070-97AD-B547CA3DB898}"/>
              </a:ext>
            </a:extLst>
          </p:cNvPr>
          <p:cNvSpPr txBox="1"/>
          <p:nvPr/>
        </p:nvSpPr>
        <p:spPr>
          <a:xfrm>
            <a:off x="3889568" y="5092163"/>
            <a:ext cx="5135525" cy="369332"/>
          </a:xfrm>
          <a:prstGeom prst="rect">
            <a:avLst/>
          </a:prstGeom>
          <a:noFill/>
        </p:spPr>
        <p:txBody>
          <a:bodyPr wrap="square" rtlCol="0">
            <a:spAutoFit/>
          </a:bodyPr>
          <a:lstStyle/>
          <a:p>
            <a:r>
              <a:rPr lang="en-US" dirty="0"/>
              <a:t>Only reason to redirect a task is queue is full</a:t>
            </a:r>
          </a:p>
        </p:txBody>
      </p:sp>
      <p:sp>
        <p:nvSpPr>
          <p:cNvPr id="10" name="TextBox 9">
            <a:extLst>
              <a:ext uri="{FF2B5EF4-FFF2-40B4-BE49-F238E27FC236}">
                <a16:creationId xmlns:a16="http://schemas.microsoft.com/office/drawing/2014/main" id="{A3F397C3-F64E-4D08-9A51-E3E74818A486}"/>
              </a:ext>
            </a:extLst>
          </p:cNvPr>
          <p:cNvSpPr txBox="1"/>
          <p:nvPr/>
        </p:nvSpPr>
        <p:spPr>
          <a:xfrm>
            <a:off x="189571" y="6447755"/>
            <a:ext cx="3579542" cy="369332"/>
          </a:xfrm>
          <a:prstGeom prst="rect">
            <a:avLst/>
          </a:prstGeom>
          <a:noFill/>
        </p:spPr>
        <p:txBody>
          <a:bodyPr wrap="square" rtlCol="0">
            <a:spAutoFit/>
          </a:bodyPr>
          <a:lstStyle/>
          <a:p>
            <a:r>
              <a:rPr lang="en-US" dirty="0">
                <a:solidFill>
                  <a:schemeClr val="bg1"/>
                </a:solidFill>
              </a:rPr>
              <a:t>Mohammad Mahdi Manafi</a:t>
            </a:r>
          </a:p>
        </p:txBody>
      </p:sp>
      <p:sp>
        <p:nvSpPr>
          <p:cNvPr id="11" name="TextBox 10">
            <a:extLst>
              <a:ext uri="{FF2B5EF4-FFF2-40B4-BE49-F238E27FC236}">
                <a16:creationId xmlns:a16="http://schemas.microsoft.com/office/drawing/2014/main" id="{EDAEA315-DBA2-4290-855B-7358210A46EA}"/>
              </a:ext>
            </a:extLst>
          </p:cNvPr>
          <p:cNvSpPr txBox="1"/>
          <p:nvPr/>
        </p:nvSpPr>
        <p:spPr>
          <a:xfrm>
            <a:off x="5017861" y="5424167"/>
            <a:ext cx="2156278" cy="369332"/>
          </a:xfrm>
          <a:prstGeom prst="rect">
            <a:avLst/>
          </a:prstGeom>
          <a:noFill/>
        </p:spPr>
        <p:txBody>
          <a:bodyPr wrap="square" rtlCol="0">
            <a:spAutoFit/>
          </a:bodyPr>
          <a:lstStyle/>
          <a:p>
            <a:r>
              <a:rPr lang="en-US" dirty="0"/>
              <a:t>Also Paper wants to:</a:t>
            </a:r>
          </a:p>
        </p:txBody>
      </p:sp>
      <mc:AlternateContent xmlns:mc="http://schemas.openxmlformats.org/markup-compatibility/2006" xmlns:a14="http://schemas.microsoft.com/office/drawing/2010/main">
        <mc:Choice Requires="a14">
          <p:sp>
            <p:nvSpPr>
              <p:cNvPr id="12" name="TextBox 11">
                <a:extLst>
                  <a:ext uri="{FF2B5EF4-FFF2-40B4-BE49-F238E27FC236}">
                    <a16:creationId xmlns:a16="http://schemas.microsoft.com/office/drawing/2014/main" id="{08A2A10C-E9A9-4A46-BA44-0C2A6442B9A2}"/>
                  </a:ext>
                </a:extLst>
              </p:cNvPr>
              <p:cNvSpPr txBox="1"/>
              <p:nvPr/>
            </p:nvSpPr>
            <p:spPr>
              <a:xfrm>
                <a:off x="4503463" y="5765773"/>
                <a:ext cx="2839880" cy="276999"/>
              </a:xfrm>
              <a:prstGeom prst="rect">
                <a:avLst/>
              </a:prstGeom>
              <a:noFill/>
            </p:spPr>
            <p:txBody>
              <a:bodyPr wrap="none" lIns="0" tIns="0" rIns="0" bIns="0" rtlCol="0">
                <a:spAutoFit/>
              </a:bodyPr>
              <a:lstStyle/>
              <a:p>
                <a:pPr/>
                <a14:m>
                  <m:oMathPara xmlns:m="http://schemas.openxmlformats.org/officeDocument/2006/math">
                    <m:oMathParaPr>
                      <m:jc m:val="centerGroup"/>
                    </m:oMathParaPr>
                    <m:oMath xmlns:m="http://schemas.openxmlformats.org/officeDocument/2006/math">
                      <m:sSub>
                        <m:sSubPr>
                          <m:ctrlPr>
                            <a:rPr lang="en-US" i="1" smtClean="0">
                              <a:latin typeface="Cambria Math" panose="02040503050406030204" pitchFamily="18" charset="0"/>
                            </a:rPr>
                          </m:ctrlPr>
                        </m:sSubPr>
                        <m:e>
                          <m:r>
                            <a:rPr lang="en-US" b="0" i="1" smtClean="0">
                              <a:latin typeface="Cambria Math" panose="02040503050406030204" pitchFamily="18" charset="0"/>
                            </a:rPr>
                            <m:t>𝑃</m:t>
                          </m:r>
                        </m:e>
                        <m:sub>
                          <m:r>
                            <a:rPr lang="en-US" b="0" i="1" smtClean="0">
                              <a:latin typeface="Cambria Math" panose="02040503050406030204" pitchFamily="18" charset="0"/>
                            </a:rPr>
                            <m:t>𝑂𝑈𝑇</m:t>
                          </m:r>
                        </m:sub>
                      </m:sSub>
                      <m:r>
                        <a:rPr lang="en-US" b="0" i="1" smtClean="0">
                          <a:latin typeface="Cambria Math" panose="02040503050406030204" pitchFamily="18" charset="0"/>
                        </a:rPr>
                        <m:t>≤3∗</m:t>
                      </m:r>
                      <m:sSup>
                        <m:sSupPr>
                          <m:ctrlPr>
                            <a:rPr lang="en-US" b="0" i="1" smtClean="0">
                              <a:latin typeface="Cambria Math" panose="02040503050406030204" pitchFamily="18" charset="0"/>
                            </a:rPr>
                          </m:ctrlPr>
                        </m:sSupPr>
                        <m:e>
                          <m:r>
                            <a:rPr lang="en-US" b="0" i="1" smtClean="0">
                              <a:latin typeface="Cambria Math" panose="02040503050406030204" pitchFamily="18" charset="0"/>
                            </a:rPr>
                            <m:t>10</m:t>
                          </m:r>
                        </m:e>
                        <m:sup>
                          <m:r>
                            <a:rPr lang="en-US" b="0" i="1" smtClean="0">
                              <a:latin typeface="Cambria Math" panose="02040503050406030204" pitchFamily="18" charset="0"/>
                            </a:rPr>
                            <m:t>−3</m:t>
                          </m:r>
                        </m:sup>
                      </m:sSup>
                      <m:r>
                        <a:rPr lang="en-US" b="0" i="0" smtClean="0">
                          <a:latin typeface="Cambria Math" panose="02040503050406030204" pitchFamily="18" charset="0"/>
                        </a:rPr>
                        <m:t> </m:t>
                      </m:r>
                      <m:r>
                        <m:rPr>
                          <m:sty m:val="p"/>
                        </m:rPr>
                        <a:rPr lang="en-US" b="0" i="0" smtClean="0">
                          <a:latin typeface="Cambria Math" panose="02040503050406030204" pitchFamily="18" charset="0"/>
                        </a:rPr>
                        <m:t>at</m:t>
                      </m:r>
                      <m:r>
                        <a:rPr lang="en-US" b="0" i="0" smtClean="0">
                          <a:latin typeface="Cambria Math" panose="02040503050406030204" pitchFamily="18" charset="0"/>
                        </a:rPr>
                        <m:t> </m:t>
                      </m:r>
                      <m:r>
                        <m:rPr>
                          <m:sty m:val="p"/>
                        </m:rPr>
                        <a:rPr lang="en-US" b="0" i="0" smtClean="0">
                          <a:latin typeface="Cambria Math" panose="02040503050406030204" pitchFamily="18" charset="0"/>
                        </a:rPr>
                        <m:t>all</m:t>
                      </m:r>
                      <m:r>
                        <a:rPr lang="en-US" b="0" i="0" smtClean="0">
                          <a:latin typeface="Cambria Math" panose="02040503050406030204" pitchFamily="18" charset="0"/>
                        </a:rPr>
                        <m:t> </m:t>
                      </m:r>
                      <m:r>
                        <m:rPr>
                          <m:sty m:val="p"/>
                        </m:rPr>
                        <a:rPr lang="en-US" b="0" i="0" smtClean="0">
                          <a:latin typeface="Cambria Math" panose="02040503050406030204" pitchFamily="18" charset="0"/>
                        </a:rPr>
                        <m:t>layers</m:t>
                      </m:r>
                    </m:oMath>
                  </m:oMathPara>
                </a14:m>
                <a:endParaRPr lang="en-US" dirty="0"/>
              </a:p>
            </p:txBody>
          </p:sp>
        </mc:Choice>
        <mc:Fallback xmlns="">
          <p:sp>
            <p:nvSpPr>
              <p:cNvPr id="12" name="TextBox 11">
                <a:extLst>
                  <a:ext uri="{FF2B5EF4-FFF2-40B4-BE49-F238E27FC236}">
                    <a16:creationId xmlns:a16="http://schemas.microsoft.com/office/drawing/2014/main" id="{08A2A10C-E9A9-4A46-BA44-0C2A6442B9A2}"/>
                  </a:ext>
                </a:extLst>
              </p:cNvPr>
              <p:cNvSpPr txBox="1">
                <a:spLocks noRot="1" noChangeAspect="1" noMove="1" noResize="1" noEditPoints="1" noAdjustHandles="1" noChangeArrowheads="1" noChangeShapeType="1" noTextEdit="1"/>
              </p:cNvSpPr>
              <p:nvPr/>
            </p:nvSpPr>
            <p:spPr>
              <a:xfrm>
                <a:off x="4503463" y="5765773"/>
                <a:ext cx="2839880" cy="276999"/>
              </a:xfrm>
              <a:prstGeom prst="rect">
                <a:avLst/>
              </a:prstGeom>
              <a:blipFill>
                <a:blip r:embed="rId3"/>
                <a:stretch>
                  <a:fillRect l="-1717" t="-4444" r="-2575" b="-35556"/>
                </a:stretch>
              </a:blipFill>
            </p:spPr>
            <p:txBody>
              <a:bodyPr/>
              <a:lstStyle/>
              <a:p>
                <a:r>
                  <a:rPr lang="en-US">
                    <a:noFill/>
                  </a:rPr>
                  <a:t> </a:t>
                </a:r>
              </a:p>
            </p:txBody>
          </p:sp>
        </mc:Fallback>
      </mc:AlternateContent>
    </p:spTree>
    <p:extLst>
      <p:ext uri="{BB962C8B-B14F-4D97-AF65-F5344CB8AC3E}">
        <p14:creationId xmlns:p14="http://schemas.microsoft.com/office/powerpoint/2010/main" val="756706934"/>
      </p:ext>
    </p:extLst>
  </p:cSld>
  <p:clrMapOvr>
    <a:masterClrMapping/>
  </p:clrMapOvr>
</p:sld>
</file>

<file path=ppt/slides/slide3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8F2E512-E073-4249-B0B5-C9BB6C2CB603}"/>
              </a:ext>
            </a:extLst>
          </p:cNvPr>
          <p:cNvSpPr>
            <a:spLocks noGrp="1"/>
          </p:cNvSpPr>
          <p:nvPr>
            <p:ph type="title"/>
          </p:nvPr>
        </p:nvSpPr>
        <p:spPr/>
        <p:txBody>
          <a:bodyPr/>
          <a:lstStyle/>
          <a:p>
            <a:r>
              <a:rPr lang="en-US" dirty="0"/>
              <a:t>Block probability in ECN</a:t>
            </a:r>
          </a:p>
        </p:txBody>
      </p:sp>
      <p:sp>
        <p:nvSpPr>
          <p:cNvPr id="3" name="Content Placeholder 2">
            <a:extLst>
              <a:ext uri="{FF2B5EF4-FFF2-40B4-BE49-F238E27FC236}">
                <a16:creationId xmlns:a16="http://schemas.microsoft.com/office/drawing/2014/main" id="{B3C6E530-9F49-4D23-A6E2-5F4511B0369E}"/>
              </a:ext>
            </a:extLst>
          </p:cNvPr>
          <p:cNvSpPr>
            <a:spLocks noGrp="1"/>
          </p:cNvSpPr>
          <p:nvPr>
            <p:ph idx="1"/>
          </p:nvPr>
        </p:nvSpPr>
        <p:spPr>
          <a:xfrm>
            <a:off x="1097280" y="1845734"/>
            <a:ext cx="4998720" cy="4023360"/>
          </a:xfrm>
        </p:spPr>
        <p:txBody>
          <a:bodyPr/>
          <a:lstStyle/>
          <a:p>
            <a:pPr>
              <a:buFont typeface="Wingdings" panose="05000000000000000000" pitchFamily="2" charset="2"/>
              <a:buChar char="q"/>
            </a:pPr>
            <a:r>
              <a:rPr lang="en-US" dirty="0"/>
              <a:t>When rate increase probability increase</a:t>
            </a:r>
          </a:p>
          <a:p>
            <a:pPr lvl="1">
              <a:buFont typeface="Wingdings" panose="05000000000000000000" pitchFamily="2" charset="2"/>
              <a:buChar char="q"/>
            </a:pPr>
            <a:r>
              <a:rPr lang="en-US" dirty="0"/>
              <a:t>Because queue is finite</a:t>
            </a:r>
          </a:p>
          <a:p>
            <a:pPr lvl="1">
              <a:buFont typeface="Wingdings" panose="05000000000000000000" pitchFamily="2" charset="2"/>
              <a:buChar char="q"/>
            </a:pPr>
            <a:r>
              <a:rPr lang="en-US" dirty="0"/>
              <a:t>CPU power decrease</a:t>
            </a:r>
          </a:p>
          <a:p>
            <a:pPr lvl="1">
              <a:buFont typeface="Wingdings" panose="05000000000000000000" pitchFamily="2" charset="2"/>
              <a:buChar char="q"/>
            </a:pPr>
            <a:r>
              <a:rPr lang="en-US" dirty="0"/>
              <a:t>Thus blocking increase</a:t>
            </a:r>
          </a:p>
          <a:p>
            <a:pPr lvl="1">
              <a:buFont typeface="Wingdings" panose="05000000000000000000" pitchFamily="2" charset="2"/>
              <a:buChar char="q"/>
            </a:pPr>
            <a:r>
              <a:rPr lang="en-US" dirty="0"/>
              <a:t>Analytical and simulation curves almost overlap</a:t>
            </a:r>
          </a:p>
          <a:p>
            <a:pPr lvl="2">
              <a:buFont typeface="Wingdings" panose="05000000000000000000" pitchFamily="2" charset="2"/>
              <a:buChar char="q"/>
            </a:pPr>
            <a:r>
              <a:rPr lang="en-US" dirty="0"/>
              <a:t>This validates the Edge queueing model.</a:t>
            </a:r>
          </a:p>
        </p:txBody>
      </p:sp>
      <p:sp>
        <p:nvSpPr>
          <p:cNvPr id="4" name="Slide Number Placeholder 3">
            <a:extLst>
              <a:ext uri="{FF2B5EF4-FFF2-40B4-BE49-F238E27FC236}">
                <a16:creationId xmlns:a16="http://schemas.microsoft.com/office/drawing/2014/main" id="{928015B1-37FC-482C-98D5-7967656AEF33}"/>
              </a:ext>
            </a:extLst>
          </p:cNvPr>
          <p:cNvSpPr>
            <a:spLocks noGrp="1"/>
          </p:cNvSpPr>
          <p:nvPr>
            <p:ph type="sldNum" sz="quarter" idx="12"/>
          </p:nvPr>
        </p:nvSpPr>
        <p:spPr/>
        <p:txBody>
          <a:bodyPr/>
          <a:lstStyle/>
          <a:p>
            <a:fld id="{DC4CAFB8-3EF6-4FAF-BDFA-EA2F8D8834E4}" type="slidenum">
              <a:rPr lang="en-US" smtClean="0"/>
              <a:t>38</a:t>
            </a:fld>
            <a:endParaRPr lang="en-US"/>
          </a:p>
        </p:txBody>
      </p:sp>
      <p:pic>
        <p:nvPicPr>
          <p:cNvPr id="6" name="Picture 5">
            <a:extLst>
              <a:ext uri="{FF2B5EF4-FFF2-40B4-BE49-F238E27FC236}">
                <a16:creationId xmlns:a16="http://schemas.microsoft.com/office/drawing/2014/main" id="{4786589E-304A-4BAD-8EC7-208D136C1FF6}"/>
              </a:ext>
            </a:extLst>
          </p:cNvPr>
          <p:cNvPicPr>
            <a:picLocks noChangeAspect="1"/>
          </p:cNvPicPr>
          <p:nvPr/>
        </p:nvPicPr>
        <p:blipFill>
          <a:blip r:embed="rId2"/>
          <a:stretch>
            <a:fillRect/>
          </a:stretch>
        </p:blipFill>
        <p:spPr>
          <a:xfrm>
            <a:off x="6416612" y="1845734"/>
            <a:ext cx="5005589" cy="4023360"/>
          </a:xfrm>
          <a:prstGeom prst="rect">
            <a:avLst/>
          </a:prstGeom>
        </p:spPr>
      </p:pic>
      <p:sp>
        <p:nvSpPr>
          <p:cNvPr id="7" name="TextBox 6">
            <a:extLst>
              <a:ext uri="{FF2B5EF4-FFF2-40B4-BE49-F238E27FC236}">
                <a16:creationId xmlns:a16="http://schemas.microsoft.com/office/drawing/2014/main" id="{7CDB3DBB-A233-46AD-A900-7C3AD1BC3592}"/>
              </a:ext>
            </a:extLst>
          </p:cNvPr>
          <p:cNvSpPr txBox="1"/>
          <p:nvPr/>
        </p:nvSpPr>
        <p:spPr>
          <a:xfrm>
            <a:off x="189571" y="6447755"/>
            <a:ext cx="3579542" cy="369332"/>
          </a:xfrm>
          <a:prstGeom prst="rect">
            <a:avLst/>
          </a:prstGeom>
          <a:noFill/>
        </p:spPr>
        <p:txBody>
          <a:bodyPr wrap="square" rtlCol="0">
            <a:spAutoFit/>
          </a:bodyPr>
          <a:lstStyle/>
          <a:p>
            <a:r>
              <a:rPr lang="en-US" dirty="0">
                <a:solidFill>
                  <a:schemeClr val="bg1"/>
                </a:solidFill>
              </a:rPr>
              <a:t>Mohammad Mahdi Manafi</a:t>
            </a:r>
          </a:p>
        </p:txBody>
      </p:sp>
    </p:spTree>
    <p:extLst>
      <p:ext uri="{BB962C8B-B14F-4D97-AF65-F5344CB8AC3E}">
        <p14:creationId xmlns:p14="http://schemas.microsoft.com/office/powerpoint/2010/main" val="2188039157"/>
      </p:ext>
    </p:extLst>
  </p:cSld>
  <p:clrMapOvr>
    <a:masterClrMapping/>
  </p:clrMapOvr>
</p:sld>
</file>

<file path=ppt/slides/slide3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8F2E512-E073-4249-B0B5-C9BB6C2CB603}"/>
              </a:ext>
            </a:extLst>
          </p:cNvPr>
          <p:cNvSpPr>
            <a:spLocks noGrp="1"/>
          </p:cNvSpPr>
          <p:nvPr>
            <p:ph type="title"/>
          </p:nvPr>
        </p:nvSpPr>
        <p:spPr/>
        <p:txBody>
          <a:bodyPr/>
          <a:lstStyle/>
          <a:p>
            <a:r>
              <a:rPr lang="en-US" dirty="0"/>
              <a:t>Block probability in FCN</a:t>
            </a:r>
          </a:p>
        </p:txBody>
      </p:sp>
      <p:sp>
        <p:nvSpPr>
          <p:cNvPr id="3" name="Content Placeholder 2">
            <a:extLst>
              <a:ext uri="{FF2B5EF4-FFF2-40B4-BE49-F238E27FC236}">
                <a16:creationId xmlns:a16="http://schemas.microsoft.com/office/drawing/2014/main" id="{B3C6E530-9F49-4D23-A6E2-5F4511B0369E}"/>
              </a:ext>
            </a:extLst>
          </p:cNvPr>
          <p:cNvSpPr>
            <a:spLocks noGrp="1"/>
          </p:cNvSpPr>
          <p:nvPr>
            <p:ph idx="1"/>
          </p:nvPr>
        </p:nvSpPr>
        <p:spPr>
          <a:xfrm>
            <a:off x="1097280" y="1845734"/>
            <a:ext cx="5346050" cy="2024517"/>
          </a:xfrm>
        </p:spPr>
        <p:txBody>
          <a:bodyPr/>
          <a:lstStyle/>
          <a:p>
            <a:pPr>
              <a:buFont typeface="Wingdings" panose="05000000000000000000" pitchFamily="2" charset="2"/>
              <a:buChar char="q"/>
            </a:pPr>
            <a:r>
              <a:rPr lang="en-US" dirty="0"/>
              <a:t>When rate increase probability increase</a:t>
            </a:r>
          </a:p>
          <a:p>
            <a:pPr lvl="1">
              <a:buFont typeface="Wingdings" panose="05000000000000000000" pitchFamily="2" charset="2"/>
              <a:buChar char="q"/>
            </a:pPr>
            <a:r>
              <a:rPr lang="en-US" dirty="0"/>
              <a:t>Because queue is finite</a:t>
            </a:r>
          </a:p>
          <a:p>
            <a:pPr lvl="1">
              <a:buFont typeface="Wingdings" panose="05000000000000000000" pitchFamily="2" charset="2"/>
              <a:buChar char="q"/>
            </a:pPr>
            <a:r>
              <a:rPr lang="en-US" dirty="0"/>
              <a:t>CPU power decrease</a:t>
            </a:r>
          </a:p>
          <a:p>
            <a:pPr lvl="1">
              <a:buFont typeface="Wingdings" panose="05000000000000000000" pitchFamily="2" charset="2"/>
              <a:buChar char="q"/>
            </a:pPr>
            <a:r>
              <a:rPr lang="en-US" dirty="0"/>
              <a:t>Thus blocking increase</a:t>
            </a:r>
          </a:p>
          <a:p>
            <a:pPr lvl="1">
              <a:buFont typeface="Wingdings" panose="05000000000000000000" pitchFamily="2" charset="2"/>
              <a:buChar char="q"/>
            </a:pPr>
            <a:r>
              <a:rPr lang="en-US" dirty="0"/>
              <a:t>Analytical predictions and simulation curves overlap</a:t>
            </a:r>
          </a:p>
          <a:p>
            <a:pPr lvl="2">
              <a:buFont typeface="Wingdings" panose="05000000000000000000" pitchFamily="2" charset="2"/>
              <a:buChar char="q"/>
            </a:pPr>
            <a:r>
              <a:rPr lang="en-US" dirty="0"/>
              <a:t>This validates the Edge queueing model.</a:t>
            </a:r>
          </a:p>
        </p:txBody>
      </p:sp>
      <p:sp>
        <p:nvSpPr>
          <p:cNvPr id="4" name="Slide Number Placeholder 3">
            <a:extLst>
              <a:ext uri="{FF2B5EF4-FFF2-40B4-BE49-F238E27FC236}">
                <a16:creationId xmlns:a16="http://schemas.microsoft.com/office/drawing/2014/main" id="{928015B1-37FC-482C-98D5-7967656AEF33}"/>
              </a:ext>
            </a:extLst>
          </p:cNvPr>
          <p:cNvSpPr>
            <a:spLocks noGrp="1"/>
          </p:cNvSpPr>
          <p:nvPr>
            <p:ph type="sldNum" sz="quarter" idx="12"/>
          </p:nvPr>
        </p:nvSpPr>
        <p:spPr/>
        <p:txBody>
          <a:bodyPr/>
          <a:lstStyle/>
          <a:p>
            <a:fld id="{DC4CAFB8-3EF6-4FAF-BDFA-EA2F8D8834E4}" type="slidenum">
              <a:rPr lang="en-US" smtClean="0"/>
              <a:t>39</a:t>
            </a:fld>
            <a:endParaRPr lang="en-US"/>
          </a:p>
        </p:txBody>
      </p:sp>
      <p:pic>
        <p:nvPicPr>
          <p:cNvPr id="7" name="Picture 6">
            <a:extLst>
              <a:ext uri="{FF2B5EF4-FFF2-40B4-BE49-F238E27FC236}">
                <a16:creationId xmlns:a16="http://schemas.microsoft.com/office/drawing/2014/main" id="{7D1B73ED-1FFA-4FC0-A71F-FC9E524E544C}"/>
              </a:ext>
            </a:extLst>
          </p:cNvPr>
          <p:cNvPicPr>
            <a:picLocks noChangeAspect="1"/>
          </p:cNvPicPr>
          <p:nvPr/>
        </p:nvPicPr>
        <p:blipFill>
          <a:blip r:embed="rId2"/>
          <a:stretch>
            <a:fillRect/>
          </a:stretch>
        </p:blipFill>
        <p:spPr>
          <a:xfrm>
            <a:off x="6364043" y="1845734"/>
            <a:ext cx="5180527" cy="4225457"/>
          </a:xfrm>
          <a:prstGeom prst="rect">
            <a:avLst/>
          </a:prstGeom>
        </p:spPr>
      </p:pic>
      <p:sp>
        <p:nvSpPr>
          <p:cNvPr id="8" name="TextBox 7">
            <a:extLst>
              <a:ext uri="{FF2B5EF4-FFF2-40B4-BE49-F238E27FC236}">
                <a16:creationId xmlns:a16="http://schemas.microsoft.com/office/drawing/2014/main" id="{16D79454-8E09-4B18-90B6-17318C9A5989}"/>
              </a:ext>
            </a:extLst>
          </p:cNvPr>
          <p:cNvSpPr txBox="1"/>
          <p:nvPr/>
        </p:nvSpPr>
        <p:spPr>
          <a:xfrm>
            <a:off x="755975" y="3958462"/>
            <a:ext cx="6028660" cy="923330"/>
          </a:xfrm>
          <a:prstGeom prst="rect">
            <a:avLst/>
          </a:prstGeom>
          <a:noFill/>
        </p:spPr>
        <p:txBody>
          <a:bodyPr wrap="square" rtlCol="0">
            <a:spAutoFit/>
          </a:bodyPr>
          <a:lstStyle/>
          <a:p>
            <a:r>
              <a:rPr lang="en-US" dirty="0"/>
              <a:t>The Markov queueing model predicts performance very accurately even though the simulation uses non-exponential distribution</a:t>
            </a:r>
          </a:p>
        </p:txBody>
      </p:sp>
      <p:sp>
        <p:nvSpPr>
          <p:cNvPr id="9" name="TextBox 8">
            <a:extLst>
              <a:ext uri="{FF2B5EF4-FFF2-40B4-BE49-F238E27FC236}">
                <a16:creationId xmlns:a16="http://schemas.microsoft.com/office/drawing/2014/main" id="{E15F4098-4977-49F7-A71E-3F3E98F8F934}"/>
              </a:ext>
            </a:extLst>
          </p:cNvPr>
          <p:cNvSpPr txBox="1"/>
          <p:nvPr/>
        </p:nvSpPr>
        <p:spPr>
          <a:xfrm>
            <a:off x="189571" y="6447755"/>
            <a:ext cx="3579542" cy="369332"/>
          </a:xfrm>
          <a:prstGeom prst="rect">
            <a:avLst/>
          </a:prstGeom>
          <a:noFill/>
        </p:spPr>
        <p:txBody>
          <a:bodyPr wrap="square" rtlCol="0">
            <a:spAutoFit/>
          </a:bodyPr>
          <a:lstStyle/>
          <a:p>
            <a:r>
              <a:rPr lang="en-US" dirty="0">
                <a:solidFill>
                  <a:schemeClr val="bg1"/>
                </a:solidFill>
              </a:rPr>
              <a:t>Mohammad Mahdi Manafi</a:t>
            </a:r>
          </a:p>
        </p:txBody>
      </p:sp>
    </p:spTree>
    <p:extLst>
      <p:ext uri="{BB962C8B-B14F-4D97-AF65-F5344CB8AC3E}">
        <p14:creationId xmlns:p14="http://schemas.microsoft.com/office/powerpoint/2010/main" val="3387604612"/>
      </p:ext>
    </p:extLst>
  </p:cSld>
  <p:clrMapOvr>
    <a:masterClrMapping/>
  </p:clrMapOvr>
</p:sld>
</file>

<file path=ppt/slides/slide4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5CFA3157-7999-4915-9BA5-87546635078B}"/>
              </a:ext>
            </a:extLst>
          </p:cNvPr>
          <p:cNvSpPr>
            <a:spLocks noGrp="1"/>
          </p:cNvSpPr>
          <p:nvPr>
            <p:ph type="title"/>
          </p:nvPr>
        </p:nvSpPr>
        <p:spPr/>
        <p:txBody>
          <a:bodyPr/>
          <a:lstStyle/>
          <a:p>
            <a:r>
              <a:rPr lang="en-US" dirty="0"/>
              <a:t>Objective function</a:t>
            </a:r>
          </a:p>
        </p:txBody>
      </p:sp>
      <mc:AlternateContent xmlns:mc="http://schemas.openxmlformats.org/markup-compatibility/2006" xmlns:a14="http://schemas.microsoft.com/office/drawing/2010/main">
        <mc:Choice Requires="a14">
          <p:sp>
            <p:nvSpPr>
              <p:cNvPr id="3" name="Content Placeholder 2">
                <a:extLst>
                  <a:ext uri="{FF2B5EF4-FFF2-40B4-BE49-F238E27FC236}">
                    <a16:creationId xmlns:a16="http://schemas.microsoft.com/office/drawing/2014/main" id="{F1359F72-78D3-4BF1-8FA1-3BE2D4F0B366}"/>
                  </a:ext>
                </a:extLst>
              </p:cNvPr>
              <p:cNvSpPr>
                <a:spLocks noGrp="1"/>
              </p:cNvSpPr>
              <p:nvPr>
                <p:ph idx="1"/>
              </p:nvPr>
            </p:nvSpPr>
            <p:spPr>
              <a:xfrm>
                <a:off x="1097280" y="1845734"/>
                <a:ext cx="5217914" cy="4023360"/>
              </a:xfrm>
            </p:spPr>
            <p:txBody>
              <a:bodyPr/>
              <a:lstStyle/>
              <a:p>
                <a:pPr>
                  <a:buFont typeface="Wingdings" panose="05000000000000000000" pitchFamily="2" charset="2"/>
                  <a:buChar char="q"/>
                </a:pPr>
                <a:r>
                  <a:rPr lang="en-US" dirty="0"/>
                  <a:t>Parameters</a:t>
                </a:r>
              </a:p>
              <a:p>
                <a:pPr lvl="1">
                  <a:buFont typeface="Wingdings" panose="05000000000000000000" pitchFamily="2" charset="2"/>
                  <a:buChar char="q"/>
                </a:pPr>
                <a:r>
                  <a:rPr lang="en-US" dirty="0"/>
                  <a:t>V = 4 , U = 15, r = 20, u = 16, s = 12</a:t>
                </a:r>
              </a:p>
              <a:p>
                <a:pPr>
                  <a:buFont typeface="Wingdings" panose="05000000000000000000" pitchFamily="2" charset="2"/>
                  <a:buChar char="q"/>
                </a:pPr>
                <a:r>
                  <a:rPr lang="en-US" dirty="0"/>
                  <a:t>The function increased with traffic load increase</a:t>
                </a:r>
              </a:p>
              <a:p>
                <a:pPr>
                  <a:buFont typeface="Wingdings" panose="05000000000000000000" pitchFamily="2" charset="2"/>
                  <a:buChar char="q"/>
                </a:pPr>
                <a:r>
                  <a:rPr lang="en-US" dirty="0"/>
                  <a:t>Because</a:t>
                </a:r>
              </a:p>
              <a:p>
                <a:pPr lvl="1">
                  <a:buFont typeface="Wingdings" panose="05000000000000000000" pitchFamily="2" charset="2"/>
                  <a:buChar char="q"/>
                </a:pPr>
                <a:r>
                  <a:rPr lang="en-US" dirty="0"/>
                  <a:t>U(</a:t>
                </a:r>
                <a14:m>
                  <m:oMath xmlns:m="http://schemas.openxmlformats.org/officeDocument/2006/math">
                    <m:sSub>
                      <m:sSubPr>
                        <m:ctrlPr>
                          <a:rPr lang="en-US" i="1" smtClean="0">
                            <a:latin typeface="Cambria Math" panose="02040503050406030204" pitchFamily="18" charset="0"/>
                          </a:rPr>
                        </m:ctrlPr>
                      </m:sSubPr>
                      <m:e>
                        <m:r>
                          <m:rPr>
                            <m:sty m:val="p"/>
                          </m:rPr>
                          <a:rPr lang="el-GR" i="1" smtClean="0">
                            <a:latin typeface="Cambria Math" panose="02040503050406030204" pitchFamily="18" charset="0"/>
                            <a:ea typeface="Cambria Math" panose="02040503050406030204" pitchFamily="18" charset="0"/>
                          </a:rPr>
                          <m:t>Δ</m:t>
                        </m:r>
                      </m:e>
                      <m:sub>
                        <m:r>
                          <a:rPr lang="en-US" b="0" i="1" smtClean="0">
                            <a:latin typeface="Cambria Math" panose="02040503050406030204" pitchFamily="18" charset="0"/>
                          </a:rPr>
                          <m:t>𝐸𝑓𝑓</m:t>
                        </m:r>
                      </m:sub>
                    </m:sSub>
                  </m:oMath>
                </a14:m>
                <a:r>
                  <a:rPr lang="en-US" dirty="0"/>
                  <a:t>) grows faster than the increase in costs.</a:t>
                </a:r>
              </a:p>
              <a:p>
                <a:pPr lvl="1">
                  <a:buFont typeface="Wingdings" panose="05000000000000000000" pitchFamily="2" charset="2"/>
                  <a:buChar char="q"/>
                </a:pPr>
                <a:r>
                  <a:rPr lang="en-US" dirty="0"/>
                  <a:t>More users are being served</a:t>
                </a:r>
              </a:p>
              <a:p>
                <a:pPr lvl="1">
                  <a:buFont typeface="Wingdings" panose="05000000000000000000" pitchFamily="2" charset="2"/>
                  <a:buChar char="q"/>
                </a:pPr>
                <a:r>
                  <a:rPr lang="en-US" dirty="0"/>
                  <a:t>More revenue is generated</a:t>
                </a:r>
              </a:p>
              <a:p>
                <a:pPr>
                  <a:buFont typeface="Wingdings" panose="05000000000000000000" pitchFamily="2" charset="2"/>
                  <a:buChar char="q"/>
                </a:pPr>
                <a:r>
                  <a:rPr lang="en-US" dirty="0"/>
                  <a:t>The heuristic succeeds in exploiting additional resources efficiently as demand increases</a:t>
                </a:r>
              </a:p>
            </p:txBody>
          </p:sp>
        </mc:Choice>
        <mc:Fallback xmlns="">
          <p:sp>
            <p:nvSpPr>
              <p:cNvPr id="3" name="Content Placeholder 2">
                <a:extLst>
                  <a:ext uri="{FF2B5EF4-FFF2-40B4-BE49-F238E27FC236}">
                    <a16:creationId xmlns:a16="http://schemas.microsoft.com/office/drawing/2014/main" id="{F1359F72-78D3-4BF1-8FA1-3BE2D4F0B366}"/>
                  </a:ext>
                </a:extLst>
              </p:cNvPr>
              <p:cNvSpPr>
                <a:spLocks noGrp="1" noRot="1" noChangeAspect="1" noMove="1" noResize="1" noEditPoints="1" noAdjustHandles="1" noChangeArrowheads="1" noChangeShapeType="1" noTextEdit="1"/>
              </p:cNvSpPr>
              <p:nvPr>
                <p:ph idx="1"/>
              </p:nvPr>
            </p:nvSpPr>
            <p:spPr>
              <a:xfrm>
                <a:off x="1097280" y="1845734"/>
                <a:ext cx="5217914" cy="4023360"/>
              </a:xfrm>
              <a:blipFill>
                <a:blip r:embed="rId2"/>
                <a:stretch>
                  <a:fillRect l="-2804" t="-1667" r="-2453"/>
                </a:stretch>
              </a:blipFill>
            </p:spPr>
            <p:txBody>
              <a:bodyPr/>
              <a:lstStyle/>
              <a:p>
                <a:r>
                  <a:rPr lang="en-US">
                    <a:noFill/>
                  </a:rPr>
                  <a:t> </a:t>
                </a:r>
              </a:p>
            </p:txBody>
          </p:sp>
        </mc:Fallback>
      </mc:AlternateContent>
      <p:sp>
        <p:nvSpPr>
          <p:cNvPr id="4" name="Slide Number Placeholder 3">
            <a:extLst>
              <a:ext uri="{FF2B5EF4-FFF2-40B4-BE49-F238E27FC236}">
                <a16:creationId xmlns:a16="http://schemas.microsoft.com/office/drawing/2014/main" id="{2A32F1CB-FBCD-4A50-9683-C53BB5AB692F}"/>
              </a:ext>
            </a:extLst>
          </p:cNvPr>
          <p:cNvSpPr>
            <a:spLocks noGrp="1"/>
          </p:cNvSpPr>
          <p:nvPr>
            <p:ph type="sldNum" sz="quarter" idx="12"/>
          </p:nvPr>
        </p:nvSpPr>
        <p:spPr/>
        <p:txBody>
          <a:bodyPr/>
          <a:lstStyle/>
          <a:p>
            <a:fld id="{DC4CAFB8-3EF6-4FAF-BDFA-EA2F8D8834E4}" type="slidenum">
              <a:rPr lang="en-US" smtClean="0"/>
              <a:t>40</a:t>
            </a:fld>
            <a:endParaRPr lang="en-US"/>
          </a:p>
        </p:txBody>
      </p:sp>
      <p:pic>
        <p:nvPicPr>
          <p:cNvPr id="8" name="Picture 7">
            <a:extLst>
              <a:ext uri="{FF2B5EF4-FFF2-40B4-BE49-F238E27FC236}">
                <a16:creationId xmlns:a16="http://schemas.microsoft.com/office/drawing/2014/main" id="{F1A33B21-734E-4B66-BD8D-3C2ED1B2C8C0}"/>
              </a:ext>
            </a:extLst>
          </p:cNvPr>
          <p:cNvPicPr>
            <a:picLocks noChangeAspect="1"/>
          </p:cNvPicPr>
          <p:nvPr/>
        </p:nvPicPr>
        <p:blipFill>
          <a:blip r:embed="rId3"/>
          <a:stretch>
            <a:fillRect/>
          </a:stretch>
        </p:blipFill>
        <p:spPr>
          <a:xfrm>
            <a:off x="6315194" y="1951980"/>
            <a:ext cx="5086095" cy="3917113"/>
          </a:xfrm>
          <a:prstGeom prst="rect">
            <a:avLst/>
          </a:prstGeom>
        </p:spPr>
      </p:pic>
      <p:sp>
        <p:nvSpPr>
          <p:cNvPr id="6" name="TextBox 5">
            <a:extLst>
              <a:ext uri="{FF2B5EF4-FFF2-40B4-BE49-F238E27FC236}">
                <a16:creationId xmlns:a16="http://schemas.microsoft.com/office/drawing/2014/main" id="{B8F2C3D6-5F3C-4BEF-B977-7CDC642C93F0}"/>
              </a:ext>
            </a:extLst>
          </p:cNvPr>
          <p:cNvSpPr txBox="1"/>
          <p:nvPr/>
        </p:nvSpPr>
        <p:spPr>
          <a:xfrm>
            <a:off x="189571" y="6447755"/>
            <a:ext cx="3579542" cy="369332"/>
          </a:xfrm>
          <a:prstGeom prst="rect">
            <a:avLst/>
          </a:prstGeom>
          <a:noFill/>
        </p:spPr>
        <p:txBody>
          <a:bodyPr wrap="square" rtlCol="0">
            <a:spAutoFit/>
          </a:bodyPr>
          <a:lstStyle/>
          <a:p>
            <a:r>
              <a:rPr lang="en-US" dirty="0">
                <a:solidFill>
                  <a:schemeClr val="bg1"/>
                </a:solidFill>
              </a:rPr>
              <a:t>Mohammad Mahdi Manafi</a:t>
            </a:r>
          </a:p>
        </p:txBody>
      </p:sp>
    </p:spTree>
    <p:extLst>
      <p:ext uri="{BB962C8B-B14F-4D97-AF65-F5344CB8AC3E}">
        <p14:creationId xmlns:p14="http://schemas.microsoft.com/office/powerpoint/2010/main" val="2735046404"/>
      </p:ext>
    </p:extLst>
  </p:cSld>
  <p:clrMapOvr>
    <a:masterClrMapping/>
  </p:clrMapOvr>
</p:sld>
</file>

<file path=ppt/slides/slide4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0B87F5C6-46BE-415E-99A7-266C18FA30A1}"/>
              </a:ext>
            </a:extLst>
          </p:cNvPr>
          <p:cNvSpPr>
            <a:spLocks noGrp="1"/>
          </p:cNvSpPr>
          <p:nvPr>
            <p:ph type="title"/>
          </p:nvPr>
        </p:nvSpPr>
        <p:spPr/>
        <p:txBody>
          <a:bodyPr/>
          <a:lstStyle/>
          <a:p>
            <a:r>
              <a:rPr lang="en-US" dirty="0"/>
              <a:t>Optimal H and A</a:t>
            </a:r>
          </a:p>
        </p:txBody>
      </p:sp>
      <p:sp>
        <p:nvSpPr>
          <p:cNvPr id="3" name="Content Placeholder 2">
            <a:extLst>
              <a:ext uri="{FF2B5EF4-FFF2-40B4-BE49-F238E27FC236}">
                <a16:creationId xmlns:a16="http://schemas.microsoft.com/office/drawing/2014/main" id="{8E41A0E5-3D61-44F6-845D-6AF9E6046384}"/>
              </a:ext>
            </a:extLst>
          </p:cNvPr>
          <p:cNvSpPr>
            <a:spLocks noGrp="1"/>
          </p:cNvSpPr>
          <p:nvPr>
            <p:ph idx="1"/>
          </p:nvPr>
        </p:nvSpPr>
        <p:spPr>
          <a:xfrm>
            <a:off x="1097280" y="1845734"/>
            <a:ext cx="5312302" cy="4023360"/>
          </a:xfrm>
        </p:spPr>
        <p:txBody>
          <a:bodyPr/>
          <a:lstStyle/>
          <a:p>
            <a:pPr>
              <a:buFont typeface="Wingdings" panose="05000000000000000000" pitchFamily="2" charset="2"/>
              <a:buChar char="q"/>
            </a:pPr>
            <a:r>
              <a:rPr lang="en-US" dirty="0"/>
              <a:t>Admission thresholds</a:t>
            </a:r>
          </a:p>
          <a:p>
            <a:pPr lvl="1">
              <a:buFont typeface="Wingdings" panose="05000000000000000000" pitchFamily="2" charset="2"/>
              <a:buChar char="q"/>
            </a:pPr>
            <a:r>
              <a:rPr lang="en-US" dirty="0"/>
              <a:t>Edge (H) and Fog (A)</a:t>
            </a:r>
          </a:p>
          <a:p>
            <a:pPr lvl="1">
              <a:buFont typeface="Wingdings" panose="05000000000000000000" pitchFamily="2" charset="2"/>
              <a:buChar char="q"/>
            </a:pPr>
            <a:r>
              <a:rPr lang="en-US" dirty="0"/>
              <a:t>As load increase thresholds increase</a:t>
            </a:r>
          </a:p>
          <a:p>
            <a:pPr>
              <a:buFont typeface="Wingdings" panose="05000000000000000000" pitchFamily="2" charset="2"/>
              <a:buChar char="q"/>
            </a:pPr>
            <a:r>
              <a:rPr lang="en-US" dirty="0"/>
              <a:t>Why?</a:t>
            </a:r>
          </a:p>
          <a:p>
            <a:pPr lvl="1">
              <a:buFont typeface="Wingdings" panose="05000000000000000000" pitchFamily="2" charset="2"/>
              <a:buChar char="q"/>
            </a:pPr>
            <a:r>
              <a:rPr lang="en-US" dirty="0"/>
              <a:t>Larger queue more tasks accepted</a:t>
            </a:r>
          </a:p>
          <a:p>
            <a:pPr lvl="1">
              <a:buFont typeface="Wingdings" panose="05000000000000000000" pitchFamily="2" charset="2"/>
              <a:buChar char="q"/>
            </a:pPr>
            <a:r>
              <a:rPr lang="en-US" dirty="0"/>
              <a:t>Thus throughput increase</a:t>
            </a:r>
          </a:p>
          <a:p>
            <a:pPr>
              <a:buFont typeface="Wingdings" panose="05000000000000000000" pitchFamily="2" charset="2"/>
              <a:buChar char="q"/>
            </a:pPr>
            <a:r>
              <a:rPr lang="en-US" dirty="0"/>
              <a:t>Therefore the heuristic enlarges the admission limits</a:t>
            </a:r>
          </a:p>
          <a:p>
            <a:pPr>
              <a:buFont typeface="Wingdings" panose="05000000000000000000" pitchFamily="2" charset="2"/>
              <a:buChar char="q"/>
            </a:pPr>
            <a:endParaRPr lang="en-US" dirty="0"/>
          </a:p>
        </p:txBody>
      </p:sp>
      <p:sp>
        <p:nvSpPr>
          <p:cNvPr id="4" name="Slide Number Placeholder 3">
            <a:extLst>
              <a:ext uri="{FF2B5EF4-FFF2-40B4-BE49-F238E27FC236}">
                <a16:creationId xmlns:a16="http://schemas.microsoft.com/office/drawing/2014/main" id="{DA7F2FB5-68A1-4F8C-AC6F-B5A875D7C00E}"/>
              </a:ext>
            </a:extLst>
          </p:cNvPr>
          <p:cNvSpPr>
            <a:spLocks noGrp="1"/>
          </p:cNvSpPr>
          <p:nvPr>
            <p:ph type="sldNum" sz="quarter" idx="12"/>
          </p:nvPr>
        </p:nvSpPr>
        <p:spPr/>
        <p:txBody>
          <a:bodyPr/>
          <a:lstStyle/>
          <a:p>
            <a:fld id="{DC4CAFB8-3EF6-4FAF-BDFA-EA2F8D8834E4}" type="slidenum">
              <a:rPr lang="en-US" smtClean="0"/>
              <a:t>41</a:t>
            </a:fld>
            <a:endParaRPr lang="en-US"/>
          </a:p>
        </p:txBody>
      </p:sp>
      <p:pic>
        <p:nvPicPr>
          <p:cNvPr id="6" name="Picture 5">
            <a:extLst>
              <a:ext uri="{FF2B5EF4-FFF2-40B4-BE49-F238E27FC236}">
                <a16:creationId xmlns:a16="http://schemas.microsoft.com/office/drawing/2014/main" id="{34DD321F-6B59-4FD7-852E-7EE987357D41}"/>
              </a:ext>
            </a:extLst>
          </p:cNvPr>
          <p:cNvPicPr>
            <a:picLocks noChangeAspect="1"/>
          </p:cNvPicPr>
          <p:nvPr/>
        </p:nvPicPr>
        <p:blipFill>
          <a:blip r:embed="rId2"/>
          <a:stretch>
            <a:fillRect/>
          </a:stretch>
        </p:blipFill>
        <p:spPr>
          <a:xfrm>
            <a:off x="6409582" y="2085543"/>
            <a:ext cx="4994288" cy="3783551"/>
          </a:xfrm>
          <a:prstGeom prst="rect">
            <a:avLst/>
          </a:prstGeom>
        </p:spPr>
      </p:pic>
      <p:sp>
        <p:nvSpPr>
          <p:cNvPr id="7" name="TextBox 6">
            <a:extLst>
              <a:ext uri="{FF2B5EF4-FFF2-40B4-BE49-F238E27FC236}">
                <a16:creationId xmlns:a16="http://schemas.microsoft.com/office/drawing/2014/main" id="{2C00F1B3-C145-43F2-B357-9AE7766163FC}"/>
              </a:ext>
            </a:extLst>
          </p:cNvPr>
          <p:cNvSpPr txBox="1"/>
          <p:nvPr/>
        </p:nvSpPr>
        <p:spPr>
          <a:xfrm>
            <a:off x="189571" y="6447755"/>
            <a:ext cx="3579542" cy="369332"/>
          </a:xfrm>
          <a:prstGeom prst="rect">
            <a:avLst/>
          </a:prstGeom>
          <a:noFill/>
        </p:spPr>
        <p:txBody>
          <a:bodyPr wrap="square" rtlCol="0">
            <a:spAutoFit/>
          </a:bodyPr>
          <a:lstStyle/>
          <a:p>
            <a:r>
              <a:rPr lang="en-US" dirty="0">
                <a:solidFill>
                  <a:schemeClr val="bg1"/>
                </a:solidFill>
              </a:rPr>
              <a:t>Mohammad Mahdi Manafi</a:t>
            </a:r>
          </a:p>
        </p:txBody>
      </p:sp>
    </p:spTree>
    <p:extLst>
      <p:ext uri="{BB962C8B-B14F-4D97-AF65-F5344CB8AC3E}">
        <p14:creationId xmlns:p14="http://schemas.microsoft.com/office/powerpoint/2010/main" val="996158458"/>
      </p:ext>
    </p:extLst>
  </p:cSld>
  <p:clrMapOvr>
    <a:masterClrMapping/>
  </p:clrMapOvr>
</p:sld>
</file>

<file path=ppt/slides/slide4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A5D977B-BB9C-4618-82F1-56FB8392F5DF}"/>
              </a:ext>
            </a:extLst>
          </p:cNvPr>
          <p:cNvSpPr>
            <a:spLocks noGrp="1"/>
          </p:cNvSpPr>
          <p:nvPr>
            <p:ph type="title"/>
          </p:nvPr>
        </p:nvSpPr>
        <p:spPr/>
        <p:txBody>
          <a:bodyPr/>
          <a:lstStyle/>
          <a:p>
            <a:r>
              <a:rPr lang="en-US" dirty="0"/>
              <a:t>Optimal Number of CPUs</a:t>
            </a:r>
          </a:p>
        </p:txBody>
      </p:sp>
      <p:sp>
        <p:nvSpPr>
          <p:cNvPr id="3" name="Content Placeholder 2">
            <a:extLst>
              <a:ext uri="{FF2B5EF4-FFF2-40B4-BE49-F238E27FC236}">
                <a16:creationId xmlns:a16="http://schemas.microsoft.com/office/drawing/2014/main" id="{8FB09190-E6A4-432B-BDF0-E749B22F6F51}"/>
              </a:ext>
            </a:extLst>
          </p:cNvPr>
          <p:cNvSpPr>
            <a:spLocks noGrp="1"/>
          </p:cNvSpPr>
          <p:nvPr>
            <p:ph idx="1"/>
          </p:nvPr>
        </p:nvSpPr>
        <p:spPr>
          <a:xfrm>
            <a:off x="1097280" y="1845734"/>
            <a:ext cx="4998720" cy="4023360"/>
          </a:xfrm>
        </p:spPr>
        <p:txBody>
          <a:bodyPr>
            <a:normAutofit lnSpcReduction="10000"/>
          </a:bodyPr>
          <a:lstStyle/>
          <a:p>
            <a:pPr>
              <a:buFont typeface="Wingdings" panose="05000000000000000000" pitchFamily="2" charset="2"/>
              <a:buChar char="q"/>
            </a:pPr>
            <a:r>
              <a:rPr lang="en-US" dirty="0"/>
              <a:t>Reporting</a:t>
            </a:r>
          </a:p>
          <a:p>
            <a:pPr lvl="1">
              <a:buFont typeface="Wingdings" panose="05000000000000000000" pitchFamily="2" charset="2"/>
              <a:buChar char="q"/>
            </a:pPr>
            <a:r>
              <a:rPr lang="en-US" dirty="0"/>
              <a:t>K , F, S</a:t>
            </a:r>
          </a:p>
          <a:p>
            <a:pPr>
              <a:buFont typeface="Wingdings" panose="05000000000000000000" pitchFamily="2" charset="2"/>
              <a:buChar char="q"/>
            </a:pPr>
            <a:r>
              <a:rPr lang="en-US" dirty="0"/>
              <a:t>As traffic increase </a:t>
            </a:r>
          </a:p>
          <a:p>
            <a:pPr lvl="1">
              <a:buFont typeface="Wingdings" panose="05000000000000000000" pitchFamily="2" charset="2"/>
              <a:buChar char="q"/>
            </a:pPr>
            <a:r>
              <a:rPr lang="en-US" dirty="0"/>
              <a:t>K, F, S also increase</a:t>
            </a:r>
          </a:p>
          <a:p>
            <a:pPr>
              <a:buFont typeface="Wingdings" panose="05000000000000000000" pitchFamily="2" charset="2"/>
              <a:buChar char="q"/>
            </a:pPr>
            <a:r>
              <a:rPr lang="en-US" dirty="0"/>
              <a:t>The growth is not linear</a:t>
            </a:r>
          </a:p>
          <a:p>
            <a:pPr>
              <a:buFont typeface="Wingdings" panose="05000000000000000000" pitchFamily="2" charset="2"/>
              <a:buChar char="q"/>
            </a:pPr>
            <a:r>
              <a:rPr lang="en-US" dirty="0"/>
              <a:t>Optimizer only activates additional CPUs when the Obj </a:t>
            </a:r>
            <a:r>
              <a:rPr lang="en-US" dirty="0" err="1"/>
              <a:t>func</a:t>
            </a:r>
            <a:r>
              <a:rPr lang="en-US" dirty="0"/>
              <a:t> gain, exceeds the activation cost</a:t>
            </a:r>
          </a:p>
          <a:p>
            <a:pPr>
              <a:buFont typeface="Wingdings" panose="05000000000000000000" pitchFamily="2" charset="2"/>
              <a:buChar char="q"/>
            </a:pPr>
            <a:r>
              <a:rPr lang="en-US" dirty="0"/>
              <a:t>This is expected because</a:t>
            </a:r>
          </a:p>
          <a:p>
            <a:pPr lvl="1">
              <a:buFont typeface="Wingdings" panose="05000000000000000000" pitchFamily="2" charset="2"/>
              <a:buChar char="q"/>
            </a:pPr>
            <a:r>
              <a:rPr lang="en-US" dirty="0"/>
              <a:t>More jobs arrive</a:t>
            </a:r>
          </a:p>
          <a:p>
            <a:pPr lvl="1">
              <a:buFont typeface="Wingdings" panose="05000000000000000000" pitchFamily="2" charset="2"/>
              <a:buChar char="q"/>
            </a:pPr>
            <a:r>
              <a:rPr lang="en-US" dirty="0"/>
              <a:t>Thus, more servers are needed to keep delays under control</a:t>
            </a:r>
          </a:p>
        </p:txBody>
      </p:sp>
      <p:sp>
        <p:nvSpPr>
          <p:cNvPr id="4" name="Slide Number Placeholder 3">
            <a:extLst>
              <a:ext uri="{FF2B5EF4-FFF2-40B4-BE49-F238E27FC236}">
                <a16:creationId xmlns:a16="http://schemas.microsoft.com/office/drawing/2014/main" id="{7F050433-33B5-4075-9C0B-39FACC96333C}"/>
              </a:ext>
            </a:extLst>
          </p:cNvPr>
          <p:cNvSpPr>
            <a:spLocks noGrp="1"/>
          </p:cNvSpPr>
          <p:nvPr>
            <p:ph type="sldNum" sz="quarter" idx="12"/>
          </p:nvPr>
        </p:nvSpPr>
        <p:spPr/>
        <p:txBody>
          <a:bodyPr/>
          <a:lstStyle/>
          <a:p>
            <a:fld id="{DC4CAFB8-3EF6-4FAF-BDFA-EA2F8D8834E4}" type="slidenum">
              <a:rPr lang="en-US" smtClean="0"/>
              <a:t>42</a:t>
            </a:fld>
            <a:endParaRPr lang="en-US"/>
          </a:p>
        </p:txBody>
      </p:sp>
      <p:pic>
        <p:nvPicPr>
          <p:cNvPr id="6" name="Picture 5">
            <a:extLst>
              <a:ext uri="{FF2B5EF4-FFF2-40B4-BE49-F238E27FC236}">
                <a16:creationId xmlns:a16="http://schemas.microsoft.com/office/drawing/2014/main" id="{0F84246B-2D5B-4BE3-B599-27C340A78300}"/>
              </a:ext>
            </a:extLst>
          </p:cNvPr>
          <p:cNvPicPr>
            <a:picLocks noChangeAspect="1"/>
          </p:cNvPicPr>
          <p:nvPr/>
        </p:nvPicPr>
        <p:blipFill>
          <a:blip r:embed="rId2"/>
          <a:stretch>
            <a:fillRect/>
          </a:stretch>
        </p:blipFill>
        <p:spPr>
          <a:xfrm>
            <a:off x="6350918" y="2093163"/>
            <a:ext cx="4999788" cy="3775931"/>
          </a:xfrm>
          <a:prstGeom prst="rect">
            <a:avLst/>
          </a:prstGeom>
        </p:spPr>
      </p:pic>
      <p:sp>
        <p:nvSpPr>
          <p:cNvPr id="7" name="TextBox 6">
            <a:extLst>
              <a:ext uri="{FF2B5EF4-FFF2-40B4-BE49-F238E27FC236}">
                <a16:creationId xmlns:a16="http://schemas.microsoft.com/office/drawing/2014/main" id="{57ABFC2D-6631-437C-B42B-7B34FD838427}"/>
              </a:ext>
            </a:extLst>
          </p:cNvPr>
          <p:cNvSpPr txBox="1"/>
          <p:nvPr/>
        </p:nvSpPr>
        <p:spPr>
          <a:xfrm>
            <a:off x="189571" y="6447755"/>
            <a:ext cx="3579542" cy="369332"/>
          </a:xfrm>
          <a:prstGeom prst="rect">
            <a:avLst/>
          </a:prstGeom>
          <a:noFill/>
        </p:spPr>
        <p:txBody>
          <a:bodyPr wrap="square" rtlCol="0">
            <a:spAutoFit/>
          </a:bodyPr>
          <a:lstStyle/>
          <a:p>
            <a:r>
              <a:rPr lang="en-US" dirty="0">
                <a:solidFill>
                  <a:schemeClr val="bg1"/>
                </a:solidFill>
              </a:rPr>
              <a:t>Mohammad Mahdi Manafi</a:t>
            </a:r>
          </a:p>
        </p:txBody>
      </p:sp>
    </p:spTree>
    <p:extLst>
      <p:ext uri="{BB962C8B-B14F-4D97-AF65-F5344CB8AC3E}">
        <p14:creationId xmlns:p14="http://schemas.microsoft.com/office/powerpoint/2010/main" val="3795826996"/>
      </p:ext>
    </p:extLst>
  </p:cSld>
  <p:clrMapOvr>
    <a:masterClrMapping/>
  </p:clrMapOvr>
</p:sld>
</file>

<file path=ppt/slides/slide4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9C41B6B-A88A-4623-80D2-B016F828BAD3}"/>
              </a:ext>
            </a:extLst>
          </p:cNvPr>
          <p:cNvSpPr>
            <a:spLocks noGrp="1"/>
          </p:cNvSpPr>
          <p:nvPr>
            <p:ph type="title"/>
          </p:nvPr>
        </p:nvSpPr>
        <p:spPr/>
        <p:txBody>
          <a:bodyPr/>
          <a:lstStyle/>
          <a:p>
            <a:r>
              <a:rPr lang="en-US" dirty="0"/>
              <a:t>Deadline violation probability</a:t>
            </a:r>
          </a:p>
        </p:txBody>
      </p:sp>
      <p:sp>
        <p:nvSpPr>
          <p:cNvPr id="4" name="Slide Number Placeholder 3">
            <a:extLst>
              <a:ext uri="{FF2B5EF4-FFF2-40B4-BE49-F238E27FC236}">
                <a16:creationId xmlns:a16="http://schemas.microsoft.com/office/drawing/2014/main" id="{041C16A4-1876-477B-8690-F1CC39904834}"/>
              </a:ext>
            </a:extLst>
          </p:cNvPr>
          <p:cNvSpPr>
            <a:spLocks noGrp="1"/>
          </p:cNvSpPr>
          <p:nvPr>
            <p:ph type="sldNum" sz="quarter" idx="12"/>
          </p:nvPr>
        </p:nvSpPr>
        <p:spPr/>
        <p:txBody>
          <a:bodyPr/>
          <a:lstStyle/>
          <a:p>
            <a:fld id="{DC4CAFB8-3EF6-4FAF-BDFA-EA2F8D8834E4}" type="slidenum">
              <a:rPr lang="en-US" smtClean="0"/>
              <a:t>43</a:t>
            </a:fld>
            <a:endParaRPr lang="en-US"/>
          </a:p>
        </p:txBody>
      </p:sp>
      <p:pic>
        <p:nvPicPr>
          <p:cNvPr id="6" name="Picture 5">
            <a:extLst>
              <a:ext uri="{FF2B5EF4-FFF2-40B4-BE49-F238E27FC236}">
                <a16:creationId xmlns:a16="http://schemas.microsoft.com/office/drawing/2014/main" id="{4597F3DA-7804-45A0-BCAE-16D213646862}"/>
              </a:ext>
            </a:extLst>
          </p:cNvPr>
          <p:cNvPicPr>
            <a:picLocks noChangeAspect="1"/>
          </p:cNvPicPr>
          <p:nvPr/>
        </p:nvPicPr>
        <p:blipFill>
          <a:blip r:embed="rId2"/>
          <a:stretch>
            <a:fillRect/>
          </a:stretch>
        </p:blipFill>
        <p:spPr>
          <a:xfrm>
            <a:off x="1097280" y="2245185"/>
            <a:ext cx="4596799" cy="3485764"/>
          </a:xfrm>
          <a:prstGeom prst="rect">
            <a:avLst/>
          </a:prstGeom>
        </p:spPr>
      </p:pic>
      <p:pic>
        <p:nvPicPr>
          <p:cNvPr id="8" name="Picture 7">
            <a:extLst>
              <a:ext uri="{FF2B5EF4-FFF2-40B4-BE49-F238E27FC236}">
                <a16:creationId xmlns:a16="http://schemas.microsoft.com/office/drawing/2014/main" id="{5CC6FA5F-EA86-4599-8DEC-A0ABC32AE8A8}"/>
              </a:ext>
            </a:extLst>
          </p:cNvPr>
          <p:cNvPicPr>
            <a:picLocks noChangeAspect="1"/>
          </p:cNvPicPr>
          <p:nvPr/>
        </p:nvPicPr>
        <p:blipFill>
          <a:blip r:embed="rId3"/>
          <a:stretch>
            <a:fillRect/>
          </a:stretch>
        </p:blipFill>
        <p:spPr>
          <a:xfrm>
            <a:off x="6126480" y="2245185"/>
            <a:ext cx="4596799" cy="3485764"/>
          </a:xfrm>
          <a:prstGeom prst="rect">
            <a:avLst/>
          </a:prstGeom>
        </p:spPr>
      </p:pic>
      <p:sp>
        <p:nvSpPr>
          <p:cNvPr id="7" name="TextBox 6">
            <a:extLst>
              <a:ext uri="{FF2B5EF4-FFF2-40B4-BE49-F238E27FC236}">
                <a16:creationId xmlns:a16="http://schemas.microsoft.com/office/drawing/2014/main" id="{DE39452D-A561-42B6-8DAC-D91B7F971B99}"/>
              </a:ext>
            </a:extLst>
          </p:cNvPr>
          <p:cNvSpPr txBox="1"/>
          <p:nvPr/>
        </p:nvSpPr>
        <p:spPr>
          <a:xfrm>
            <a:off x="189571" y="6447755"/>
            <a:ext cx="3579542" cy="369332"/>
          </a:xfrm>
          <a:prstGeom prst="rect">
            <a:avLst/>
          </a:prstGeom>
          <a:noFill/>
        </p:spPr>
        <p:txBody>
          <a:bodyPr wrap="square" rtlCol="0">
            <a:spAutoFit/>
          </a:bodyPr>
          <a:lstStyle/>
          <a:p>
            <a:r>
              <a:rPr lang="en-US" dirty="0">
                <a:solidFill>
                  <a:schemeClr val="bg1"/>
                </a:solidFill>
              </a:rPr>
              <a:t>Mohammad Mahdi Manafi</a:t>
            </a:r>
          </a:p>
        </p:txBody>
      </p:sp>
    </p:spTree>
    <p:extLst>
      <p:ext uri="{BB962C8B-B14F-4D97-AF65-F5344CB8AC3E}">
        <p14:creationId xmlns:p14="http://schemas.microsoft.com/office/powerpoint/2010/main" val="3972500632"/>
      </p:ext>
    </p:extLst>
  </p:cSld>
  <p:clrMapOvr>
    <a:masterClrMapping/>
  </p:clrMapOvr>
</p:sld>
</file>

<file path=ppt/slides/slide4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9C41B6B-A88A-4623-80D2-B016F828BAD3}"/>
              </a:ext>
            </a:extLst>
          </p:cNvPr>
          <p:cNvSpPr>
            <a:spLocks noGrp="1"/>
          </p:cNvSpPr>
          <p:nvPr>
            <p:ph type="title"/>
          </p:nvPr>
        </p:nvSpPr>
        <p:spPr/>
        <p:txBody>
          <a:bodyPr/>
          <a:lstStyle/>
          <a:p>
            <a:r>
              <a:rPr lang="en-US" dirty="0"/>
              <a:t>Deadline violation probability</a:t>
            </a:r>
          </a:p>
        </p:txBody>
      </p:sp>
      <p:sp>
        <p:nvSpPr>
          <p:cNvPr id="4" name="Slide Number Placeholder 3">
            <a:extLst>
              <a:ext uri="{FF2B5EF4-FFF2-40B4-BE49-F238E27FC236}">
                <a16:creationId xmlns:a16="http://schemas.microsoft.com/office/drawing/2014/main" id="{041C16A4-1876-477B-8690-F1CC39904834}"/>
              </a:ext>
            </a:extLst>
          </p:cNvPr>
          <p:cNvSpPr>
            <a:spLocks noGrp="1"/>
          </p:cNvSpPr>
          <p:nvPr>
            <p:ph type="sldNum" sz="quarter" idx="12"/>
          </p:nvPr>
        </p:nvSpPr>
        <p:spPr/>
        <p:txBody>
          <a:bodyPr/>
          <a:lstStyle/>
          <a:p>
            <a:fld id="{DC4CAFB8-3EF6-4FAF-BDFA-EA2F8D8834E4}" type="slidenum">
              <a:rPr lang="en-US" smtClean="0"/>
              <a:t>44</a:t>
            </a:fld>
            <a:endParaRPr lang="en-US"/>
          </a:p>
        </p:txBody>
      </p:sp>
      <p:pic>
        <p:nvPicPr>
          <p:cNvPr id="5" name="Picture 4">
            <a:extLst>
              <a:ext uri="{FF2B5EF4-FFF2-40B4-BE49-F238E27FC236}">
                <a16:creationId xmlns:a16="http://schemas.microsoft.com/office/drawing/2014/main" id="{202FADD4-6362-444D-8BC1-834BD9DA35D9}"/>
              </a:ext>
            </a:extLst>
          </p:cNvPr>
          <p:cNvPicPr>
            <a:picLocks noChangeAspect="1"/>
          </p:cNvPicPr>
          <p:nvPr/>
        </p:nvPicPr>
        <p:blipFill>
          <a:blip r:embed="rId2"/>
          <a:stretch>
            <a:fillRect/>
          </a:stretch>
        </p:blipFill>
        <p:spPr>
          <a:xfrm>
            <a:off x="6282855" y="1874138"/>
            <a:ext cx="5480653" cy="3951894"/>
          </a:xfrm>
          <a:prstGeom prst="rect">
            <a:avLst/>
          </a:prstGeom>
        </p:spPr>
      </p:pic>
      <p:sp>
        <p:nvSpPr>
          <p:cNvPr id="10" name="TextBox 9">
            <a:extLst>
              <a:ext uri="{FF2B5EF4-FFF2-40B4-BE49-F238E27FC236}">
                <a16:creationId xmlns:a16="http://schemas.microsoft.com/office/drawing/2014/main" id="{55191F4A-C9FA-411F-979C-8BCB91FE2A38}"/>
              </a:ext>
            </a:extLst>
          </p:cNvPr>
          <p:cNvSpPr txBox="1"/>
          <p:nvPr/>
        </p:nvSpPr>
        <p:spPr>
          <a:xfrm flipH="1">
            <a:off x="1097279" y="2789457"/>
            <a:ext cx="5282255" cy="646331"/>
          </a:xfrm>
          <a:prstGeom prst="rect">
            <a:avLst/>
          </a:prstGeom>
          <a:noFill/>
        </p:spPr>
        <p:txBody>
          <a:bodyPr wrap="square" rtlCol="0">
            <a:spAutoFit/>
          </a:bodyPr>
          <a:lstStyle/>
          <a:p>
            <a:r>
              <a:rPr lang="en-US" dirty="0"/>
              <a:t>The heuristic approach keeps the violation probability below the target.</a:t>
            </a:r>
          </a:p>
        </p:txBody>
      </p:sp>
      <p:sp>
        <p:nvSpPr>
          <p:cNvPr id="11" name="TextBox 10">
            <a:extLst>
              <a:ext uri="{FF2B5EF4-FFF2-40B4-BE49-F238E27FC236}">
                <a16:creationId xmlns:a16="http://schemas.microsoft.com/office/drawing/2014/main" id="{2E7182DD-B280-4EC8-8617-B378B1D00E80}"/>
              </a:ext>
            </a:extLst>
          </p:cNvPr>
          <p:cNvSpPr txBox="1"/>
          <p:nvPr/>
        </p:nvSpPr>
        <p:spPr>
          <a:xfrm>
            <a:off x="1097279" y="3567998"/>
            <a:ext cx="5667154" cy="923330"/>
          </a:xfrm>
          <a:prstGeom prst="rect">
            <a:avLst/>
          </a:prstGeom>
          <a:noFill/>
        </p:spPr>
        <p:txBody>
          <a:bodyPr wrap="square" rtlCol="0">
            <a:spAutoFit/>
          </a:bodyPr>
          <a:lstStyle/>
          <a:p>
            <a:r>
              <a:rPr lang="en-US" dirty="0"/>
              <a:t>when load increases then the algorithm activates additional resources, thus deadline guarantees are maintained</a:t>
            </a:r>
          </a:p>
        </p:txBody>
      </p:sp>
      <p:sp>
        <p:nvSpPr>
          <p:cNvPr id="12" name="TextBox 11">
            <a:extLst>
              <a:ext uri="{FF2B5EF4-FFF2-40B4-BE49-F238E27FC236}">
                <a16:creationId xmlns:a16="http://schemas.microsoft.com/office/drawing/2014/main" id="{EAD3CFED-ECBF-4775-B839-399F489D0CEB}"/>
              </a:ext>
            </a:extLst>
          </p:cNvPr>
          <p:cNvSpPr txBox="1"/>
          <p:nvPr/>
        </p:nvSpPr>
        <p:spPr>
          <a:xfrm>
            <a:off x="189571" y="6447755"/>
            <a:ext cx="3579542" cy="369332"/>
          </a:xfrm>
          <a:prstGeom prst="rect">
            <a:avLst/>
          </a:prstGeom>
          <a:noFill/>
        </p:spPr>
        <p:txBody>
          <a:bodyPr wrap="square" rtlCol="0">
            <a:spAutoFit/>
          </a:bodyPr>
          <a:lstStyle/>
          <a:p>
            <a:r>
              <a:rPr lang="en-US" dirty="0">
                <a:solidFill>
                  <a:schemeClr val="bg1"/>
                </a:solidFill>
              </a:rPr>
              <a:t>Mohammad Mahdi Manafi</a:t>
            </a:r>
          </a:p>
        </p:txBody>
      </p:sp>
    </p:spTree>
    <p:extLst>
      <p:ext uri="{BB962C8B-B14F-4D97-AF65-F5344CB8AC3E}">
        <p14:creationId xmlns:p14="http://schemas.microsoft.com/office/powerpoint/2010/main" val="2514459511"/>
      </p:ext>
    </p:extLst>
  </p:cSld>
  <p:clrMapOvr>
    <a:masterClrMapping/>
  </p:clrMapOvr>
</p:sld>
</file>

<file path=ppt/slides/slide4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3B18F63-C8A6-42DF-ACB1-55F0FBC7D9F5}"/>
              </a:ext>
            </a:extLst>
          </p:cNvPr>
          <p:cNvSpPr>
            <a:spLocks noGrp="1"/>
          </p:cNvSpPr>
          <p:nvPr>
            <p:ph type="title"/>
          </p:nvPr>
        </p:nvSpPr>
        <p:spPr/>
        <p:txBody>
          <a:bodyPr/>
          <a:lstStyle/>
          <a:p>
            <a:r>
              <a:rPr lang="en-US" dirty="0"/>
              <a:t>Conclusion</a:t>
            </a:r>
          </a:p>
        </p:txBody>
      </p:sp>
      <mc:AlternateContent xmlns:mc="http://schemas.openxmlformats.org/markup-compatibility/2006" xmlns:a14="http://schemas.microsoft.com/office/drawing/2010/main">
        <mc:Choice Requires="a14">
          <p:sp>
            <p:nvSpPr>
              <p:cNvPr id="3" name="Content Placeholder 2">
                <a:extLst>
                  <a:ext uri="{FF2B5EF4-FFF2-40B4-BE49-F238E27FC236}">
                    <a16:creationId xmlns:a16="http://schemas.microsoft.com/office/drawing/2014/main" id="{A0D793C9-6D33-443A-AB44-D9FC4E26569D}"/>
                  </a:ext>
                </a:extLst>
              </p:cNvPr>
              <p:cNvSpPr>
                <a:spLocks noGrp="1"/>
              </p:cNvSpPr>
              <p:nvPr>
                <p:ph idx="1"/>
              </p:nvPr>
            </p:nvSpPr>
            <p:spPr/>
            <p:txBody>
              <a:bodyPr/>
              <a:lstStyle/>
              <a:p>
                <a:pPr>
                  <a:buFont typeface="Wingdings" panose="05000000000000000000" pitchFamily="2" charset="2"/>
                  <a:buChar char="q"/>
                </a:pPr>
                <a:r>
                  <a:rPr lang="en-US" dirty="0"/>
                  <a:t>Analytical model accuracy</a:t>
                </a:r>
              </a:p>
              <a:p>
                <a:pPr lvl="1">
                  <a:buFont typeface="Wingdings" panose="05000000000000000000" pitchFamily="2" charset="2"/>
                  <a:buChar char="q"/>
                </a:pPr>
                <a:r>
                  <a:rPr lang="en-US" dirty="0"/>
                  <a:t>Queuing model approximations predict performance very closely</a:t>
                </a:r>
              </a:p>
              <a:p>
                <a:pPr>
                  <a:buFont typeface="Wingdings" panose="05000000000000000000" pitchFamily="2" charset="2"/>
                  <a:buChar char="q"/>
                </a:pPr>
                <a:r>
                  <a:rPr lang="en-US" dirty="0"/>
                  <a:t>Heuristic behavior is sensible</a:t>
                </a:r>
              </a:p>
              <a:p>
                <a:pPr>
                  <a:buFont typeface="Wingdings" panose="05000000000000000000" pitchFamily="2" charset="2"/>
                  <a:buChar char="q"/>
                </a:pPr>
                <a:r>
                  <a:rPr lang="en-US" dirty="0"/>
                  <a:t>QoS constraints are satisfied</a:t>
                </a:r>
              </a:p>
              <a:p>
                <a:pPr lvl="1">
                  <a:buFont typeface="Wingdings" panose="05000000000000000000" pitchFamily="2" charset="2"/>
                  <a:buChar char="q"/>
                </a:pPr>
                <a:r>
                  <a:rPr lang="en-US" dirty="0"/>
                  <a:t>The deadline violation probability remains below the target</a:t>
                </a:r>
              </a:p>
              <a:p>
                <a:pPr lvl="2">
                  <a:buFont typeface="Wingdings" panose="05000000000000000000" pitchFamily="2" charset="2"/>
                  <a:buChar char="q"/>
                </a:pPr>
                <a14:m>
                  <m:oMath xmlns:m="http://schemas.openxmlformats.org/officeDocument/2006/math">
                    <m:sSub>
                      <m:sSubPr>
                        <m:ctrlPr>
                          <a:rPr lang="en-US" i="1" smtClean="0">
                            <a:latin typeface="Cambria Math" panose="02040503050406030204" pitchFamily="18" charset="0"/>
                          </a:rPr>
                        </m:ctrlPr>
                      </m:sSubPr>
                      <m:e>
                        <m:r>
                          <a:rPr lang="en-US" b="0" i="1" smtClean="0">
                            <a:latin typeface="Cambria Math" panose="02040503050406030204" pitchFamily="18" charset="0"/>
                          </a:rPr>
                          <m:t>𝑃</m:t>
                        </m:r>
                      </m:e>
                      <m:sub>
                        <m:r>
                          <a:rPr lang="en-US" b="0" i="1" smtClean="0">
                            <a:latin typeface="Cambria Math" panose="02040503050406030204" pitchFamily="18" charset="0"/>
                          </a:rPr>
                          <m:t>𝑂𝑈𝑇</m:t>
                        </m:r>
                      </m:sub>
                    </m:sSub>
                    <m:r>
                      <a:rPr lang="en-US" b="0" i="1" smtClean="0">
                        <a:latin typeface="Cambria Math" panose="02040503050406030204" pitchFamily="18" charset="0"/>
                      </a:rPr>
                      <m:t>≤3∗</m:t>
                    </m:r>
                    <m:sSup>
                      <m:sSupPr>
                        <m:ctrlPr>
                          <a:rPr lang="en-US" b="0" i="1" smtClean="0">
                            <a:latin typeface="Cambria Math" panose="02040503050406030204" pitchFamily="18" charset="0"/>
                          </a:rPr>
                        </m:ctrlPr>
                      </m:sSupPr>
                      <m:e>
                        <m:r>
                          <a:rPr lang="en-US" b="0" i="1" smtClean="0">
                            <a:latin typeface="Cambria Math" panose="02040503050406030204" pitchFamily="18" charset="0"/>
                          </a:rPr>
                          <m:t>10</m:t>
                        </m:r>
                      </m:e>
                      <m:sup>
                        <m:r>
                          <a:rPr lang="en-US" b="0" i="1" smtClean="0">
                            <a:latin typeface="Cambria Math" panose="02040503050406030204" pitchFamily="18" charset="0"/>
                          </a:rPr>
                          <m:t>−3</m:t>
                        </m:r>
                      </m:sup>
                    </m:sSup>
                  </m:oMath>
                </a14:m>
                <a:endParaRPr lang="en-US" dirty="0"/>
              </a:p>
            </p:txBody>
          </p:sp>
        </mc:Choice>
        <mc:Fallback xmlns="">
          <p:sp>
            <p:nvSpPr>
              <p:cNvPr id="3" name="Content Placeholder 2">
                <a:extLst>
                  <a:ext uri="{FF2B5EF4-FFF2-40B4-BE49-F238E27FC236}">
                    <a16:creationId xmlns:a16="http://schemas.microsoft.com/office/drawing/2014/main" id="{A0D793C9-6D33-443A-AB44-D9FC4E26569D}"/>
                  </a:ext>
                </a:extLst>
              </p:cNvPr>
              <p:cNvSpPr>
                <a:spLocks noGrp="1" noRot="1" noChangeAspect="1" noMove="1" noResize="1" noEditPoints="1" noAdjustHandles="1" noChangeArrowheads="1" noChangeShapeType="1" noTextEdit="1"/>
              </p:cNvSpPr>
              <p:nvPr>
                <p:ph idx="1"/>
              </p:nvPr>
            </p:nvSpPr>
            <p:spPr>
              <a:blipFill>
                <a:blip r:embed="rId2"/>
                <a:stretch>
                  <a:fillRect l="-1455" t="-1667"/>
                </a:stretch>
              </a:blipFill>
            </p:spPr>
            <p:txBody>
              <a:bodyPr/>
              <a:lstStyle/>
              <a:p>
                <a:r>
                  <a:rPr lang="en-US">
                    <a:noFill/>
                  </a:rPr>
                  <a:t> </a:t>
                </a:r>
              </a:p>
            </p:txBody>
          </p:sp>
        </mc:Fallback>
      </mc:AlternateContent>
      <p:sp>
        <p:nvSpPr>
          <p:cNvPr id="4" name="Slide Number Placeholder 3">
            <a:extLst>
              <a:ext uri="{FF2B5EF4-FFF2-40B4-BE49-F238E27FC236}">
                <a16:creationId xmlns:a16="http://schemas.microsoft.com/office/drawing/2014/main" id="{26FB7E01-7FAC-4D4A-B8DE-5703394D059F}"/>
              </a:ext>
            </a:extLst>
          </p:cNvPr>
          <p:cNvSpPr>
            <a:spLocks noGrp="1"/>
          </p:cNvSpPr>
          <p:nvPr>
            <p:ph type="sldNum" sz="quarter" idx="12"/>
          </p:nvPr>
        </p:nvSpPr>
        <p:spPr/>
        <p:txBody>
          <a:bodyPr/>
          <a:lstStyle/>
          <a:p>
            <a:fld id="{DC4CAFB8-3EF6-4FAF-BDFA-EA2F8D8834E4}" type="slidenum">
              <a:rPr lang="en-US" smtClean="0"/>
              <a:t>45</a:t>
            </a:fld>
            <a:endParaRPr lang="en-US"/>
          </a:p>
        </p:txBody>
      </p:sp>
      <p:sp>
        <p:nvSpPr>
          <p:cNvPr id="5" name="TextBox 4">
            <a:extLst>
              <a:ext uri="{FF2B5EF4-FFF2-40B4-BE49-F238E27FC236}">
                <a16:creationId xmlns:a16="http://schemas.microsoft.com/office/drawing/2014/main" id="{16063723-25A5-48AB-889E-828A0B6722C3}"/>
              </a:ext>
            </a:extLst>
          </p:cNvPr>
          <p:cNvSpPr txBox="1"/>
          <p:nvPr/>
        </p:nvSpPr>
        <p:spPr>
          <a:xfrm>
            <a:off x="189571" y="6447755"/>
            <a:ext cx="3579542" cy="369332"/>
          </a:xfrm>
          <a:prstGeom prst="rect">
            <a:avLst/>
          </a:prstGeom>
          <a:noFill/>
        </p:spPr>
        <p:txBody>
          <a:bodyPr wrap="square" rtlCol="0">
            <a:spAutoFit/>
          </a:bodyPr>
          <a:lstStyle/>
          <a:p>
            <a:r>
              <a:rPr lang="en-US" dirty="0">
                <a:solidFill>
                  <a:schemeClr val="bg1"/>
                </a:solidFill>
              </a:rPr>
              <a:t>Mohammad Mahdi Manafi</a:t>
            </a:r>
          </a:p>
        </p:txBody>
      </p:sp>
    </p:spTree>
    <p:extLst>
      <p:ext uri="{BB962C8B-B14F-4D97-AF65-F5344CB8AC3E}">
        <p14:creationId xmlns:p14="http://schemas.microsoft.com/office/powerpoint/2010/main" val="592770492"/>
      </p:ext>
    </p:extLst>
  </p:cSld>
  <p:clrMapOvr>
    <a:masterClrMapping/>
  </p:clrMapOvr>
</p:sld>
</file>

<file path=ppt/slides/slide4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580801F2-99DF-4632-ABF3-FECB3961B449}"/>
              </a:ext>
            </a:extLst>
          </p:cNvPr>
          <p:cNvSpPr>
            <a:spLocks noGrp="1"/>
          </p:cNvSpPr>
          <p:nvPr>
            <p:ph type="title"/>
          </p:nvPr>
        </p:nvSpPr>
        <p:spPr/>
        <p:txBody>
          <a:bodyPr/>
          <a:lstStyle/>
          <a:p>
            <a:r>
              <a:rPr lang="en-US" dirty="0"/>
              <a:t>References </a:t>
            </a:r>
          </a:p>
        </p:txBody>
      </p:sp>
      <p:sp>
        <p:nvSpPr>
          <p:cNvPr id="3" name="Content Placeholder 2">
            <a:extLst>
              <a:ext uri="{FF2B5EF4-FFF2-40B4-BE49-F238E27FC236}">
                <a16:creationId xmlns:a16="http://schemas.microsoft.com/office/drawing/2014/main" id="{C5F8377A-D1FB-497E-8716-C6D68C5186B4}"/>
              </a:ext>
            </a:extLst>
          </p:cNvPr>
          <p:cNvSpPr>
            <a:spLocks noGrp="1"/>
          </p:cNvSpPr>
          <p:nvPr>
            <p:ph idx="1"/>
          </p:nvPr>
        </p:nvSpPr>
        <p:spPr/>
        <p:txBody>
          <a:bodyPr/>
          <a:lstStyle/>
          <a:p>
            <a:r>
              <a:rPr lang="en-US" sz="1800" b="0" i="0" dirty="0">
                <a:solidFill>
                  <a:srgbClr val="242021"/>
                </a:solidFill>
                <a:effectLst/>
                <a:latin typeface="Times-Roman"/>
              </a:rPr>
              <a:t>Romano </a:t>
            </a:r>
            <a:r>
              <a:rPr lang="en-US" sz="1800" b="0" i="0" dirty="0" err="1">
                <a:solidFill>
                  <a:srgbClr val="242021"/>
                </a:solidFill>
                <a:effectLst/>
                <a:latin typeface="Times-Roman"/>
              </a:rPr>
              <a:t>Fantacci</a:t>
            </a:r>
            <a:r>
              <a:rPr lang="en-US" dirty="0"/>
              <a:t>, </a:t>
            </a:r>
            <a:r>
              <a:rPr lang="en-US" sz="1800" b="0" i="0" dirty="0" err="1">
                <a:solidFill>
                  <a:srgbClr val="242021"/>
                </a:solidFill>
                <a:effectLst/>
                <a:latin typeface="Times-Roman"/>
              </a:rPr>
              <a:t>Benedetta</a:t>
            </a:r>
            <a:r>
              <a:rPr lang="en-US" sz="1800" b="0" i="0" dirty="0">
                <a:solidFill>
                  <a:srgbClr val="242021"/>
                </a:solidFill>
                <a:effectLst/>
                <a:latin typeface="Times-Roman"/>
              </a:rPr>
              <a:t> </a:t>
            </a:r>
            <a:r>
              <a:rPr lang="en-US" sz="1800" b="0" i="0" dirty="0" err="1">
                <a:solidFill>
                  <a:srgbClr val="242021"/>
                </a:solidFill>
                <a:effectLst/>
                <a:latin typeface="Times-Roman"/>
              </a:rPr>
              <a:t>Picano</a:t>
            </a:r>
            <a:r>
              <a:rPr lang="en-US" sz="1800" b="0" i="0" dirty="0">
                <a:solidFill>
                  <a:srgbClr val="242021"/>
                </a:solidFill>
                <a:effectLst/>
                <a:latin typeface="Times-Roman"/>
              </a:rPr>
              <a:t>, “</a:t>
            </a:r>
            <a:r>
              <a:rPr lang="en-US" sz="1800" b="0" i="1" dirty="0">
                <a:solidFill>
                  <a:srgbClr val="242021"/>
                </a:solidFill>
                <a:effectLst/>
                <a:latin typeface="Times-Roman"/>
              </a:rPr>
              <a:t>Performance Analysis of a Delay Constrained Data Offloading Scheme in an Integrated Cloud-Fog-Edge Computing System</a:t>
            </a:r>
            <a:r>
              <a:rPr lang="en-US" sz="1600" i="1" dirty="0"/>
              <a:t> </a:t>
            </a:r>
            <a:r>
              <a:rPr lang="en-US" sz="1800" b="0" i="1" dirty="0">
                <a:solidFill>
                  <a:srgbClr val="242021"/>
                </a:solidFill>
                <a:effectLst/>
                <a:latin typeface="Times-Roman"/>
              </a:rPr>
              <a:t>”, </a:t>
            </a:r>
            <a:r>
              <a:rPr lang="en-US" sz="1800" b="0" i="0" dirty="0">
                <a:solidFill>
                  <a:srgbClr val="242021"/>
                </a:solidFill>
                <a:effectLst/>
                <a:latin typeface="Times-Roman"/>
              </a:rPr>
              <a:t>IEEE TRANSACTIONS ON VEHICULAR TECHNOLOGY, VOL. 69, NO. 10, OCTOBER 2020.</a:t>
            </a:r>
            <a:br>
              <a:rPr lang="en-US" dirty="0"/>
            </a:br>
            <a:br>
              <a:rPr lang="en-US" dirty="0"/>
            </a:br>
            <a:endParaRPr lang="en-US" dirty="0"/>
          </a:p>
        </p:txBody>
      </p:sp>
      <p:sp>
        <p:nvSpPr>
          <p:cNvPr id="4" name="Slide Number Placeholder 3">
            <a:extLst>
              <a:ext uri="{FF2B5EF4-FFF2-40B4-BE49-F238E27FC236}">
                <a16:creationId xmlns:a16="http://schemas.microsoft.com/office/drawing/2014/main" id="{5B2633F6-3CD1-4668-92E3-40CB0349BD49}"/>
              </a:ext>
            </a:extLst>
          </p:cNvPr>
          <p:cNvSpPr>
            <a:spLocks noGrp="1"/>
          </p:cNvSpPr>
          <p:nvPr>
            <p:ph type="sldNum" sz="quarter" idx="12"/>
          </p:nvPr>
        </p:nvSpPr>
        <p:spPr/>
        <p:txBody>
          <a:bodyPr/>
          <a:lstStyle/>
          <a:p>
            <a:fld id="{DC4CAFB8-3EF6-4FAF-BDFA-EA2F8D8834E4}" type="slidenum">
              <a:rPr lang="en-US" smtClean="0"/>
              <a:t>46</a:t>
            </a:fld>
            <a:endParaRPr lang="en-US"/>
          </a:p>
        </p:txBody>
      </p:sp>
    </p:spTree>
    <p:extLst>
      <p:ext uri="{BB962C8B-B14F-4D97-AF65-F5344CB8AC3E}">
        <p14:creationId xmlns:p14="http://schemas.microsoft.com/office/powerpoint/2010/main" val="3697821113"/>
      </p:ext>
    </p:extLst>
  </p:cSld>
  <p:clrMapOvr>
    <a:masterClrMapping/>
  </p:clrMapOvr>
</p:sld>
</file>

<file path=ppt/slides/slide4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Title 4">
            <a:extLst>
              <a:ext uri="{FF2B5EF4-FFF2-40B4-BE49-F238E27FC236}">
                <a16:creationId xmlns:a16="http://schemas.microsoft.com/office/drawing/2014/main" id="{51B8308B-B881-4FE6-8A5A-E1A23B0838ED}"/>
              </a:ext>
            </a:extLst>
          </p:cNvPr>
          <p:cNvSpPr>
            <a:spLocks noGrp="1"/>
          </p:cNvSpPr>
          <p:nvPr>
            <p:ph type="title"/>
          </p:nvPr>
        </p:nvSpPr>
        <p:spPr/>
        <p:txBody>
          <a:bodyPr/>
          <a:lstStyle/>
          <a:p>
            <a:r>
              <a:rPr lang="en-US" dirty="0"/>
              <a:t>The end</a:t>
            </a:r>
          </a:p>
        </p:txBody>
      </p:sp>
      <p:sp>
        <p:nvSpPr>
          <p:cNvPr id="6" name="Text Placeholder 5">
            <a:extLst>
              <a:ext uri="{FF2B5EF4-FFF2-40B4-BE49-F238E27FC236}">
                <a16:creationId xmlns:a16="http://schemas.microsoft.com/office/drawing/2014/main" id="{DA6A1BA2-EFE2-4C23-B89C-4336F6252E5A}"/>
              </a:ext>
            </a:extLst>
          </p:cNvPr>
          <p:cNvSpPr>
            <a:spLocks noGrp="1"/>
          </p:cNvSpPr>
          <p:nvPr>
            <p:ph type="body" idx="1"/>
          </p:nvPr>
        </p:nvSpPr>
        <p:spPr/>
        <p:txBody>
          <a:bodyPr/>
          <a:lstStyle/>
          <a:p>
            <a:endParaRPr lang="en-US"/>
          </a:p>
        </p:txBody>
      </p:sp>
    </p:spTree>
    <p:extLst>
      <p:ext uri="{BB962C8B-B14F-4D97-AF65-F5344CB8AC3E}">
        <p14:creationId xmlns:p14="http://schemas.microsoft.com/office/powerpoint/2010/main" val="1078404353"/>
      </p:ext>
    </p:extLst>
  </p:cSld>
  <p:clrMapOvr>
    <a:masterClrMapping/>
  </p:clrMapOvr>
</p:sld>
</file>

<file path=ppt/theme/theme1.xml><?xml version="1.0" encoding="utf-8"?>
<a:theme xmlns:a="http://schemas.openxmlformats.org/drawingml/2006/main" name="Retrospect">
  <a:themeElements>
    <a:clrScheme name="Retrospect">
      <a:dk1>
        <a:sysClr val="windowText" lastClr="000000"/>
      </a:dk1>
      <a:lt1>
        <a:sysClr val="window" lastClr="FFFFFF"/>
      </a:lt1>
      <a:dk2>
        <a:srgbClr val="455F51"/>
      </a:dk2>
      <a:lt2>
        <a:srgbClr val="E2DFCC"/>
      </a:lt2>
      <a:accent1>
        <a:srgbClr val="99CB38"/>
      </a:accent1>
      <a:accent2>
        <a:srgbClr val="63A537"/>
      </a:accent2>
      <a:accent3>
        <a:srgbClr val="37A76F"/>
      </a:accent3>
      <a:accent4>
        <a:srgbClr val="44C1A3"/>
      </a:accent4>
      <a:accent5>
        <a:srgbClr val="4EB3CF"/>
      </a:accent5>
      <a:accent6>
        <a:srgbClr val="51C3F9"/>
      </a:accent6>
      <a:hlink>
        <a:srgbClr val="6B9F25"/>
      </a:hlink>
      <a:folHlink>
        <a:srgbClr val="B26B02"/>
      </a:folHlink>
    </a:clrScheme>
    <a:fontScheme name="Retrospect">
      <a:majorFont>
        <a:latin typeface="Calibri Light" panose="020F0302020204030204"/>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panose="020F0502020204030204"/>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Retrospect">
      <a:fillStyleLst>
        <a:solidFill>
          <a:schemeClr val="phClr"/>
        </a:solidFill>
        <a:gradFill rotWithShape="1">
          <a:gsLst>
            <a:gs pos="0">
              <a:schemeClr val="phClr">
                <a:tint val="65000"/>
                <a:shade val="92000"/>
                <a:satMod val="130000"/>
              </a:schemeClr>
            </a:gs>
            <a:gs pos="45000">
              <a:schemeClr val="phClr">
                <a:tint val="60000"/>
                <a:shade val="99000"/>
                <a:satMod val="120000"/>
              </a:schemeClr>
            </a:gs>
            <a:gs pos="100000">
              <a:schemeClr val="phClr">
                <a:tint val="55000"/>
                <a:satMod val="140000"/>
              </a:schemeClr>
            </a:gs>
          </a:gsLst>
          <a:path path="circle">
            <a:fillToRect l="100000" t="100000" r="100000" b="100000"/>
          </a:path>
        </a:gradFill>
        <a:gradFill rotWithShape="1">
          <a:gsLst>
            <a:gs pos="0">
              <a:schemeClr val="phClr">
                <a:shade val="85000"/>
                <a:satMod val="130000"/>
              </a:schemeClr>
            </a:gs>
            <a:gs pos="34000">
              <a:schemeClr val="phClr">
                <a:shade val="87000"/>
                <a:satMod val="125000"/>
              </a:schemeClr>
            </a:gs>
            <a:gs pos="70000">
              <a:schemeClr val="phClr">
                <a:tint val="100000"/>
                <a:shade val="90000"/>
                <a:satMod val="130000"/>
              </a:schemeClr>
            </a:gs>
            <a:gs pos="100000">
              <a:schemeClr val="phClr">
                <a:tint val="100000"/>
                <a:shade val="100000"/>
                <a:satMod val="110000"/>
              </a:schemeClr>
            </a:gs>
          </a:gsLst>
          <a:path path="circle">
            <a:fillToRect l="100000" t="100000" r="100000" b="100000"/>
          </a:path>
        </a:gradFill>
      </a:fillStyleLst>
      <a:lnStyleLst>
        <a:ln w="12700" cap="flat" cmpd="sng" algn="ctr">
          <a:solidFill>
            <a:schemeClr val="phClr"/>
          </a:solidFill>
          <a:prstDash val="solid"/>
        </a:ln>
        <a:ln w="15875" cap="flat" cmpd="sng" algn="ctr">
          <a:solidFill>
            <a:schemeClr val="phClr"/>
          </a:solidFill>
          <a:prstDash val="solid"/>
        </a:ln>
        <a:ln w="25400" cap="flat" cmpd="sng" algn="ctr">
          <a:solidFill>
            <a:schemeClr val="phClr"/>
          </a:solidFill>
          <a:prstDash val="solid"/>
        </a:ln>
      </a:lnStyleLst>
      <a:effectStyleLst>
        <a:effectStyle>
          <a:effectLst/>
        </a:effectStyle>
        <a:effectStyle>
          <a:effectLst>
            <a:outerShdw blurRad="38100" dist="25400" dir="2700000" algn="br" rotWithShape="0">
              <a:srgbClr val="000000">
                <a:alpha val="60000"/>
              </a:srgbClr>
            </a:outerShdw>
          </a:effectLst>
        </a:effectStyle>
        <a:effectStyle>
          <a:effectLst>
            <a:outerShdw blurRad="44450" dist="25400" dir="2700000" algn="br" rotWithShape="0">
              <a:srgbClr val="000000">
                <a:alpha val="60000"/>
              </a:srgbClr>
            </a:outerShdw>
          </a:effectLst>
          <a:scene3d>
            <a:camera prst="orthographicFront">
              <a:rot lat="0" lon="0" rev="0"/>
            </a:camera>
            <a:lightRig rig="threePt" dir="t">
              <a:rot lat="0" lon="0" rev="19800000"/>
            </a:lightRig>
          </a:scene3d>
          <a:sp3d prstMaterial="flat">
            <a:bevelT w="25400" h="31750"/>
          </a:sp3d>
        </a:effectStyle>
      </a:effectStyleLst>
      <a:bgFillStyleLst>
        <a:solidFill>
          <a:schemeClr val="phClr"/>
        </a:solidFill>
        <a:solidFill>
          <a:schemeClr val="phClr">
            <a:tint val="90000"/>
            <a:shade val="97000"/>
            <a:satMod val="130000"/>
          </a:schemeClr>
        </a:solidFill>
        <a:gradFill rotWithShape="1">
          <a:gsLst>
            <a:gs pos="0">
              <a:schemeClr val="phClr">
                <a:tint val="96000"/>
                <a:shade val="99000"/>
                <a:satMod val="140000"/>
              </a:schemeClr>
            </a:gs>
            <a:gs pos="65000">
              <a:schemeClr val="phClr">
                <a:tint val="100000"/>
                <a:shade val="80000"/>
                <a:satMod val="130000"/>
              </a:schemeClr>
            </a:gs>
            <a:gs pos="100000">
              <a:schemeClr val="phClr">
                <a:tint val="100000"/>
                <a:shade val="48000"/>
                <a:satMod val="120000"/>
              </a:schemeClr>
            </a:gs>
          </a:gsLst>
          <a:lin ang="16200000" scaled="0"/>
        </a:gradFill>
      </a:bgFillStyleLst>
    </a:fmtScheme>
  </a:themeElements>
  <a:objectDefaults/>
  <a:extraClrSchemeLst/>
  <a:extLst>
    <a:ext uri="{05A4C25C-085E-4340-85A3-A5531E510DB2}">
      <thm15:themeFamily xmlns:thm15="http://schemas.microsoft.com/office/thememl/2012/main" name="Retrospect" id="{5F128B03-DCCA-4EEB-AB3B-CF2899314A46}" vid="{D26EA377-59BD-4C9C-9D94-EE8416EE4C79}"/>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3.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emplate>Retrospect</Template>
  <TotalTime>2085</TotalTime>
  <Words>2802</Words>
  <Application>Microsoft Office PowerPoint</Application>
  <PresentationFormat>Widescreen</PresentationFormat>
  <Paragraphs>502</Paragraphs>
  <Slides>47</Slides>
  <Notes>7</Notes>
  <HiddenSlides>0</HiddenSlides>
  <MMClips>0</MMClips>
  <ScaleCrop>false</ScaleCrop>
  <HeadingPairs>
    <vt:vector size="6" baseType="variant">
      <vt:variant>
        <vt:lpstr>Fonts Used</vt:lpstr>
      </vt:variant>
      <vt:variant>
        <vt:i4>10</vt:i4>
      </vt:variant>
      <vt:variant>
        <vt:lpstr>Theme</vt:lpstr>
      </vt:variant>
      <vt:variant>
        <vt:i4>1</vt:i4>
      </vt:variant>
      <vt:variant>
        <vt:lpstr>Slide Titles</vt:lpstr>
      </vt:variant>
      <vt:variant>
        <vt:i4>47</vt:i4>
      </vt:variant>
    </vt:vector>
  </HeadingPairs>
  <TitlesOfParts>
    <vt:vector size="58" baseType="lpstr">
      <vt:lpstr>Arial</vt:lpstr>
      <vt:lpstr>Calibri</vt:lpstr>
      <vt:lpstr>Calibri Light</vt:lpstr>
      <vt:lpstr>Cambria Math</vt:lpstr>
      <vt:lpstr>CMMI10</vt:lpstr>
      <vt:lpstr>CMMI7</vt:lpstr>
      <vt:lpstr>CMSY10</vt:lpstr>
      <vt:lpstr>quote-cjk-patch</vt:lpstr>
      <vt:lpstr>Times-Roman</vt:lpstr>
      <vt:lpstr>Wingdings</vt:lpstr>
      <vt:lpstr>Retrospect</vt:lpstr>
      <vt:lpstr>Performance Analysis of a Delay Constrained Data Offloading Scheme in an Integrated Cloud-Fog-Edge Computing System</vt:lpstr>
      <vt:lpstr>Outlines</vt:lpstr>
      <vt:lpstr>Erlang’s Distribution</vt:lpstr>
      <vt:lpstr>Introduction</vt:lpstr>
      <vt:lpstr>Related works</vt:lpstr>
      <vt:lpstr>Related works</vt:lpstr>
      <vt:lpstr>System model</vt:lpstr>
      <vt:lpstr>System model</vt:lpstr>
      <vt:lpstr>PowerPoint Presentation</vt:lpstr>
      <vt:lpstr>System model</vt:lpstr>
      <vt:lpstr>System model</vt:lpstr>
      <vt:lpstr>Edge subsystem analysis</vt:lpstr>
      <vt:lpstr>Edge subsystem analysis</vt:lpstr>
      <vt:lpstr>How PDF derived</vt:lpstr>
      <vt:lpstr>Edge subsystem analysis</vt:lpstr>
      <vt:lpstr>How PDF derived</vt:lpstr>
      <vt:lpstr>Edge subsystem analysis</vt:lpstr>
      <vt:lpstr>Edge subsystem analysis</vt:lpstr>
      <vt:lpstr>Fog subsystem analysis</vt:lpstr>
      <vt:lpstr>Fog subsystem analysis</vt:lpstr>
      <vt:lpstr>Fog subsystem analysis</vt:lpstr>
      <vt:lpstr>Fog subsystem analysis</vt:lpstr>
      <vt:lpstr>Fog subsystem analysis</vt:lpstr>
      <vt:lpstr>Cloud subsystem analysis</vt:lpstr>
      <vt:lpstr>Cloud subsystem analysis</vt:lpstr>
      <vt:lpstr>Cloud subsystem analysis</vt:lpstr>
      <vt:lpstr>Cloud subsystem analysis</vt:lpstr>
      <vt:lpstr>Problem formulation</vt:lpstr>
      <vt:lpstr>Problem formulation</vt:lpstr>
      <vt:lpstr>Problem formulation</vt:lpstr>
      <vt:lpstr>Problem formulation</vt:lpstr>
      <vt:lpstr>Proposed Heuristic</vt:lpstr>
      <vt:lpstr>Proposed Heuristic</vt:lpstr>
      <vt:lpstr>PowerPoint Presentation</vt:lpstr>
      <vt:lpstr>Numerical results</vt:lpstr>
      <vt:lpstr>Setup  </vt:lpstr>
      <vt:lpstr>System parameters</vt:lpstr>
      <vt:lpstr>Block probability in ECN</vt:lpstr>
      <vt:lpstr>Block probability in FCN</vt:lpstr>
      <vt:lpstr>Objective function</vt:lpstr>
      <vt:lpstr>Optimal H and A</vt:lpstr>
      <vt:lpstr>Optimal Number of CPUs</vt:lpstr>
      <vt:lpstr>Deadline violation probability</vt:lpstr>
      <vt:lpstr>Deadline violation probability</vt:lpstr>
      <vt:lpstr>Conclusion</vt:lpstr>
      <vt:lpstr>References </vt:lpstr>
      <vt:lpstr>The end</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Performance Analysis of a Delay Constrained Data Offloading Scheme in an Integrated Cloud-Fog-Edge Computing System</dc:title>
  <dc:creator>mohammad mahdi manafi</dc:creator>
  <cp:lastModifiedBy>mohammad mahdi manafi</cp:lastModifiedBy>
  <cp:revision>514</cp:revision>
  <dcterms:created xsi:type="dcterms:W3CDTF">2026-05-30T19:26:03Z</dcterms:created>
  <dcterms:modified xsi:type="dcterms:W3CDTF">2026-06-02T14:23:57Z</dcterms:modified>
</cp:coreProperties>
</file>